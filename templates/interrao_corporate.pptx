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xlsb" ContentType="application/vnd.ms-excel.sheet.binary.macroEnabled.12"/>
  <Default Extension="wdp" ContentType="image/vnd.ms-photo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charts/chart8.xml" ContentType="application/vnd.openxmlformats-officedocument.drawingml.chart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4.xml" ContentType="application/vnd.openxmlformats-officedocument.presentationml.notesSlide+xml"/>
  <Override PartName="/ppt/tags/tag52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1.xml" ContentType="application/vnd.openxmlformats-officedocument.themeOverride+xml"/>
  <Override PartName="/ppt/charts/chart1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2.xml" ContentType="application/vnd.openxmlformats-officedocument.themeOverr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notesSlides/notesSlide6.xml" ContentType="application/vnd.openxmlformats-officedocument.presentationml.notes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notesSlides/notesSlide7.xml" ContentType="application/vnd.openxmlformats-officedocument.presentationml.notesSlid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0"/>
  </p:notesMasterIdLst>
  <p:sldIdLst>
    <p:sldId id="257" r:id="rId2"/>
    <p:sldId id="258" r:id="rId3"/>
    <p:sldId id="260" r:id="rId4"/>
    <p:sldId id="263" r:id="rId5"/>
    <p:sldId id="262" r:id="rId6"/>
    <p:sldId id="264" r:id="rId7"/>
    <p:sldId id="1566" r:id="rId8"/>
    <p:sldId id="1103" r:id="rId9"/>
    <p:sldId id="1017" r:id="rId10"/>
    <p:sldId id="1102" r:id="rId11"/>
    <p:sldId id="1131" r:id="rId12"/>
    <p:sldId id="1157" r:id="rId13"/>
    <p:sldId id="1159" r:id="rId14"/>
    <p:sldId id="1160" r:id="rId15"/>
    <p:sldId id="1163" r:id="rId16"/>
    <p:sldId id="1165" r:id="rId17"/>
    <p:sldId id="1170" r:id="rId18"/>
    <p:sldId id="1146" r:id="rId19"/>
    <p:sldId id="1147" r:id="rId20"/>
    <p:sldId id="1148" r:id="rId21"/>
    <p:sldId id="1171" r:id="rId22"/>
    <p:sldId id="1558" r:id="rId23"/>
    <p:sldId id="1559" r:id="rId24"/>
    <p:sldId id="1560" r:id="rId25"/>
    <p:sldId id="1561" r:id="rId26"/>
    <p:sldId id="1514" r:id="rId27"/>
    <p:sldId id="1515" r:id="rId28"/>
    <p:sldId id="261" r:id="rId29"/>
  </p:sldIdLst>
  <p:sldSz cx="13430250" cy="7561263"/>
  <p:notesSz cx="6858000" cy="9144000"/>
  <p:defaultTextStyle>
    <a:defPPr>
      <a:defRPr lang="ru-RU"/>
    </a:defPPr>
    <a:lvl1pPr marL="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715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430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145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2860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8575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4290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005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572000" algn="l" defTabSz="1143000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42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264"/>
    <a:srgbClr val="F08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94" y="108"/>
      </p:cViewPr>
      <p:guideLst>
        <p:guide orient="horz" pos="2382"/>
        <p:guide pos="42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&#1040;&#1083;&#1077;&#1082;&#1089;&#1077;&#1081;\&#1056;&#1072;&#1073;&#1086;&#1090;&#1072;\&#1043;&#1088;&#1091;&#1087;&#1087;&#1072;\4&#1082;&#1074;.2020\&#1089;&#1074;&#1086;&#1076;&#1085;&#1099;&#1077;%20&#1092;&#1072;&#1081;&#1083;&#1099;\CapEx%202020%20act%2012m%20Subsidiares_4.xlsb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&#1051;&#1080;&#1089;&#1090;%20&#1074;%20&#1057;&#1074;&#1086;&#1076;_work4%202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&#1051;&#1080;&#1089;&#1090;%20&#1074;%20&#1057;&#1074;&#1086;&#1076;_work4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&#1051;&#1080;&#1089;&#1090;%20&#1074;%20&#1057;&#1074;&#1086;&#1076;_work4%203" TargetMode="Externa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7.xlsx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8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561643835616438"/>
          <c:y val="0.32731088982693896"/>
          <c:w val="0.72876712328767124"/>
          <c:h val="0.6138659986866397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1C3A81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1F497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EC5-4A35-8F90-436757528F2E}"/>
              </c:ext>
            </c:extLst>
          </c:dPt>
          <c:dPt>
            <c:idx val="1"/>
            <c:invertIfNegative val="0"/>
            <c:bubble3D val="0"/>
            <c:spPr>
              <a:solidFill>
                <a:srgbClr val="F184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EC5-4A35-8F90-436757528F2E}"/>
              </c:ext>
            </c:extLst>
          </c:dPt>
          <c:dLbls>
            <c:dLbl>
              <c:idx val="0"/>
              <c:layout>
                <c:manualLayout>
                  <c:x val="0"/>
                  <c:y val="-0.4513574660633484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+mn-lt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EC5-4A35-8F90-436757528F2E}"/>
                </c:ext>
              </c:extLst>
            </c:dLbl>
            <c:dLbl>
              <c:idx val="1"/>
              <c:layout>
                <c:manualLayout>
                  <c:x val="0"/>
                  <c:y val="-0.4717194570135746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+mn-lt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EC5-4A35-8F90-436757528F2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38.175948372476128</c:v>
                </c:pt>
                <c:pt idx="1">
                  <c:v>40.283021125406087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EC5-4A35-8F90-436757528F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7876608"/>
        <c:axId val="38177024"/>
      </c:barChart>
      <c:catAx>
        <c:axId val="4787660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algn="ctr">
            <a:solidFill>
              <a:schemeClr val="tx1"/>
            </a:solidFill>
            <a:prstDash val="solid"/>
          </a:ln>
        </c:spPr>
        <c:crossAx val="38177024"/>
        <c:crosses val="min"/>
        <c:auto val="0"/>
        <c:lblAlgn val="ctr"/>
        <c:lblOffset val="100"/>
        <c:noMultiLvlLbl val="0"/>
      </c:catAx>
      <c:valAx>
        <c:axId val="38177024"/>
        <c:scaling>
          <c:orientation val="minMax"/>
          <c:max val="40.283021125406087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4787660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5690631103134E-2"/>
          <c:y val="0.14447524392047414"/>
          <c:w val="0.95328976163066526"/>
          <c:h val="0.6415212750224675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00326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14</c:v>
                </c:pt>
                <c:pt idx="1">
                  <c:v>13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99-4E98-A351-81B214C5083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F088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12</c:v>
                </c:pt>
                <c:pt idx="1">
                  <c:v>11</c:v>
                </c:pt>
                <c:pt idx="2">
                  <c:v>3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99-4E98-A351-81B214C5083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9"/>
        <c:axId val="1069244032"/>
        <c:axId val="1069263168"/>
      </c:barChart>
      <c:catAx>
        <c:axId val="1069244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ru-RU"/>
          </a:p>
        </c:txPr>
        <c:crossAx val="1069263168"/>
        <c:crosses val="autoZero"/>
        <c:auto val="1"/>
        <c:lblAlgn val="ctr"/>
        <c:lblOffset val="100"/>
        <c:noMultiLvlLbl val="0"/>
      </c:catAx>
      <c:valAx>
        <c:axId val="10692631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692440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1407283854808392"/>
          <c:y val="0.24261191775402302"/>
          <c:w val="0.22515925414450388"/>
          <c:h val="7.550035275980106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rgbClr val="F0880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06-4399-98A3-1352176372F3}"/>
              </c:ext>
            </c:extLst>
          </c:dPt>
          <c:dPt>
            <c:idx val="1"/>
            <c:bubble3D val="0"/>
            <c:spPr>
              <a:solidFill>
                <a:srgbClr val="00326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406-4399-98A3-1352176372F3}"/>
              </c:ext>
            </c:extLst>
          </c:dPt>
          <c:dPt>
            <c:idx val="2"/>
            <c:bubble3D val="0"/>
            <c:spPr>
              <a:solidFill>
                <a:srgbClr val="DDDDD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406-4399-98A3-1352176372F3}"/>
              </c:ext>
            </c:extLst>
          </c:dPt>
          <c:dPt>
            <c:idx val="3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406-4399-98A3-1352176372F3}"/>
              </c:ext>
            </c:extLst>
          </c:dPt>
          <c:cat>
            <c:strRef>
              <c:f>Слайд!$B$12:$B$15</c:f>
              <c:strCache>
                <c:ptCount val="4"/>
                <c:pt idx="0">
                  <c:v>Техперевооружение и реконструкция</c:v>
                </c:pt>
                <c:pt idx="1">
                  <c:v>Новое строительство</c:v>
                </c:pt>
                <c:pt idx="2">
                  <c:v>Прочие инвестиции в форме кап. вложений</c:v>
                </c:pt>
                <c:pt idx="3">
                  <c:v>проект по локализации газовых турбин</c:v>
                </c:pt>
              </c:strCache>
            </c:strRef>
          </c:cat>
          <c:val>
            <c:numRef>
              <c:f>Слайд!$C$12:$C$15</c:f>
              <c:numCache>
                <c:formatCode>#,##0</c:formatCode>
                <c:ptCount val="4"/>
                <c:pt idx="0">
                  <c:v>19124.025842435327</c:v>
                </c:pt>
                <c:pt idx="1">
                  <c:v>3263.0048750067454</c:v>
                </c:pt>
                <c:pt idx="2">
                  <c:v>8147.7776885650192</c:v>
                </c:pt>
                <c:pt idx="3">
                  <c:v>7299.0167923039999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406-4399-98A3-1352176372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78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  <a:extLst>
      <a:ext uri="{91240B29-F687-4F45-9708-019B960494DF}">
        <a14:hiddenLine xmlns:a14="http://schemas.microsoft.com/office/drawing/2010/main" w="9525" cap="flat" cmpd="sng" algn="ctr">
          <a:solidFill>
            <a:sysClr val="windowText" lastClr="000000">
              <a:lumMod val="15000"/>
              <a:lumOff val="85000"/>
            </a:sysClr>
          </a:solidFill>
          <a:round/>
        </a14:hiddenLine>
      </a:ext>
    </a:extLst>
  </c:spPr>
  <c:txPr>
    <a:bodyPr/>
    <a:lstStyle/>
    <a:p>
      <a:pPr>
        <a:defRPr>
          <a:latin typeface="Liberation Sans" panose="020B0604020202020204" pitchFamily="34" charset="0"/>
          <a:ea typeface="Liberation Sans" panose="020B0604020202020204" pitchFamily="34" charset="0"/>
          <a:cs typeface="Liberation Sans" panose="020B0604020202020204" pitchFamily="34" charset="0"/>
        </a:defRPr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1242937853107342E-2"/>
          <c:y val="0.18470790378006874"/>
          <c:w val="0.90508474576271192"/>
          <c:h val="0.77061855670103097"/>
        </c:manualLayout>
      </c:layout>
      <c:scatterChart>
        <c:scatterStyle val="lineMarker"/>
        <c:varyColors val="0"/>
        <c:ser>
          <c:idx val="0"/>
          <c:order val="0"/>
          <c:spPr>
            <a:ln w="28575" algn="ctr">
              <a:solidFill>
                <a:srgbClr val="004076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12"/>
              <c:spPr>
                <a:solidFill>
                  <a:srgbClr val="004076"/>
                </a:solidFill>
                <a:ln w="9525" algn="ctr">
                  <a:solidFill>
                    <a:srgbClr val="00407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00D4-4194-B5AB-02006F198BE5}"/>
              </c:ext>
            </c:extLst>
          </c:dPt>
          <c:dPt>
            <c:idx val="1"/>
            <c:marker>
              <c:symbol val="circle"/>
              <c:size val="12"/>
              <c:spPr>
                <a:solidFill>
                  <a:srgbClr val="004076"/>
                </a:solidFill>
                <a:ln w="9525" algn="ctr">
                  <a:solidFill>
                    <a:srgbClr val="00407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00D4-4194-B5AB-02006F198BE5}"/>
              </c:ext>
            </c:extLst>
          </c:dPt>
          <c:dPt>
            <c:idx val="2"/>
            <c:marker>
              <c:symbol val="circle"/>
              <c:size val="12"/>
              <c:spPr>
                <a:solidFill>
                  <a:srgbClr val="004076"/>
                </a:solidFill>
                <a:ln w="9525" algn="ctr">
                  <a:solidFill>
                    <a:srgbClr val="00407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00D4-4194-B5AB-02006F198BE5}"/>
              </c:ext>
            </c:extLst>
          </c:dPt>
          <c:dLbls>
            <c:dLbl>
              <c:idx val="0"/>
              <c:layout>
                <c:manualLayout>
                  <c:x val="0"/>
                  <c:y val="-0.123711340206185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200" b="1"/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00D4-4194-B5AB-02006F198BE5}"/>
                </c:ext>
              </c:extLst>
            </c:dLbl>
            <c:dLbl>
              <c:idx val="1"/>
              <c:layout>
                <c:manualLayout>
                  <c:x val="0"/>
                  <c:y val="-0.123711340206185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200" b="1"/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00D4-4194-B5AB-02006F198BE5}"/>
                </c:ext>
              </c:extLst>
            </c:dLbl>
            <c:dLbl>
              <c:idx val="2"/>
              <c:layout>
                <c:manualLayout>
                  <c:x val="0"/>
                  <c:y val="-0.123711340206185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200" b="1"/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00D4-4194-B5AB-02006F198BE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/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2020</c:v>
                </c:pt>
                <c:pt idx="1">
                  <c:v>2025</c:v>
                </c:pt>
                <c:pt idx="2">
                  <c:v>2030</c:v>
                </c:pt>
              </c:numCache>
            </c:numRef>
          </c:xVal>
          <c:yVal>
            <c:numRef>
              <c:f>Sheet1!$A$2:$C$2</c:f>
              <c:numCache>
                <c:formatCode>General</c:formatCode>
                <c:ptCount val="3"/>
                <c:pt idx="0">
                  <c:v>94</c:v>
                </c:pt>
                <c:pt idx="1">
                  <c:v>158</c:v>
                </c:pt>
                <c:pt idx="2">
                  <c:v>263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00D4-4194-B5AB-02006F198B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70405880"/>
        <c:axId val="1"/>
      </c:scatterChart>
      <c:valAx>
        <c:axId val="970405880"/>
        <c:scaling>
          <c:orientation val="minMax"/>
          <c:max val="2030"/>
          <c:min val="2020"/>
        </c:scaling>
        <c:delete val="1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crossAx val="1"/>
        <c:crosses val="min"/>
        <c:crossBetween val="midCat"/>
        <c:majorUnit val="5"/>
      </c:valAx>
      <c:valAx>
        <c:axId val="1"/>
        <c:scaling>
          <c:orientation val="minMax"/>
          <c:max val="263"/>
          <c:min val="75"/>
        </c:scaling>
        <c:delete val="1"/>
        <c:axPos val="l"/>
        <c:numFmt formatCode="General" sourceLinked="1"/>
        <c:majorTickMark val="out"/>
        <c:minorTickMark val="none"/>
        <c:tickLblPos val="nextTo"/>
        <c:crossAx val="970405880"/>
        <c:crosses val="min"/>
        <c:crossBetween val="midCat"/>
      </c:valAx>
    </c:plotArea>
    <c:plotVisOnly val="0"/>
    <c:dispBlanksAs val="gap"/>
    <c:showDLblsOverMax val="1"/>
  </c:chart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ru-RU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9738219895287955E-2"/>
          <c:y val="0.18470790378006874"/>
          <c:w val="0.90052356020942403"/>
          <c:h val="0.77061855670103097"/>
        </c:manualLayout>
      </c:layout>
      <c:scatterChart>
        <c:scatterStyle val="lineMarker"/>
        <c:varyColors val="0"/>
        <c:ser>
          <c:idx val="0"/>
          <c:order val="0"/>
          <c:spPr>
            <a:ln w="28575" algn="ctr">
              <a:solidFill>
                <a:srgbClr val="004076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12"/>
              <c:spPr>
                <a:solidFill>
                  <a:srgbClr val="004076"/>
                </a:solidFill>
                <a:ln w="9525" algn="ctr">
                  <a:solidFill>
                    <a:srgbClr val="00407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1B2A-4513-9006-EC1002E6A2B8}"/>
              </c:ext>
            </c:extLst>
          </c:dPt>
          <c:dPt>
            <c:idx val="1"/>
            <c:marker>
              <c:symbol val="circle"/>
              <c:size val="12"/>
              <c:spPr>
                <a:solidFill>
                  <a:srgbClr val="004076"/>
                </a:solidFill>
                <a:ln w="9525" algn="ctr">
                  <a:solidFill>
                    <a:srgbClr val="00407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1B2A-4513-9006-EC1002E6A2B8}"/>
              </c:ext>
            </c:extLst>
          </c:dPt>
          <c:dPt>
            <c:idx val="2"/>
            <c:marker>
              <c:symbol val="circle"/>
              <c:size val="12"/>
              <c:spPr>
                <a:solidFill>
                  <a:srgbClr val="004076"/>
                </a:solidFill>
                <a:ln w="9525" algn="ctr">
                  <a:solidFill>
                    <a:srgbClr val="00407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1B2A-4513-9006-EC1002E6A2B8}"/>
              </c:ext>
            </c:extLst>
          </c:dPt>
          <c:dLbls>
            <c:dLbl>
              <c:idx val="0"/>
              <c:layout>
                <c:manualLayout>
                  <c:x val="0"/>
                  <c:y val="-0.123711340206185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200" b="1"/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1B2A-4513-9006-EC1002E6A2B8}"/>
                </c:ext>
              </c:extLst>
            </c:dLbl>
            <c:dLbl>
              <c:idx val="1"/>
              <c:layout>
                <c:manualLayout>
                  <c:x val="0"/>
                  <c:y val="-0.123711340206185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200" b="1"/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1B2A-4513-9006-EC1002E6A2B8}"/>
                </c:ext>
              </c:extLst>
            </c:dLbl>
            <c:dLbl>
              <c:idx val="2"/>
              <c:layout>
                <c:manualLayout>
                  <c:x val="0"/>
                  <c:y val="-0.123711340206185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200" b="1"/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1B2A-4513-9006-EC1002E6A2B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/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2020</c:v>
                </c:pt>
                <c:pt idx="1">
                  <c:v>2025</c:v>
                </c:pt>
                <c:pt idx="2">
                  <c:v>2030</c:v>
                </c:pt>
              </c:numCache>
            </c:numRef>
          </c:xVal>
          <c:yVal>
            <c:numRef>
              <c:f>Sheet1!$A$2:$C$2</c:f>
              <c:numCache>
                <c:formatCode>General</c:formatCode>
                <c:ptCount val="3"/>
                <c:pt idx="0">
                  <c:v>341</c:v>
                </c:pt>
                <c:pt idx="1">
                  <c:v>524</c:v>
                </c:pt>
                <c:pt idx="2">
                  <c:v>981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1B2A-4513-9006-EC1002E6A2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40953112"/>
        <c:axId val="1"/>
      </c:scatterChart>
      <c:valAx>
        <c:axId val="740953112"/>
        <c:scaling>
          <c:orientation val="minMax"/>
          <c:max val="2030"/>
          <c:min val="2020"/>
        </c:scaling>
        <c:delete val="1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crossAx val="1"/>
        <c:crosses val="min"/>
        <c:crossBetween val="midCat"/>
        <c:majorUnit val="5"/>
      </c:valAx>
      <c:valAx>
        <c:axId val="1"/>
        <c:scaling>
          <c:orientation val="minMax"/>
          <c:max val="981"/>
          <c:min val="220.04892374912367"/>
        </c:scaling>
        <c:delete val="1"/>
        <c:axPos val="l"/>
        <c:numFmt formatCode="General" sourceLinked="1"/>
        <c:majorTickMark val="out"/>
        <c:minorTickMark val="none"/>
        <c:tickLblPos val="nextTo"/>
        <c:crossAx val="740953112"/>
        <c:crosses val="min"/>
        <c:crossBetween val="midCat"/>
      </c:valAx>
    </c:plotArea>
    <c:plotVisOnly val="0"/>
    <c:dispBlanksAs val="gap"/>
    <c:showDLblsOverMax val="1"/>
  </c:chart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ru-RU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0057581573896355E-2"/>
          <c:y val="0.25058275058275059"/>
          <c:w val="0.85988483685220729"/>
          <c:h val="0.68881118881118886"/>
        </c:manualLayout>
      </c:layout>
      <c:scatterChart>
        <c:scatterStyle val="lineMarker"/>
        <c:varyColors val="0"/>
        <c:ser>
          <c:idx val="0"/>
          <c:order val="0"/>
          <c:spPr>
            <a:ln w="28575" algn="ctr">
              <a:solidFill>
                <a:srgbClr val="004076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12"/>
              <c:spPr>
                <a:solidFill>
                  <a:srgbClr val="004076"/>
                </a:solidFill>
                <a:ln w="9525" algn="ctr">
                  <a:solidFill>
                    <a:srgbClr val="00407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AE4-421F-8DEC-9A729288684F}"/>
              </c:ext>
            </c:extLst>
          </c:dPt>
          <c:dPt>
            <c:idx val="1"/>
            <c:marker>
              <c:symbol val="circle"/>
              <c:size val="12"/>
              <c:spPr>
                <a:solidFill>
                  <a:srgbClr val="004076"/>
                </a:solidFill>
                <a:ln w="9525" algn="ctr">
                  <a:solidFill>
                    <a:srgbClr val="00407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AE4-421F-8DEC-9A729288684F}"/>
              </c:ext>
            </c:extLst>
          </c:dPt>
          <c:dPt>
            <c:idx val="2"/>
            <c:marker>
              <c:symbol val="circle"/>
              <c:size val="12"/>
              <c:spPr>
                <a:solidFill>
                  <a:srgbClr val="004076"/>
                </a:solidFill>
                <a:ln w="9525" algn="ctr">
                  <a:solidFill>
                    <a:srgbClr val="00407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AE4-421F-8DEC-9A729288684F}"/>
              </c:ext>
            </c:extLst>
          </c:dPt>
          <c:dLbls>
            <c:dLbl>
              <c:idx val="0"/>
              <c:layout>
                <c:manualLayout>
                  <c:x val="0"/>
                  <c:y val="-0.1445221445221445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  <a:sym typeface="Arial Narrow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AE4-421F-8DEC-9A729288684F}"/>
                </c:ext>
              </c:extLst>
            </c:dLbl>
            <c:dLbl>
              <c:idx val="1"/>
              <c:layout>
                <c:manualLayout>
                  <c:x val="0"/>
                  <c:y val="-0.1678321678321678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  <a:sym typeface="Arial Narrow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AE4-421F-8DEC-9A729288684F}"/>
                </c:ext>
              </c:extLst>
            </c:dLbl>
            <c:dLbl>
              <c:idx val="2"/>
              <c:layout>
                <c:manualLayout>
                  <c:x val="0"/>
                  <c:y val="-0.1678321678321678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Arial Narrow"/>
                      <a:cs typeface="Arial" panose="020B0604020202020204" pitchFamily="34" charset="0"/>
                      <a:sym typeface="Arial Narrow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AE4-421F-8DEC-9A729288684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2020</c:v>
                </c:pt>
                <c:pt idx="1">
                  <c:v>2025</c:v>
                </c:pt>
                <c:pt idx="2">
                  <c:v>2030</c:v>
                </c:pt>
              </c:numCache>
            </c:numRef>
          </c:xVal>
          <c:yVal>
            <c:numRef>
              <c:f>Sheet1!$A$2:$C$2</c:f>
              <c:numCache>
                <c:formatCode>General</c:formatCode>
                <c:ptCount val="3"/>
                <c:pt idx="0">
                  <c:v>25</c:v>
                </c:pt>
                <c:pt idx="1">
                  <c:v>32</c:v>
                </c:pt>
                <c:pt idx="2">
                  <c:v>41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FAE4-421F-8DEC-9A72928868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66490104"/>
        <c:axId val="1"/>
      </c:scatterChart>
      <c:valAx>
        <c:axId val="866490104"/>
        <c:scaling>
          <c:orientation val="minMax"/>
          <c:max val="2030"/>
          <c:min val="2020"/>
        </c:scaling>
        <c:delete val="1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crossAx val="1"/>
        <c:crosses val="min"/>
        <c:crossBetween val="midCat"/>
        <c:majorUnit val="5"/>
      </c:valAx>
      <c:valAx>
        <c:axId val="1"/>
        <c:scaling>
          <c:orientation val="minMax"/>
          <c:max val="41"/>
          <c:min val="25"/>
        </c:scaling>
        <c:delete val="1"/>
        <c:axPos val="l"/>
        <c:numFmt formatCode="General" sourceLinked="1"/>
        <c:majorTickMark val="out"/>
        <c:minorTickMark val="none"/>
        <c:tickLblPos val="nextTo"/>
        <c:crossAx val="866490104"/>
        <c:crosses val="min"/>
        <c:crossBetween val="midCat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0687285223367696"/>
          <c:y val="0.23269689737470167"/>
          <c:w val="0.61580756013745708"/>
          <c:h val="0.70525059665871126"/>
        </c:manualLayout>
      </c:layout>
      <c:scatterChart>
        <c:scatterStyle val="lineMarker"/>
        <c:varyColors val="0"/>
        <c:ser>
          <c:idx val="0"/>
          <c:order val="0"/>
          <c:spPr>
            <a:ln w="28575" algn="ctr">
              <a:solidFill>
                <a:srgbClr val="004076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12"/>
              <c:spPr>
                <a:solidFill>
                  <a:srgbClr val="004076"/>
                </a:solidFill>
                <a:ln w="9525" algn="ctr">
                  <a:solidFill>
                    <a:srgbClr val="00407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96C2-40D9-8BF5-4F68DE860428}"/>
              </c:ext>
            </c:extLst>
          </c:dPt>
          <c:dPt>
            <c:idx val="1"/>
            <c:marker>
              <c:symbol val="circle"/>
              <c:size val="12"/>
              <c:spPr>
                <a:solidFill>
                  <a:srgbClr val="004076"/>
                </a:solidFill>
                <a:ln w="9525" algn="ctr">
                  <a:solidFill>
                    <a:srgbClr val="00407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96C2-40D9-8BF5-4F68DE860428}"/>
              </c:ext>
            </c:extLst>
          </c:dPt>
          <c:dPt>
            <c:idx val="2"/>
            <c:marker>
              <c:symbol val="circle"/>
              <c:size val="12"/>
              <c:spPr>
                <a:solidFill>
                  <a:srgbClr val="004076"/>
                </a:solidFill>
                <a:ln w="9525" algn="ctr">
                  <a:solidFill>
                    <a:srgbClr val="00407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96C2-40D9-8BF5-4F68DE860428}"/>
              </c:ext>
            </c:extLst>
          </c:dPt>
          <c:dLbls>
            <c:dLbl>
              <c:idx val="0"/>
              <c:layout>
                <c:manualLayout>
                  <c:x val="0"/>
                  <c:y val="-0.1718377088305489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  <a:sym typeface="Arial Narrow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6C2-40D9-8BF5-4F68DE860428}"/>
                </c:ext>
              </c:extLst>
            </c:dLbl>
            <c:dLbl>
              <c:idx val="1"/>
              <c:layout>
                <c:manualLayout>
                  <c:x val="0"/>
                  <c:y val="-0.1718377088305489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  <a:sym typeface="Arial Narrow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96C2-40D9-8BF5-4F68DE860428}"/>
                </c:ext>
              </c:extLst>
            </c:dLbl>
            <c:dLbl>
              <c:idx val="2"/>
              <c:layout>
                <c:manualLayout>
                  <c:x val="0"/>
                  <c:y val="-0.1718377088305489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  <a:sym typeface="Arial Narrow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96C2-40D9-8BF5-4F68DE8604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2020</c:v>
                </c:pt>
                <c:pt idx="1">
                  <c:v>2025</c:v>
                </c:pt>
                <c:pt idx="2">
                  <c:v>2030</c:v>
                </c:pt>
              </c:numCache>
            </c:numRef>
          </c:xVal>
          <c:yVal>
            <c:numRef>
              <c:f>Sheet1!$A$2:$C$2</c:f>
              <c:numCache>
                <c:formatCode>General</c:formatCode>
                <c:ptCount val="3"/>
                <c:pt idx="0">
                  <c:v>770</c:v>
                </c:pt>
                <c:pt idx="1">
                  <c:v>1050</c:v>
                </c:pt>
                <c:pt idx="2">
                  <c:v>1280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96C2-40D9-8BF5-4F68DE8604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30431112"/>
        <c:axId val="1"/>
      </c:scatterChart>
      <c:valAx>
        <c:axId val="230431112"/>
        <c:scaling>
          <c:orientation val="minMax"/>
          <c:max val="2030"/>
          <c:min val="2020"/>
        </c:scaling>
        <c:delete val="1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crossAx val="1"/>
        <c:crosses val="min"/>
        <c:crossBetween val="midCat"/>
        <c:majorUnit val="5"/>
      </c:valAx>
      <c:valAx>
        <c:axId val="1"/>
        <c:scaling>
          <c:orientation val="minMax"/>
          <c:max val="1300"/>
          <c:min val="700"/>
        </c:scaling>
        <c:delete val="1"/>
        <c:axPos val="l"/>
        <c:numFmt formatCode="General" sourceLinked="1"/>
        <c:majorTickMark val="out"/>
        <c:minorTickMark val="none"/>
        <c:tickLblPos val="nextTo"/>
        <c:crossAx val="230431112"/>
        <c:crosses val="min"/>
        <c:crossBetween val="midCat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0278853601859024E-2"/>
          <c:y val="4.0278853601859024E-2"/>
          <c:w val="0.91944229279628198"/>
          <c:h val="0.9194422927962819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rgbClr val="1F497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614-40E9-AD5B-05C7546AB7DF}"/>
              </c:ext>
            </c:extLst>
          </c:dPt>
          <c:dPt>
            <c:idx val="1"/>
            <c:bubble3D val="0"/>
            <c:spPr>
              <a:solidFill>
                <a:srgbClr val="3E85D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614-40E9-AD5B-05C7546AB7DF}"/>
              </c:ext>
            </c:extLst>
          </c:dPt>
          <c:dPt>
            <c:idx val="2"/>
            <c:bubble3D val="0"/>
            <c:spPr>
              <a:solidFill>
                <a:srgbClr val="F184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E614-40E9-AD5B-05C7546AB7DF}"/>
              </c:ext>
            </c:extLst>
          </c:dPt>
          <c:dPt>
            <c:idx val="3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E614-40E9-AD5B-05C7546AB7DF}"/>
              </c:ext>
            </c:extLst>
          </c:dPt>
          <c:val>
            <c:numRef>
              <c:f>Sheet1!$A$1:$A$4</c:f>
              <c:numCache>
                <c:formatCode>General</c:formatCode>
                <c:ptCount val="4"/>
                <c:pt idx="0">
                  <c:v>27.6</c:v>
                </c:pt>
                <c:pt idx="1">
                  <c:v>8.6</c:v>
                </c:pt>
                <c:pt idx="2">
                  <c:v>29.599999999999998</c:v>
                </c:pt>
                <c:pt idx="3">
                  <c:v>34.200000000000003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614-40E9-AD5B-05C7546AB7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7704325725107142E-2"/>
          <c:y val="7.5419478592469072E-2"/>
          <c:w val="0.89284585866640087"/>
          <c:h val="0.7870624782660147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Mcap</c:v>
                </c:pt>
              </c:strCache>
            </c:strRef>
          </c:tx>
          <c:spPr>
            <a:solidFill>
              <a:srgbClr val="C3CFE1"/>
            </a:solidFill>
          </c:spPr>
          <c:invertIfNegative val="0"/>
          <c:cat>
            <c:strRef>
              <c:f>Лист1!$A$2:$A$4</c:f>
              <c:strCache>
                <c:ptCount val="3"/>
                <c:pt idx="0">
                  <c:v>31.12.2018</c:v>
                </c:pt>
                <c:pt idx="1">
                  <c:v>31.12.2019</c:v>
                </c:pt>
                <c:pt idx="2">
                  <c:v>31.12.2020</c:v>
                </c:pt>
              </c:strCache>
            </c:strRef>
          </c:cat>
          <c:val>
            <c:numRef>
              <c:f>Лист1!$B$2:$B$4</c:f>
              <c:numCache>
                <c:formatCode>#,##0</c:formatCode>
                <c:ptCount val="3"/>
                <c:pt idx="0">
                  <c:v>405019.8</c:v>
                </c:pt>
                <c:pt idx="1">
                  <c:v>526385</c:v>
                </c:pt>
                <c:pt idx="2">
                  <c:v>554625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FF-410E-82F6-5771521321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"/>
        <c:overlap val="100"/>
        <c:axId val="144914688"/>
        <c:axId val="144941056"/>
      </c:barChart>
      <c:catAx>
        <c:axId val="144914688"/>
        <c:scaling>
          <c:orientation val="minMax"/>
        </c:scaling>
        <c:delete val="0"/>
        <c:axPos val="b"/>
        <c:numFmt formatCode="dd/mm/yy;@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ru-RU"/>
          </a:p>
        </c:txPr>
        <c:crossAx val="144941056"/>
        <c:crosses val="autoZero"/>
        <c:auto val="1"/>
        <c:lblAlgn val="ctr"/>
        <c:lblOffset val="100"/>
        <c:noMultiLvlLbl val="0"/>
      </c:catAx>
      <c:valAx>
        <c:axId val="144941056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14491468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"/>
          <c:y val="6.7965692007797271E-2"/>
          <c:w val="0.67672373211413095"/>
          <c:h val="0.92565931324700113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1F497D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8CF7-4BD6-9F63-2CD46C8F9484}"/>
              </c:ext>
            </c:extLst>
          </c:dPt>
          <c:dPt>
            <c:idx val="3"/>
            <c:invertIfNegative val="0"/>
            <c:bubble3D val="0"/>
            <c:spPr>
              <a:solidFill>
                <a:srgbClr val="FF9900"/>
              </a:solidFill>
            </c:spPr>
            <c:extLst>
              <c:ext xmlns:c16="http://schemas.microsoft.com/office/drawing/2014/chart" uri="{C3380CC4-5D6E-409C-BE32-E72D297353CC}">
                <c16:uniqueId val="{00000002-8CF7-4BD6-9F63-2CD46C8F9484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CF7-4BD6-9F63-2CD46C8F9484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8CF7-4BD6-9F63-2CD46C8F9484}"/>
              </c:ext>
            </c:extLst>
          </c:dPt>
          <c:dLbls>
            <c:dLbl>
              <c:idx val="0"/>
              <c:layout>
                <c:manualLayout>
                  <c:x val="-0.1204376932640505"/>
                  <c:y val="-1.7885972241511015E-16"/>
                </c:manualLayout>
              </c:layout>
              <c:numFmt formatCode="0.0%" sourceLinked="0"/>
              <c:spPr/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CF7-4BD6-9F63-2CD46C8F9484}"/>
                </c:ext>
              </c:extLst>
            </c:dLbl>
            <c:dLbl>
              <c:idx val="1"/>
              <c:layout>
                <c:manualLayout>
                  <c:x val="-0.12827855526156395"/>
                  <c:y val="4.8780487804878049E-3"/>
                </c:manualLayout>
              </c:layout>
              <c:numFmt formatCode="0.0%" sourceLinked="0"/>
              <c:spPr/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CF7-4BD6-9F63-2CD46C8F9484}"/>
                </c:ext>
              </c:extLst>
            </c:dLbl>
            <c:dLbl>
              <c:idx val="2"/>
              <c:layout>
                <c:manualLayout>
                  <c:x val="-6.7854413338006144E-3"/>
                  <c:y val="5.2630029960503023E-3"/>
                </c:manualLayout>
              </c:layout>
              <c:numFmt formatCode="0.0%" sourceLinked="0"/>
              <c:spPr/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CF7-4BD6-9F63-2CD46C8F9484}"/>
                </c:ext>
              </c:extLst>
            </c:dLbl>
            <c:dLbl>
              <c:idx val="3"/>
              <c:layout>
                <c:manualLayout>
                  <c:x val="-8.081604823561692E-3"/>
                  <c:y val="0"/>
                </c:manualLayout>
              </c:layout>
              <c:numFmt formatCode="0.0%" sourceLinked="0"/>
              <c:spPr/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CF7-4BD6-9F63-2CD46C8F9484}"/>
                </c:ext>
              </c:extLst>
            </c:dLbl>
            <c:dLbl>
              <c:idx val="4"/>
              <c:layout>
                <c:manualLayout>
                  <c:x val="-3.3804656830211444E-3"/>
                  <c:y val="3.1942174461555283E-4"/>
                </c:manualLayout>
              </c:layout>
              <c:numFmt formatCode="0.0%" sourceLinked="0"/>
              <c:spPr/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CF7-4BD6-9F63-2CD46C8F9484}"/>
                </c:ext>
              </c:extLst>
            </c:dLbl>
            <c:dLbl>
              <c:idx val="5"/>
              <c:layout>
                <c:manualLayout>
                  <c:x val="-1.1379946199029288E-2"/>
                  <c:y val="0"/>
                </c:manualLayout>
              </c:layout>
              <c:numFmt formatCode="0.0%" sourceLinked="0"/>
              <c:spPr/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CF7-4BD6-9F63-2CD46C8F9484}"/>
                </c:ext>
              </c:extLst>
            </c:dLbl>
            <c:dLbl>
              <c:idx val="6"/>
              <c:layout>
                <c:manualLayout>
                  <c:x val="-1.0940994958267801E-2"/>
                  <c:y val="-5.1017224837199126E-3"/>
                </c:manualLayout>
              </c:layout>
              <c:numFmt formatCode="0.0%" sourceLinked="0"/>
              <c:spPr/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CF7-4BD6-9F63-2CD46C8F9484}"/>
                </c:ext>
              </c:extLst>
            </c:dLbl>
            <c:dLbl>
              <c:idx val="7"/>
              <c:layout>
                <c:manualLayout>
                  <c:x val="-9.3414808285897741E-3"/>
                  <c:y val="-4.9510370415424797E-3"/>
                </c:manualLayout>
              </c:layout>
              <c:numFmt formatCode="0.0%" sourceLinked="0"/>
              <c:spPr/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CF7-4BD6-9F63-2CD46C8F9484}"/>
                </c:ext>
              </c:extLst>
            </c:dLbl>
            <c:numFmt formatCode="0.0%" sourceLinked="0"/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0" i="0" u="none" strike="noStrike" baseline="0">
                    <a:solidFill>
                      <a:srgbClr val="000000"/>
                    </a:solidFill>
                    <a:latin typeface="Tahoma"/>
                    <a:ea typeface="Tahoma"/>
                    <a:cs typeface="Tahoma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'[Лист в Свод_work4 2]Лист1'!$A$2:$A$9</c:f>
              <c:strCache>
                <c:ptCount val="8"/>
                <c:pt idx="0">
                  <c:v>FTSE 100 Index</c:v>
                </c:pt>
                <c:pt idx="1">
                  <c:v>STOXX600</c:v>
                </c:pt>
                <c:pt idx="2">
                  <c:v>Dow Jones Indus. AVG</c:v>
                </c:pt>
                <c:pt idx="3">
                  <c:v>MOEX Russia Index</c:v>
                </c:pt>
                <c:pt idx="4">
                  <c:v>Shanghai Composite</c:v>
                </c:pt>
                <c:pt idx="5">
                  <c:v>NIKKEI 225</c:v>
                </c:pt>
                <c:pt idx="6">
                  <c:v>S&amp;P 500 Index</c:v>
                </c:pt>
                <c:pt idx="7">
                  <c:v>NASDAQ Composite Index</c:v>
                </c:pt>
              </c:strCache>
            </c:strRef>
          </c:cat>
          <c:val>
            <c:numRef>
              <c:f>'[Лист в Свод_work4 2]Лист1'!$B$2:$B$9</c:f>
              <c:numCache>
                <c:formatCode>0.00%</c:formatCode>
                <c:ptCount val="8"/>
                <c:pt idx="0">
                  <c:v>-0.14344429654064195</c:v>
                </c:pt>
                <c:pt idx="1">
                  <c:v>-4.0424201616006128E-2</c:v>
                </c:pt>
                <c:pt idx="2">
                  <c:v>7.246506816770637E-2</c:v>
                </c:pt>
                <c:pt idx="3">
                  <c:v>7.9829408346383746E-2</c:v>
                </c:pt>
                <c:pt idx="4">
                  <c:v>0.13866485428133424</c:v>
                </c:pt>
                <c:pt idx="5">
                  <c:v>0.16010528976666993</c:v>
                </c:pt>
                <c:pt idx="6">
                  <c:v>0.16258921994069531</c:v>
                </c:pt>
                <c:pt idx="7">
                  <c:v>0.43640352343645183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CF7-4BD6-9F63-2CD46C8F94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"/>
        <c:axId val="243806031"/>
        <c:axId val="1"/>
      </c:barChart>
      <c:catAx>
        <c:axId val="24380603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high"/>
        <c:txPr>
          <a:bodyPr rot="0" vert="horz"/>
          <a:lstStyle/>
          <a:p>
            <a:pPr>
              <a:defRPr sz="800" b="0" i="0" u="none" strike="noStrike" baseline="0">
                <a:solidFill>
                  <a:srgbClr val="000000"/>
                </a:solidFill>
                <a:latin typeface="Tahoma"/>
                <a:ea typeface="Tahoma"/>
                <a:cs typeface="Tahoma"/>
              </a:defRPr>
            </a:pPr>
            <a:endParaRPr lang="ru-RU"/>
          </a:p>
        </c:txPr>
        <c:crossAx val="1"/>
        <c:crosses val="autoZero"/>
        <c:auto val="1"/>
        <c:lblAlgn val="ctr"/>
        <c:lblOffset val="1000"/>
        <c:noMultiLvlLbl val="0"/>
      </c:catAx>
      <c:valAx>
        <c:axId val="1"/>
        <c:scaling>
          <c:orientation val="minMax"/>
        </c:scaling>
        <c:delete val="1"/>
        <c:axPos val="b"/>
        <c:numFmt formatCode="0.00%" sourceLinked="1"/>
        <c:majorTickMark val="out"/>
        <c:minorTickMark val="none"/>
        <c:tickLblPos val="nextTo"/>
        <c:crossAx val="243806031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ru-RU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753283858491589E-2"/>
          <c:y val="5.8432934926958828E-2"/>
          <c:w val="0.36748729822868481"/>
          <c:h val="0.8831341301460823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'[Лист в Свод_work4]Лист1'!$B$1</c:f>
              <c:strCache>
                <c:ptCount val="1"/>
                <c:pt idx="0">
                  <c:v>Рост</c:v>
                </c:pt>
              </c:strCache>
            </c:strRef>
          </c:tx>
          <c:spPr>
            <a:solidFill>
              <a:srgbClr val="1F497D"/>
            </a:solidFill>
          </c:spPr>
          <c:invertIfNegative val="0"/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C2A-4F2E-98C4-7ABE933A39CE}"/>
              </c:ext>
            </c:extLst>
          </c:dPt>
          <c:dPt>
            <c:idx val="3"/>
            <c:invertIfNegative val="0"/>
            <c:bubble3D val="0"/>
            <c:spPr>
              <a:solidFill>
                <a:srgbClr val="FF9900"/>
              </a:solidFill>
            </c:spPr>
            <c:extLst>
              <c:ext xmlns:c16="http://schemas.microsoft.com/office/drawing/2014/chart" uri="{C3380CC4-5D6E-409C-BE32-E72D297353CC}">
                <c16:uniqueId val="{00000002-BC2A-4F2E-98C4-7ABE933A39CE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C2A-4F2E-98C4-7ABE933A39CE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BC2A-4F2E-98C4-7ABE933A39CE}"/>
              </c:ext>
            </c:extLst>
          </c:dPt>
          <c:dLbls>
            <c:dLbl>
              <c:idx val="0"/>
              <c:layout>
                <c:manualLayout>
                  <c:x val="-0.1728820590974515"/>
                  <c:y val="-4.2793563847997261E-7"/>
                </c:manualLayout>
              </c:layout>
              <c:numFmt formatCode="0.0%" sourceLinked="0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C2A-4F2E-98C4-7ABE933A39CE}"/>
                </c:ext>
              </c:extLst>
            </c:dLbl>
            <c:dLbl>
              <c:idx val="1"/>
              <c:layout>
                <c:manualLayout>
                  <c:x val="-0.17195044167866114"/>
                  <c:y val="5.3594659363230771E-3"/>
                </c:manualLayout>
              </c:layout>
              <c:numFmt formatCode="0.0%" sourceLinked="0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C2A-4F2E-98C4-7ABE933A39CE}"/>
                </c:ext>
              </c:extLst>
            </c:dLbl>
            <c:dLbl>
              <c:idx val="2"/>
              <c:layout>
                <c:manualLayout>
                  <c:x val="-1.0614607476278778E-2"/>
                  <c:y val="0"/>
                </c:manualLayout>
              </c:layout>
              <c:numFmt formatCode="0.0%" sourceLinked="0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C2A-4F2E-98C4-7ABE933A39CE}"/>
                </c:ext>
              </c:extLst>
            </c:dLbl>
            <c:dLbl>
              <c:idx val="3"/>
              <c:layout>
                <c:manualLayout>
                  <c:x val="-1.0614607476278794E-2"/>
                  <c:y val="0"/>
                </c:manualLayout>
              </c:layout>
              <c:numFmt formatCode="0.0%" sourceLinked="0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C2A-4F2E-98C4-7ABE933A39CE}"/>
                </c:ext>
              </c:extLst>
            </c:dLbl>
            <c:dLbl>
              <c:idx val="4"/>
              <c:layout>
                <c:manualLayout>
                  <c:x val="-1.409573996727145E-2"/>
                  <c:y val="-5.3862978139923232E-3"/>
                </c:manualLayout>
              </c:layout>
              <c:numFmt formatCode="0.0%" sourceLinked="0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C2A-4F2E-98C4-7ABE933A39CE}"/>
                </c:ext>
              </c:extLst>
            </c:dLbl>
            <c:dLbl>
              <c:idx val="5"/>
              <c:layout>
                <c:manualLayout>
                  <c:x val="-1.7585213454559028E-2"/>
                  <c:y val="-5.4131419530858193E-3"/>
                </c:manualLayout>
              </c:layout>
              <c:numFmt formatCode="0.0%" sourceLinked="0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C2A-4F2E-98C4-7ABE933A39CE}"/>
                </c:ext>
              </c:extLst>
            </c:dLbl>
            <c:dLbl>
              <c:idx val="6"/>
              <c:layout>
                <c:manualLayout>
                  <c:x val="-1.756411457423444E-2"/>
                  <c:y val="-5.3862978139922729E-3"/>
                </c:manualLayout>
              </c:layout>
              <c:numFmt formatCode="0.0%" sourceLinked="0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C2A-4F2E-98C4-7ABE933A39CE}"/>
                </c:ext>
              </c:extLst>
            </c:dLbl>
            <c:dLbl>
              <c:idx val="7"/>
              <c:layout>
                <c:manualLayout>
                  <c:x val="-1.4530939538767223E-2"/>
                  <c:y val="-5.3419836796156257E-3"/>
                </c:manualLayout>
              </c:layout>
              <c:numFmt formatCode="0.0%" sourceLinked="0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C2A-4F2E-98C4-7ABE933A39CE}"/>
                </c:ext>
              </c:extLst>
            </c:dLbl>
            <c:numFmt formatCode="0.0%" sourceLinked="0"/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0" i="0" u="none" strike="noStrike" baseline="0">
                    <a:solidFill>
                      <a:srgbClr val="000000"/>
                    </a:solidFill>
                    <a:latin typeface="Tahoma"/>
                    <a:ea typeface="Tahoma"/>
                    <a:cs typeface="Tahoma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'[Лист в Свод_work4]Лист1'!$A$2:$A$9</c:f>
              <c:strCache>
                <c:ptCount val="8"/>
                <c:pt idx="0">
                  <c:v>Транспорт</c:v>
                </c:pt>
                <c:pt idx="1">
                  <c:v>Нефть и газ</c:v>
                </c:pt>
                <c:pt idx="2">
                  <c:v>Телекоммуникации</c:v>
                </c:pt>
                <c:pt idx="3">
                  <c:v>Электроэнергетика</c:v>
                </c:pt>
                <c:pt idx="4">
                  <c:v>Химия и нефтехимия</c:v>
                </c:pt>
                <c:pt idx="5">
                  <c:v>Финансы и банки</c:v>
                </c:pt>
                <c:pt idx="6">
                  <c:v>Потребительский сектор</c:v>
                </c:pt>
                <c:pt idx="7">
                  <c:v>Металлургия</c:v>
                </c:pt>
              </c:strCache>
            </c:strRef>
          </c:cat>
          <c:val>
            <c:numRef>
              <c:f>'[Лист в Свод_work4]Лист1'!$B$2:$B$9</c:f>
              <c:numCache>
                <c:formatCode>0.00%</c:formatCode>
                <c:ptCount val="8"/>
                <c:pt idx="0">
                  <c:v>-0.19048794637897626</c:v>
                </c:pt>
                <c:pt idx="1">
                  <c:v>-0.15960959758344118</c:v>
                </c:pt>
                <c:pt idx="2">
                  <c:v>7.1177091617716126E-2</c:v>
                </c:pt>
                <c:pt idx="3">
                  <c:v>0.13996588744847061</c:v>
                </c:pt>
                <c:pt idx="4">
                  <c:v>0.15597022342624278</c:v>
                </c:pt>
                <c:pt idx="5">
                  <c:v>0.21360535397961966</c:v>
                </c:pt>
                <c:pt idx="6">
                  <c:v>0.43130690612670164</c:v>
                </c:pt>
                <c:pt idx="7">
                  <c:v>0.47713928000902217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BC2A-4F2E-98C4-7ABE933A39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"/>
        <c:axId val="325539583"/>
        <c:axId val="1"/>
      </c:barChart>
      <c:catAx>
        <c:axId val="32553958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high"/>
        <c:txPr>
          <a:bodyPr rot="0" vert="horz"/>
          <a:lstStyle/>
          <a:p>
            <a:pPr>
              <a:defRPr sz="800" b="0" i="0" u="none" strike="noStrike" baseline="0">
                <a:solidFill>
                  <a:srgbClr val="000000"/>
                </a:solidFill>
                <a:latin typeface="Tahoma"/>
                <a:ea typeface="Tahoma"/>
                <a:cs typeface="Tahoma"/>
              </a:defRPr>
            </a:pPr>
            <a:endParaRPr lang="ru-RU"/>
          </a:p>
        </c:txPr>
        <c:crossAx val="1"/>
        <c:crosses val="autoZero"/>
        <c:auto val="0"/>
        <c:lblAlgn val="ctr"/>
        <c:lblOffset val="0"/>
        <c:noMultiLvlLbl val="0"/>
      </c:catAx>
      <c:valAx>
        <c:axId val="1"/>
        <c:scaling>
          <c:orientation val="minMax"/>
        </c:scaling>
        <c:delete val="1"/>
        <c:axPos val="b"/>
        <c:numFmt formatCode="0.00%" sourceLinked="1"/>
        <c:majorTickMark val="out"/>
        <c:minorTickMark val="none"/>
        <c:tickLblPos val="nextTo"/>
        <c:crossAx val="325539583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ru-RU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54843911991706"/>
          <c:y val="5.8432785085334914E-2"/>
          <c:w val="0.51221541059556708"/>
          <c:h val="0.8831341301460823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'[Лист в Свод_work4 3]Лист1'!$B$1</c:f>
              <c:strCache>
                <c:ptCount val="1"/>
                <c:pt idx="0">
                  <c:v>Рост</c:v>
                </c:pt>
              </c:strCache>
            </c:strRef>
          </c:tx>
          <c:spPr>
            <a:solidFill>
              <a:srgbClr val="1F497D"/>
            </a:solidFill>
          </c:spPr>
          <c:invertIfNegative val="0"/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7BF9-4B90-A63D-3D57CCC6FC91}"/>
              </c:ext>
            </c:extLst>
          </c:dPt>
          <c:dPt>
            <c:idx val="3"/>
            <c:invertIfNegative val="0"/>
            <c:bubble3D val="0"/>
            <c:spPr>
              <a:solidFill>
                <a:srgbClr val="FF8500"/>
              </a:solidFill>
            </c:spPr>
            <c:extLst>
              <c:ext xmlns:c16="http://schemas.microsoft.com/office/drawing/2014/chart" uri="{C3380CC4-5D6E-409C-BE32-E72D297353CC}">
                <c16:uniqueId val="{00000002-7BF9-4B90-A63D-3D57CCC6FC9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BF9-4B90-A63D-3D57CCC6FC91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7BF9-4B90-A63D-3D57CCC6FC91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BF9-4B90-A63D-3D57CCC6FC91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7BF9-4B90-A63D-3D57CCC6FC91}"/>
              </c:ext>
            </c:extLst>
          </c:dPt>
          <c:dLbls>
            <c:dLbl>
              <c:idx val="0"/>
              <c:layout>
                <c:manualLayout>
                  <c:x val="-0.20101685875012634"/>
                  <c:y val="1.3520262225485863E-4"/>
                </c:manualLayout>
              </c:layout>
              <c:numFmt formatCode="0.0%" sourceLinked="0"/>
              <c:spPr/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BF9-4B90-A63D-3D57CCC6FC91}"/>
                </c:ext>
              </c:extLst>
            </c:dLbl>
            <c:dLbl>
              <c:idx val="1"/>
              <c:layout>
                <c:manualLayout>
                  <c:x val="-0.15950825501651"/>
                  <c:y val="0"/>
                </c:manualLayout>
              </c:layout>
              <c:numFmt formatCode="0.0%" sourceLinked="0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BF9-4B90-A63D-3D57CCC6FC91}"/>
                </c:ext>
              </c:extLst>
            </c:dLbl>
            <c:dLbl>
              <c:idx val="2"/>
              <c:layout>
                <c:manualLayout>
                  <c:x val="-4.8179446298034527E-3"/>
                  <c:y val="0"/>
                </c:manualLayout>
              </c:layout>
              <c:numFmt formatCode="0.0%" sourceLinked="0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BF9-4B90-A63D-3D57CCC6FC91}"/>
                </c:ext>
              </c:extLst>
            </c:dLbl>
            <c:dLbl>
              <c:idx val="3"/>
              <c:layout>
                <c:manualLayout>
                  <c:x val="-6.1480002014518732E-3"/>
                  <c:y val="0"/>
                </c:manualLayout>
              </c:layout>
              <c:numFmt formatCode="0.0%" sourceLinked="0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BF9-4B90-A63D-3D57CCC6FC91}"/>
                </c:ext>
              </c:extLst>
            </c:dLbl>
            <c:dLbl>
              <c:idx val="4"/>
              <c:layout>
                <c:manualLayout>
                  <c:x val="-4.5262450215867852E-3"/>
                  <c:y val="4.918642744264021E-17"/>
                </c:manualLayout>
              </c:layout>
              <c:numFmt formatCode="0.0%" sourceLinked="0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BF9-4B90-A63D-3D57CCC6FC91}"/>
                </c:ext>
              </c:extLst>
            </c:dLbl>
            <c:dLbl>
              <c:idx val="5"/>
              <c:layout>
                <c:manualLayout>
                  <c:x val="-8.8672624819884794E-3"/>
                  <c:y val="-4.918642744264021E-17"/>
                </c:manualLayout>
              </c:layout>
              <c:numFmt formatCode="0.0%" sourceLinked="0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BF9-4B90-A63D-3D57CCC6FC91}"/>
                </c:ext>
              </c:extLst>
            </c:dLbl>
            <c:dLbl>
              <c:idx val="6"/>
              <c:layout>
                <c:manualLayout>
                  <c:x val="-5.5839169654626277E-5"/>
                  <c:y val="-4.9079839496430017E-3"/>
                </c:manualLayout>
              </c:layout>
              <c:numFmt formatCode="0.0%" sourceLinked="0"/>
              <c:spPr/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BF9-4B90-A63D-3D57CCC6FC91}"/>
                </c:ext>
              </c:extLst>
            </c:dLbl>
            <c:dLbl>
              <c:idx val="7"/>
              <c:numFmt formatCode="0.0%" sourceLinked="0"/>
              <c:spPr/>
              <c:txPr>
                <a:bodyPr/>
                <a:lstStyle/>
                <a:p>
                  <a:pPr>
                    <a:defRPr sz="800" b="0" i="0" u="none" strike="noStrike" baseline="0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7BF9-4B90-A63D-3D57CCC6FC91}"/>
                </c:ext>
              </c:extLst>
            </c:dLbl>
            <c:numFmt formatCode="0.0%" sourceLinked="0"/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0" i="0" u="none" strike="noStrike" baseline="0">
                    <a:solidFill>
                      <a:srgbClr val="000000"/>
                    </a:solidFill>
                    <a:latin typeface="Tahoma"/>
                    <a:ea typeface="Tahoma"/>
                    <a:cs typeface="Tahoma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'[Лист в Свод_work4 3]Лист1'!$A$2:$A$9</c:f>
              <c:strCache>
                <c:ptCount val="8"/>
                <c:pt idx="0">
                  <c:v>Мосэнерго</c:v>
                </c:pt>
                <c:pt idx="1">
                  <c:v>Энел Россия</c:v>
                </c:pt>
                <c:pt idx="2">
                  <c:v>Юнипро</c:v>
                </c:pt>
                <c:pt idx="3">
                  <c:v>Интер РАО</c:v>
                </c:pt>
                <c:pt idx="4">
                  <c:v>ФСК ЕЭС</c:v>
                </c:pt>
                <c:pt idx="5">
                  <c:v>Россети</c:v>
                </c:pt>
                <c:pt idx="6">
                  <c:v>ОГК-2</c:v>
                </c:pt>
                <c:pt idx="7">
                  <c:v>Русгидро</c:v>
                </c:pt>
              </c:strCache>
            </c:strRef>
          </c:cat>
          <c:val>
            <c:numRef>
              <c:f>'[Лист в Свод_work4 3]Лист1'!$B$2:$B$9</c:f>
              <c:numCache>
                <c:formatCode>0.00%</c:formatCode>
                <c:ptCount val="8"/>
                <c:pt idx="0">
                  <c:v>-8.56194690265486E-2</c:v>
                </c:pt>
                <c:pt idx="1">
                  <c:v>-2.386117136659438E-2</c:v>
                </c:pt>
                <c:pt idx="2">
                  <c:v>3.9568345323739429E-3</c:v>
                </c:pt>
                <c:pt idx="3">
                  <c:v>5.3649345497818413E-2</c:v>
                </c:pt>
                <c:pt idx="4">
                  <c:v>0.10695773524720886</c:v>
                </c:pt>
                <c:pt idx="5">
                  <c:v>0.26671002240046238</c:v>
                </c:pt>
                <c:pt idx="6">
                  <c:v>0.29662522202486685</c:v>
                </c:pt>
                <c:pt idx="7">
                  <c:v>0.40860795966144425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7BF9-4B90-A63D-3D57CCC6FC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"/>
        <c:axId val="333865167"/>
        <c:axId val="1"/>
      </c:barChart>
      <c:catAx>
        <c:axId val="3338651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high"/>
        <c:txPr>
          <a:bodyPr rot="0" vert="horz"/>
          <a:lstStyle/>
          <a:p>
            <a:pPr>
              <a:defRPr sz="800" b="0" i="0" u="none" strike="noStrike" baseline="0">
                <a:solidFill>
                  <a:srgbClr val="000000"/>
                </a:solidFill>
                <a:latin typeface="Tahoma"/>
                <a:ea typeface="Tahoma"/>
                <a:cs typeface="Tahoma"/>
              </a:defRPr>
            </a:pPr>
            <a:endParaRPr lang="ru-RU"/>
          </a:p>
        </c:txPr>
        <c:crossAx val="1"/>
        <c:crosses val="autoZero"/>
        <c:auto val="1"/>
        <c:lblAlgn val="ctr"/>
        <c:lblOffset val="1000"/>
        <c:noMultiLvlLbl val="0"/>
      </c:catAx>
      <c:valAx>
        <c:axId val="1"/>
        <c:scaling>
          <c:orientation val="minMax"/>
        </c:scaling>
        <c:delete val="1"/>
        <c:axPos val="b"/>
        <c:numFmt formatCode="0.00%" sourceLinked="1"/>
        <c:majorTickMark val="out"/>
        <c:minorTickMark val="none"/>
        <c:tickLblPos val="nextTo"/>
        <c:crossAx val="333865167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ru-RU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ГЭХ</c:v>
                </c:pt>
              </c:strCache>
            </c:strRef>
          </c:tx>
          <c:spPr>
            <a:solidFill>
              <a:srgbClr val="004076"/>
            </a:solidFill>
            <a:ln>
              <a:noFill/>
            </a:ln>
            <a:effectLst/>
          </c:spPr>
          <c:invertIfNegative val="0"/>
          <c:cat>
            <c:strRef>
              <c:f>Лист1!$A$2:$A$4</c:f>
              <c:strCache>
                <c:ptCount val="3"/>
                <c:pt idx="0">
                  <c:v>Наличие и последовательность реализации стратегии развития</c:v>
                </c:pt>
                <c:pt idx="1">
                  <c:v>Инвестиционный потенциал
</c:v>
                </c:pt>
                <c:pt idx="2">
                  <c:v>неорганический рост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2.09</c:v>
                </c:pt>
                <c:pt idx="1">
                  <c:v>2.21</c:v>
                </c:pt>
                <c:pt idx="2">
                  <c:v>2.0099999999999998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21-4CB9-97B3-4FFBDA19337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Интер РАО </c:v>
                </c:pt>
              </c:strCache>
            </c:strRef>
          </c:tx>
          <c:spPr>
            <a:solidFill>
              <a:srgbClr val="F18400"/>
            </a:solidFill>
            <a:ln>
              <a:noFill/>
            </a:ln>
            <a:effectLst/>
          </c:spPr>
          <c:invertIfNegative val="0"/>
          <c:cat>
            <c:strRef>
              <c:f>Лист1!$A$2:$A$4</c:f>
              <c:strCache>
                <c:ptCount val="3"/>
                <c:pt idx="0">
                  <c:v>Наличие и последовательность реализации стратегии развития</c:v>
                </c:pt>
                <c:pt idx="1">
                  <c:v>Инвестиционный потенциал
</c:v>
                </c:pt>
                <c:pt idx="2">
                  <c:v>неорганический рост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2.2200000000000002</c:v>
                </c:pt>
                <c:pt idx="1">
                  <c:v>2.19</c:v>
                </c:pt>
                <c:pt idx="2">
                  <c:v>2.61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D21-4CB9-97B3-4FFBDA19337A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Русгидро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Лист1!$A$2:$A$4</c:f>
              <c:strCache>
                <c:ptCount val="3"/>
                <c:pt idx="0">
                  <c:v>Наличие и последовательность реализации стратегии развития</c:v>
                </c:pt>
                <c:pt idx="1">
                  <c:v>Инвестиционный потенциал
</c:v>
                </c:pt>
                <c:pt idx="2">
                  <c:v>неорганический рост</c:v>
                </c:pt>
              </c:strCache>
            </c:strRef>
          </c:cat>
          <c:val>
            <c:numRef>
              <c:f>Лист1!$D$2:$D$4</c:f>
              <c:numCache>
                <c:formatCode>General</c:formatCode>
                <c:ptCount val="3"/>
                <c:pt idx="0">
                  <c:v>2.13</c:v>
                </c:pt>
                <c:pt idx="1">
                  <c:v>2.0699999999999998</c:v>
                </c:pt>
                <c:pt idx="2">
                  <c:v>1.56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D21-4CB9-97B3-4FFBDA1933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23503872"/>
        <c:axId val="223505408"/>
      </c:barChart>
      <c:catAx>
        <c:axId val="22350387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23505408"/>
        <c:crosses val="autoZero"/>
        <c:auto val="1"/>
        <c:lblAlgn val="ctr"/>
        <c:lblOffset val="100"/>
        <c:noMultiLvlLbl val="0"/>
      </c:catAx>
      <c:valAx>
        <c:axId val="22350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ru-RU"/>
          </a:p>
        </c:txPr>
        <c:crossAx val="223503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ГЭХ</c:v>
                </c:pt>
              </c:strCache>
            </c:strRef>
          </c:tx>
          <c:spPr>
            <a:solidFill>
              <a:srgbClr val="004076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эффективность менеджмента</c:v>
                </c:pt>
                <c:pt idx="1">
                  <c:v>защита интересов
</c:v>
                </c:pt>
                <c:pt idx="2">
                  <c:v>реализация задач</c:v>
                </c:pt>
                <c:pt idx="3">
                  <c:v>противодействие коррупции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2.09</c:v>
                </c:pt>
                <c:pt idx="1">
                  <c:v>1.89</c:v>
                </c:pt>
                <c:pt idx="2">
                  <c:v>1.64</c:v>
                </c:pt>
                <c:pt idx="3">
                  <c:v>1.53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12-4B62-8C33-E80030B5E914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Интер РАО </c:v>
                </c:pt>
              </c:strCache>
            </c:strRef>
          </c:tx>
          <c:spPr>
            <a:solidFill>
              <a:srgbClr val="F18400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эффективность менеджмента</c:v>
                </c:pt>
                <c:pt idx="1">
                  <c:v>защита интересов
</c:v>
                </c:pt>
                <c:pt idx="2">
                  <c:v>реализация задач</c:v>
                </c:pt>
                <c:pt idx="3">
                  <c:v>противодействие коррупции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2.27</c:v>
                </c:pt>
                <c:pt idx="1">
                  <c:v>2.1800000000000002</c:v>
                </c:pt>
                <c:pt idx="2">
                  <c:v>2.0099999999999998</c:v>
                </c:pt>
                <c:pt idx="3">
                  <c:v>2.0699999999999998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12-4B62-8C33-E80030B5E914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Русгидро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эффективность менеджмента</c:v>
                </c:pt>
                <c:pt idx="1">
                  <c:v>защита интересов
</c:v>
                </c:pt>
                <c:pt idx="2">
                  <c:v>реализация задач</c:v>
                </c:pt>
                <c:pt idx="3">
                  <c:v>противодействие коррупции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2.17</c:v>
                </c:pt>
                <c:pt idx="1">
                  <c:v>1.86</c:v>
                </c:pt>
                <c:pt idx="2">
                  <c:v>1.64</c:v>
                </c:pt>
                <c:pt idx="3">
                  <c:v>1.81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512-4B62-8C33-E80030B5E9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23518720"/>
        <c:axId val="223520256"/>
      </c:barChart>
      <c:catAx>
        <c:axId val="2235187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23520256"/>
        <c:crosses val="autoZero"/>
        <c:auto val="1"/>
        <c:lblAlgn val="ctr"/>
        <c:lblOffset val="100"/>
        <c:noMultiLvlLbl val="0"/>
      </c:catAx>
      <c:valAx>
        <c:axId val="223520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ru-RU"/>
          </a:p>
        </c:txPr>
        <c:crossAx val="223518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8847408481333816E-2"/>
          <c:y val="3.9846743295019159E-2"/>
          <c:w val="0.96230518303733237"/>
          <c:h val="0.92030651340996172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1F497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5257-4ECF-A750-5326B96F1AD1}"/>
              </c:ext>
            </c:extLst>
          </c:dPt>
          <c:dPt>
            <c:idx val="1"/>
            <c:invertIfNegative val="0"/>
            <c:bubble3D val="0"/>
            <c:spPr>
              <a:solidFill>
                <a:srgbClr val="1F497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5257-4ECF-A750-5326B96F1AD1}"/>
              </c:ext>
            </c:extLst>
          </c:dPt>
          <c:dPt>
            <c:idx val="6"/>
            <c:invertIfNegative val="0"/>
            <c:bubble3D val="0"/>
            <c:spPr>
              <a:solidFill>
                <a:srgbClr val="C3CFE1"/>
              </a:solidFill>
              <a:ln w="9525" algn="ctr">
                <a:solidFill>
                  <a:srgbClr val="1C3A8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5257-4ECF-A750-5326B96F1AD1}"/>
              </c:ext>
            </c:extLst>
          </c:dPt>
          <c:val>
            <c:numRef>
              <c:f>Sheet1!$A$1:$G$1</c:f>
              <c:numCache>
                <c:formatCode>General</c:formatCode>
                <c:ptCount val="7"/>
                <c:pt idx="0">
                  <c:v>15063.485833624782</c:v>
                </c:pt>
                <c:pt idx="1">
                  <c:v>14358.485833624782</c:v>
                </c:pt>
                <c:pt idx="2">
                  <c:v>14279.043833624775</c:v>
                </c:pt>
                <c:pt idx="4">
                  <c:v>14279.143833624774</c:v>
                </c:pt>
                <c:pt idx="6">
                  <c:v>2959.8648336247716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257-4ECF-A750-5326B96F1AD1}"/>
            </c:ext>
          </c:extLst>
        </c:ser>
        <c:ser>
          <c:idx val="1"/>
          <c:order val="1"/>
          <c:spPr>
            <a:noFill/>
            <a:ln w="19050" algn="ctr">
              <a:solidFill>
                <a:srgbClr val="E46C0A"/>
              </a:solidFill>
              <a:prstDash val="solid"/>
            </a:ln>
          </c:spPr>
          <c:invertIfNegative val="0"/>
          <c:dPt>
            <c:idx val="4"/>
            <c:invertIfNegative val="0"/>
            <c:bubble3D val="0"/>
            <c:spPr>
              <a:solidFill>
                <a:srgbClr val="FFFFFF"/>
              </a:solidFill>
              <a:ln w="9525" algn="ctr">
                <a:solidFill>
                  <a:srgbClr val="6F8DB9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8-5257-4ECF-A750-5326B96F1AD1}"/>
              </c:ext>
            </c:extLst>
          </c:dPt>
          <c:dPt>
            <c:idx val="6"/>
            <c:invertIfNegative val="0"/>
            <c:bubble3D val="0"/>
            <c:spPr>
              <a:solidFill>
                <a:srgbClr val="C3CFE1"/>
              </a:solidFill>
              <a:ln w="9525" algn="ctr">
                <a:solidFill>
                  <a:srgbClr val="1C3A8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A-5257-4ECF-A750-5326B96F1AD1}"/>
              </c:ext>
            </c:extLst>
          </c:dPt>
          <c:dLbls>
            <c:dLbl>
              <c:idx val="6"/>
              <c:layout>
                <c:manualLayout>
                  <c:x val="0"/>
                  <c:y val="-7.6628352490421458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>
                      <a:solidFill>
                        <a:schemeClr val="tx1"/>
                      </a:solidFill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5257-4ECF-A750-5326B96F1AD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Sheet1!$A$2:$G$2</c:f>
              <c:numCache>
                <c:formatCode>General</c:formatCode>
                <c:ptCount val="7"/>
                <c:pt idx="2">
                  <c:v>79.442000000006374</c:v>
                </c:pt>
                <c:pt idx="4">
                  <c:v>11.899999999997817</c:v>
                </c:pt>
                <c:pt idx="6">
                  <c:v>1565.2000000000007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5257-4ECF-A750-5326B96F1AD1}"/>
            </c:ext>
          </c:extLst>
        </c:ser>
        <c:ser>
          <c:idx val="2"/>
          <c:order val="2"/>
          <c:spPr>
            <a:solidFill>
              <a:srgbClr val="C3CFE1"/>
            </a:solidFill>
            <a:ln w="9525" algn="ctr">
              <a:solidFill>
                <a:srgbClr val="1C3A81"/>
              </a:solidFill>
              <a:prstDash val="solid"/>
            </a:ln>
          </c:spPr>
          <c:invertIfNegative val="0"/>
          <c:val>
            <c:numRef>
              <c:f>Sheet1!$A$3:$G$3</c:f>
              <c:numCache>
                <c:formatCode>General</c:formatCode>
                <c:ptCount val="7"/>
                <c:pt idx="6">
                  <c:v>485.70000000000073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257-4ECF-A750-5326B96F1AD1}"/>
            </c:ext>
          </c:extLst>
        </c:ser>
        <c:ser>
          <c:idx val="3"/>
          <c:order val="3"/>
          <c:spPr>
            <a:solidFill>
              <a:srgbClr val="C3CFE1"/>
            </a:solidFill>
            <a:ln w="9525" algn="ctr">
              <a:solidFill>
                <a:srgbClr val="1C3A81"/>
              </a:solidFill>
              <a:prstDash val="solid"/>
            </a:ln>
          </c:spPr>
          <c:invertIfNegative val="0"/>
          <c:dLbls>
            <c:dLbl>
              <c:idx val="6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>
                      <a:solidFill>
                        <a:schemeClr val="tx1"/>
                      </a:solidFill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5257-4ECF-A750-5326B96F1AD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Sheet1!$A$4:$G$4</c:f>
              <c:numCache>
                <c:formatCode>General</c:formatCode>
                <c:ptCount val="7"/>
                <c:pt idx="6">
                  <c:v>4472.0789999999979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257-4ECF-A750-5326B96F1AD1}"/>
            </c:ext>
          </c:extLst>
        </c:ser>
        <c:ser>
          <c:idx val="4"/>
          <c:order val="4"/>
          <c:spPr>
            <a:solidFill>
              <a:srgbClr val="C3CFE1"/>
            </a:solidFill>
            <a:ln w="9525" algn="ctr">
              <a:solidFill>
                <a:srgbClr val="1C3A81"/>
              </a:solidFill>
              <a:prstDash val="solid"/>
            </a:ln>
          </c:spPr>
          <c:invertIfNegative val="0"/>
          <c:dLbls>
            <c:dLbl>
              <c:idx val="6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>
                      <a:solidFill>
                        <a:schemeClr val="tx1"/>
                      </a:solidFill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5257-4ECF-A750-5326B96F1AD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Sheet1!$A$5:$G$5</c:f>
              <c:numCache>
                <c:formatCode>General</c:formatCode>
                <c:ptCount val="7"/>
                <c:pt idx="6">
                  <c:v>2777.2000000000007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5257-4ECF-A750-5326B96F1AD1}"/>
            </c:ext>
          </c:extLst>
        </c:ser>
        <c:ser>
          <c:idx val="5"/>
          <c:order val="5"/>
          <c:spPr>
            <a:solidFill>
              <a:srgbClr val="C3CFE1"/>
            </a:solidFill>
            <a:ln w="9525" algn="ctr">
              <a:solidFill>
                <a:srgbClr val="1C3A81"/>
              </a:solidFill>
              <a:prstDash val="solid"/>
            </a:ln>
          </c:spPr>
          <c:invertIfNegative val="0"/>
          <c:dLbls>
            <c:dLbl>
              <c:idx val="6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>
                      <a:solidFill>
                        <a:schemeClr val="tx1"/>
                      </a:solidFill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5257-4ECF-A750-5326B96F1AD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Sheet1!$A$6:$G$6</c:f>
              <c:numCache>
                <c:formatCode>General</c:formatCode>
                <c:ptCount val="7"/>
                <c:pt idx="6">
                  <c:v>2031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5257-4ECF-A750-5326B96F1A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3385344"/>
        <c:axId val="41310976"/>
      </c:barChart>
      <c:catAx>
        <c:axId val="433853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algn="ctr">
            <a:solidFill>
              <a:schemeClr val="tx1"/>
            </a:solidFill>
            <a:prstDash val="solid"/>
          </a:ln>
        </c:spPr>
        <c:crossAx val="41310976"/>
        <c:crosses val="min"/>
        <c:auto val="0"/>
        <c:lblAlgn val="ctr"/>
        <c:lblOffset val="100"/>
        <c:noMultiLvlLbl val="0"/>
      </c:catAx>
      <c:valAx>
        <c:axId val="41310976"/>
        <c:scaling>
          <c:orientation val="minMax"/>
          <c:max val="15063.48583362478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433853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8847408481333816E-2"/>
          <c:y val="3.9846743295019159E-2"/>
          <c:w val="0.96230518303733237"/>
          <c:h val="0.92030651340996172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1F497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E08-4E7E-91C6-075BE90C312C}"/>
              </c:ext>
            </c:extLst>
          </c:dPt>
          <c:dPt>
            <c:idx val="1"/>
            <c:invertIfNegative val="0"/>
            <c:bubble3D val="0"/>
            <c:spPr>
              <a:solidFill>
                <a:srgbClr val="1F497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E08-4E7E-91C6-075BE90C312C}"/>
              </c:ext>
            </c:extLst>
          </c:dPt>
          <c:dPt>
            <c:idx val="8"/>
            <c:invertIfNegative val="0"/>
            <c:bubble3D val="0"/>
            <c:spPr>
              <a:solidFill>
                <a:srgbClr val="C3CFE1"/>
              </a:solidFill>
              <a:ln w="9525" algn="ctr">
                <a:solidFill>
                  <a:srgbClr val="1C3A8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DE08-4E7E-91C6-075BE90C312C}"/>
              </c:ext>
            </c:extLst>
          </c:dPt>
          <c:val>
            <c:numRef>
              <c:f>Sheet1!$A$1:$I$1</c:f>
              <c:numCache>
                <c:formatCode>General</c:formatCode>
                <c:ptCount val="9"/>
                <c:pt idx="0">
                  <c:v>76797.16593256341</c:v>
                </c:pt>
                <c:pt idx="1">
                  <c:v>76173.1387239334</c:v>
                </c:pt>
                <c:pt idx="2">
                  <c:v>58081.281526733394</c:v>
                </c:pt>
                <c:pt idx="3">
                  <c:v>57632.3022819334</c:v>
                </c:pt>
                <c:pt idx="4">
                  <c:v>57298.574799933398</c:v>
                </c:pt>
                <c:pt idx="5">
                  <c:v>56434.661537933396</c:v>
                </c:pt>
                <c:pt idx="6">
                  <c:v>56434.661537933396</c:v>
                </c:pt>
                <c:pt idx="7">
                  <c:v>53939.177596043402</c:v>
                </c:pt>
                <c:pt idx="8">
                  <c:v>12020.912479843406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E08-4E7E-91C6-075BE90C312C}"/>
            </c:ext>
          </c:extLst>
        </c:ser>
        <c:ser>
          <c:idx val="1"/>
          <c:order val="1"/>
          <c:spPr>
            <a:solidFill>
              <a:srgbClr val="E46C0A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F184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A-ECC6-4816-B295-04CC01AF5CD2}"/>
              </c:ext>
            </c:extLst>
          </c:dPt>
          <c:dPt>
            <c:idx val="6"/>
            <c:invertIfNegative val="0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DE08-4E7E-91C6-075BE90C312C}"/>
              </c:ext>
            </c:extLst>
          </c:dPt>
          <c:dPt>
            <c:idx val="7"/>
            <c:invertIfNegative val="0"/>
            <c:bubble3D val="0"/>
            <c:spPr>
              <a:solidFill>
                <a:srgbClr val="F184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ECC6-4816-B295-04CC01AF5CD2}"/>
              </c:ext>
            </c:extLst>
          </c:dPt>
          <c:dPt>
            <c:idx val="8"/>
            <c:invertIfNegative val="0"/>
            <c:bubble3D val="0"/>
            <c:spPr>
              <a:solidFill>
                <a:srgbClr val="C3CFE1"/>
              </a:solidFill>
              <a:ln w="9525" algn="ctr">
                <a:solidFill>
                  <a:srgbClr val="1C3A8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A-DE08-4E7E-91C6-075BE90C312C}"/>
              </c:ext>
            </c:extLst>
          </c:dPt>
          <c:val>
            <c:numRef>
              <c:f>Sheet1!$A$2:$I$2</c:f>
              <c:numCache>
                <c:formatCode>General</c:formatCode>
                <c:ptCount val="9"/>
                <c:pt idx="2">
                  <c:v>18091.857197200006</c:v>
                </c:pt>
                <c:pt idx="3">
                  <c:v>448.97924479999347</c:v>
                </c:pt>
                <c:pt idx="4">
                  <c:v>333.72748200000206</c:v>
                </c:pt>
                <c:pt idx="5">
                  <c:v>863.91326200000185</c:v>
                </c:pt>
                <c:pt idx="6">
                  <c:v>712.87370711000403</c:v>
                </c:pt>
                <c:pt idx="7">
                  <c:v>3208.3576489999978</c:v>
                </c:pt>
                <c:pt idx="8">
                  <c:v>5619.7651112000021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DE08-4E7E-91C6-075BE90C312C}"/>
            </c:ext>
          </c:extLst>
        </c:ser>
        <c:ser>
          <c:idx val="2"/>
          <c:order val="2"/>
          <c:spPr>
            <a:solidFill>
              <a:srgbClr val="C3CFE1"/>
            </a:solidFill>
            <a:ln w="9525" algn="ctr">
              <a:solidFill>
                <a:srgbClr val="1C3A81"/>
              </a:solidFill>
              <a:prstDash val="solid"/>
            </a:ln>
          </c:spPr>
          <c:invertIfNegative val="0"/>
          <c:val>
            <c:numRef>
              <c:f>Sheet1!$A$3:$I$3</c:f>
              <c:numCache>
                <c:formatCode>General</c:formatCode>
                <c:ptCount val="9"/>
                <c:pt idx="8">
                  <c:v>1568.8879679999955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E08-4E7E-91C6-075BE90C312C}"/>
            </c:ext>
          </c:extLst>
        </c:ser>
        <c:ser>
          <c:idx val="3"/>
          <c:order val="3"/>
          <c:spPr>
            <a:solidFill>
              <a:srgbClr val="C3CFE1"/>
            </a:solidFill>
            <a:ln w="9525" algn="ctr">
              <a:solidFill>
                <a:srgbClr val="1C3A81"/>
              </a:solidFill>
              <a:prstDash val="solid"/>
            </a:ln>
          </c:spPr>
          <c:invertIfNegative val="0"/>
          <c:val>
            <c:numRef>
              <c:f>Sheet1!$A$4:$I$4</c:f>
              <c:numCache>
                <c:formatCode>General</c:formatCode>
                <c:ptCount val="9"/>
                <c:pt idx="8">
                  <c:v>19516.811738000004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DE08-4E7E-91C6-075BE90C312C}"/>
            </c:ext>
          </c:extLst>
        </c:ser>
        <c:ser>
          <c:idx val="4"/>
          <c:order val="4"/>
          <c:spPr>
            <a:solidFill>
              <a:srgbClr val="C3CFE1"/>
            </a:solidFill>
            <a:ln w="9525" algn="ctr">
              <a:solidFill>
                <a:srgbClr val="1C3A81"/>
              </a:solidFill>
              <a:prstDash val="solid"/>
            </a:ln>
          </c:spPr>
          <c:invertIfNegative val="0"/>
          <c:dLbls>
            <c:dLbl>
              <c:idx val="8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>
                      <a:solidFill>
                        <a:schemeClr val="tx1"/>
                      </a:solidFill>
                      <a:latin typeface="Arial" panose="020B0604020202020204" pitchFamily="34" charset="0"/>
                      <a:ea typeface="Tahoma"/>
                      <a:cs typeface="Arial" panose="020B0604020202020204" pitchFamily="34" charset="0"/>
                      <a:sym typeface="Tahoma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DE08-4E7E-91C6-075BE90C312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Sheet1!$A$5:$I$5</c:f>
              <c:numCache>
                <c:formatCode>General</c:formatCode>
                <c:ptCount val="9"/>
                <c:pt idx="8">
                  <c:v>5162.2279479999997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DE08-4E7E-91C6-075BE90C312C}"/>
            </c:ext>
          </c:extLst>
        </c:ser>
        <c:ser>
          <c:idx val="5"/>
          <c:order val="5"/>
          <c:spPr>
            <a:solidFill>
              <a:srgbClr val="C3CFE1"/>
            </a:solidFill>
            <a:ln w="9525" algn="ctr">
              <a:solidFill>
                <a:srgbClr val="1C3A81"/>
              </a:solidFill>
              <a:prstDash val="solid"/>
            </a:ln>
          </c:spPr>
          <c:invertIfNegative val="0"/>
          <c:val>
            <c:numRef>
              <c:f>Sheet1!$A$6:$I$6</c:f>
              <c:numCache>
                <c:formatCode>General</c:formatCode>
                <c:ptCount val="9"/>
                <c:pt idx="8">
                  <c:v>10050.572350999995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DE08-4E7E-91C6-075BE90C31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36676096"/>
        <c:axId val="41306368"/>
      </c:barChart>
      <c:catAx>
        <c:axId val="3667609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algn="ctr">
            <a:solidFill>
              <a:schemeClr val="tx1"/>
            </a:solidFill>
            <a:prstDash val="solid"/>
          </a:ln>
        </c:spPr>
        <c:crossAx val="41306368"/>
        <c:crosses val="min"/>
        <c:auto val="0"/>
        <c:lblAlgn val="ctr"/>
        <c:lblOffset val="100"/>
        <c:noMultiLvlLbl val="0"/>
      </c:catAx>
      <c:valAx>
        <c:axId val="41306368"/>
        <c:scaling>
          <c:orientation val="minMax"/>
          <c:max val="76797.1659325634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667609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8847408481333816E-2"/>
          <c:y val="4.3697478991596643E-2"/>
          <c:w val="0.96230518303733237"/>
          <c:h val="0.91260504201680681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1F497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153-4936-8A41-9038C0E74119}"/>
              </c:ext>
            </c:extLst>
          </c:dPt>
          <c:dPt>
            <c:idx val="1"/>
            <c:invertIfNegative val="0"/>
            <c:bubble3D val="0"/>
            <c:spPr>
              <a:solidFill>
                <a:srgbClr val="1F497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153-4936-8A41-9038C0E74119}"/>
              </c:ext>
            </c:extLst>
          </c:dPt>
          <c:val>
            <c:numRef>
              <c:f>Sheet1!$A$1:$G$1</c:f>
              <c:numCache>
                <c:formatCode>General</c:formatCode>
                <c:ptCount val="7"/>
                <c:pt idx="0">
                  <c:v>12500.214667856755</c:v>
                </c:pt>
                <c:pt idx="1">
                  <c:v>13934.454896954489</c:v>
                </c:pt>
                <c:pt idx="2">
                  <c:v>13303.079308710872</c:v>
                </c:pt>
                <c:pt idx="3">
                  <c:v>12877.388044138203</c:v>
                </c:pt>
                <c:pt idx="4">
                  <c:v>12863.3305441382</c:v>
                </c:pt>
                <c:pt idx="5">
                  <c:v>12729.552128305699</c:v>
                </c:pt>
                <c:pt idx="6">
                  <c:v>64.77384575328324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153-4936-8A41-9038C0E74119}"/>
            </c:ext>
          </c:extLst>
        </c:ser>
        <c:ser>
          <c:idx val="1"/>
          <c:order val="1"/>
          <c:spPr>
            <a:solidFill>
              <a:srgbClr val="E46C0A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F184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EA67-4886-B8A1-4E349CFED198}"/>
              </c:ext>
            </c:extLst>
          </c:dPt>
          <c:dPt>
            <c:idx val="3"/>
            <c:invertIfNegative val="0"/>
            <c:bubble3D val="0"/>
            <c:spPr>
              <a:solidFill>
                <a:srgbClr val="F184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EA67-4886-B8A1-4E349CFED198}"/>
              </c:ext>
            </c:extLst>
          </c:dPt>
          <c:dPt>
            <c:idx val="4"/>
            <c:invertIfNegative val="0"/>
            <c:bubble3D val="0"/>
            <c:spPr>
              <a:solidFill>
                <a:srgbClr val="F18400"/>
              </a:solidFill>
              <a:ln w="9525" algn="ctr">
                <a:solidFill>
                  <a:srgbClr val="E46C0A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6-0153-4936-8A41-9038C0E74119}"/>
              </c:ext>
            </c:extLst>
          </c:dPt>
          <c:dPt>
            <c:idx val="5"/>
            <c:invertIfNegative val="0"/>
            <c:bubble3D val="0"/>
            <c:spPr>
              <a:solidFill>
                <a:srgbClr val="F184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A-EA67-4886-B8A1-4E349CFED198}"/>
              </c:ext>
            </c:extLst>
          </c:dPt>
          <c:dPt>
            <c:idx val="6"/>
            <c:invertIfNegative val="0"/>
            <c:bubble3D val="0"/>
            <c:spPr>
              <a:solidFill>
                <a:srgbClr val="C3CFE1"/>
              </a:solidFill>
              <a:ln w="9525" algn="ctr">
                <a:solidFill>
                  <a:srgbClr val="1C3A8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8-0153-4936-8A41-9038C0E74119}"/>
              </c:ext>
            </c:extLst>
          </c:dPt>
          <c:val>
            <c:numRef>
              <c:f>Sheet1!$A$2:$G$2</c:f>
              <c:numCache>
                <c:formatCode>General</c:formatCode>
                <c:ptCount val="7"/>
                <c:pt idx="2">
                  <c:v>631.37558824361622</c:v>
                </c:pt>
                <c:pt idx="3">
                  <c:v>425.69126457266975</c:v>
                </c:pt>
                <c:pt idx="4">
                  <c:v>14.057500000002619</c:v>
                </c:pt>
                <c:pt idx="5">
                  <c:v>133.7784158325012</c:v>
                </c:pt>
                <c:pt idx="6">
                  <c:v>2720.4438183213497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0153-4936-8A41-9038C0E74119}"/>
            </c:ext>
          </c:extLst>
        </c:ser>
        <c:ser>
          <c:idx val="2"/>
          <c:order val="2"/>
          <c:spPr>
            <a:solidFill>
              <a:srgbClr val="C3CFE1"/>
            </a:solidFill>
            <a:ln w="9525" algn="ctr">
              <a:solidFill>
                <a:srgbClr val="1C3A81"/>
              </a:solidFill>
              <a:prstDash val="solid"/>
            </a:ln>
          </c:spPr>
          <c:invertIfNegative val="0"/>
          <c:val>
            <c:numRef>
              <c:f>Sheet1!$A$3:$G$3</c:f>
              <c:numCache>
                <c:formatCode>General</c:formatCode>
                <c:ptCount val="7"/>
                <c:pt idx="6">
                  <c:v>1706.6935275317846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153-4936-8A41-9038C0E74119}"/>
            </c:ext>
          </c:extLst>
        </c:ser>
        <c:ser>
          <c:idx val="3"/>
          <c:order val="3"/>
          <c:spPr>
            <a:solidFill>
              <a:srgbClr val="C3CFE1"/>
            </a:solidFill>
            <a:ln w="9525" algn="ctr">
              <a:solidFill>
                <a:srgbClr val="1C3A81"/>
              </a:solidFill>
              <a:prstDash val="solid"/>
            </a:ln>
          </c:spPr>
          <c:invertIfNegative val="0"/>
          <c:val>
            <c:numRef>
              <c:f>Sheet1!$A$4:$G$4</c:f>
              <c:numCache>
                <c:formatCode>General</c:formatCode>
                <c:ptCount val="7"/>
                <c:pt idx="6">
                  <c:v>612.59249999999884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0153-4936-8A41-9038C0E74119}"/>
            </c:ext>
          </c:extLst>
        </c:ser>
        <c:ser>
          <c:idx val="4"/>
          <c:order val="4"/>
          <c:spPr>
            <a:solidFill>
              <a:srgbClr val="C3CFE1"/>
            </a:solidFill>
            <a:ln w="9525" algn="ctr">
              <a:solidFill>
                <a:srgbClr val="1C3A81"/>
              </a:solidFill>
              <a:prstDash val="solid"/>
            </a:ln>
          </c:spPr>
          <c:invertIfNegative val="0"/>
          <c:val>
            <c:numRef>
              <c:f>Sheet1!$A$5:$G$5</c:f>
              <c:numCache>
                <c:formatCode>General</c:formatCode>
                <c:ptCount val="7"/>
                <c:pt idx="6">
                  <c:v>1706.693527531781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153-4936-8A41-9038C0E74119}"/>
            </c:ext>
          </c:extLst>
        </c:ser>
        <c:ser>
          <c:idx val="5"/>
          <c:order val="5"/>
          <c:spPr>
            <a:solidFill>
              <a:srgbClr val="C3CFE1"/>
            </a:solidFill>
            <a:ln w="9525" algn="ctr">
              <a:solidFill>
                <a:srgbClr val="1C3A81"/>
              </a:solidFill>
              <a:prstDash val="solid"/>
            </a:ln>
          </c:spPr>
          <c:invertIfNegative val="0"/>
          <c:dLbls>
            <c:dLbl>
              <c:idx val="6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>
                      <a:solidFill>
                        <a:schemeClr val="tx1"/>
                      </a:solidFill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0153-4936-8A41-9038C0E7411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Sheet1!$A$6:$G$6</c:f>
              <c:numCache>
                <c:formatCode>General</c:formatCode>
                <c:ptCount val="7"/>
                <c:pt idx="6">
                  <c:v>4081.666666667501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153-4936-8A41-9038C0E74119}"/>
            </c:ext>
          </c:extLst>
        </c:ser>
        <c:ser>
          <c:idx val="6"/>
          <c:order val="6"/>
          <c:spPr>
            <a:solidFill>
              <a:srgbClr val="C3CFE1"/>
            </a:solidFill>
            <a:ln w="9525" algn="ctr">
              <a:solidFill>
                <a:srgbClr val="1C3A81"/>
              </a:solidFill>
              <a:prstDash val="solid"/>
            </a:ln>
          </c:spPr>
          <c:invertIfNegative val="0"/>
          <c:dLbls>
            <c:dLbl>
              <c:idx val="6"/>
              <c:layout>
                <c:manualLayout>
                  <c:x val="0"/>
                  <c:y val="-8.4033613445378156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>
                      <a:solidFill>
                        <a:schemeClr val="tx1"/>
                      </a:solidFill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0153-4936-8A41-9038C0E7411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Sheet1!$A$7:$G$7</c:f>
              <c:numCache>
                <c:formatCode>General</c:formatCode>
                <c:ptCount val="7"/>
                <c:pt idx="6">
                  <c:v>1836.6882425000003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153-4936-8A41-9038C0E741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6662272"/>
        <c:axId val="79173824"/>
      </c:barChart>
      <c:catAx>
        <c:axId val="366622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algn="ctr">
            <a:solidFill>
              <a:schemeClr val="tx1"/>
            </a:solidFill>
            <a:prstDash val="solid"/>
          </a:ln>
        </c:spPr>
        <c:crossAx val="79173824"/>
        <c:crosses val="min"/>
        <c:auto val="0"/>
        <c:lblAlgn val="ctr"/>
        <c:lblOffset val="100"/>
        <c:noMultiLvlLbl val="0"/>
      </c:catAx>
      <c:valAx>
        <c:axId val="79173824"/>
        <c:scaling>
          <c:orientation val="minMax"/>
          <c:max val="13934.45489695448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666227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8847408481333816E-2"/>
          <c:y val="4.3697478991596643E-2"/>
          <c:w val="0.96230518303733237"/>
          <c:h val="0.91260504201680681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1F497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FF7-469B-AA6C-2CBC6658BD0E}"/>
              </c:ext>
            </c:extLst>
          </c:dPt>
          <c:dPt>
            <c:idx val="1"/>
            <c:invertIfNegative val="0"/>
            <c:bubble3D val="0"/>
            <c:spPr>
              <a:solidFill>
                <a:srgbClr val="1F497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6FF7-469B-AA6C-2CBC6658BD0E}"/>
              </c:ext>
            </c:extLst>
          </c:dPt>
          <c:dPt>
            <c:idx val="6"/>
            <c:invertIfNegative val="0"/>
            <c:bubble3D val="0"/>
            <c:spPr>
              <a:solidFill>
                <a:srgbClr val="C3CFE1"/>
              </a:solidFill>
              <a:ln w="9525" algn="ctr">
                <a:solidFill>
                  <a:srgbClr val="1C3A8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6FF7-469B-AA6C-2CBC6658BD0E}"/>
              </c:ext>
            </c:extLst>
          </c:dPt>
          <c:dLbls>
            <c:dLbl>
              <c:idx val="6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>
                      <a:solidFill>
                        <a:schemeClr val="tx1"/>
                      </a:solidFill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6FF7-469B-AA6C-2CBC6658BD0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Sheet1!$A$1:$G$1</c:f>
              <c:numCache>
                <c:formatCode>General</c:formatCode>
                <c:ptCount val="7"/>
                <c:pt idx="0">
                  <c:v>21610.934685705764</c:v>
                </c:pt>
                <c:pt idx="1">
                  <c:v>21603.350373225938</c:v>
                </c:pt>
                <c:pt idx="2">
                  <c:v>21140.269355076151</c:v>
                </c:pt>
                <c:pt idx="3">
                  <c:v>20776.452646798152</c:v>
                </c:pt>
                <c:pt idx="4">
                  <c:v>20547.120053791285</c:v>
                </c:pt>
                <c:pt idx="5">
                  <c:v>20547.120053791285</c:v>
                </c:pt>
                <c:pt idx="6">
                  <c:v>3533.5510481682445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FF7-469B-AA6C-2CBC6658BD0E}"/>
            </c:ext>
          </c:extLst>
        </c:ser>
        <c:ser>
          <c:idx val="1"/>
          <c:order val="1"/>
          <c:spPr>
            <a:solidFill>
              <a:srgbClr val="E46C0A"/>
            </a:solidFill>
            <a:ln>
              <a:noFill/>
            </a:ln>
          </c:spPr>
          <c:invertIfNegative val="0"/>
          <c:dPt>
            <c:idx val="5"/>
            <c:invertIfNegative val="0"/>
            <c:bubble3D val="0"/>
            <c:spPr>
              <a:solidFill>
                <a:srgbClr val="6F8DB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6FF7-469B-AA6C-2CBC6658BD0E}"/>
              </c:ext>
            </c:extLst>
          </c:dPt>
          <c:dPt>
            <c:idx val="6"/>
            <c:invertIfNegative val="0"/>
            <c:bubble3D val="0"/>
            <c:spPr>
              <a:solidFill>
                <a:srgbClr val="C3CFE1"/>
              </a:solidFill>
              <a:ln w="9525" algn="ctr">
                <a:solidFill>
                  <a:srgbClr val="1C3A8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A-6FF7-469B-AA6C-2CBC6658BD0E}"/>
              </c:ext>
            </c:extLst>
          </c:dPt>
          <c:dLbls>
            <c:dLbl>
              <c:idx val="6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>
                      <a:solidFill>
                        <a:schemeClr val="tx1"/>
                      </a:solidFill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6FF7-469B-AA6C-2CBC6658BD0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Sheet1!$A$2:$G$2</c:f>
              <c:numCache>
                <c:formatCode>General</c:formatCode>
                <c:ptCount val="7"/>
                <c:pt idx="2">
                  <c:v>463.08101814978727</c:v>
                </c:pt>
                <c:pt idx="3">
                  <c:v>363.81670827799826</c:v>
                </c:pt>
                <c:pt idx="4">
                  <c:v>229.33259300686768</c:v>
                </c:pt>
                <c:pt idx="5">
                  <c:v>215.1181493841359</c:v>
                </c:pt>
                <c:pt idx="6">
                  <c:v>9554.8051704407953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6FF7-469B-AA6C-2CBC6658BD0E}"/>
            </c:ext>
          </c:extLst>
        </c:ser>
        <c:ser>
          <c:idx val="2"/>
          <c:order val="2"/>
          <c:spPr>
            <a:solidFill>
              <a:srgbClr val="C3CFE1"/>
            </a:solidFill>
            <a:ln w="9525" algn="ctr">
              <a:solidFill>
                <a:srgbClr val="1C3A81"/>
              </a:solidFill>
              <a:prstDash val="solid"/>
            </a:ln>
          </c:spPr>
          <c:invertIfNegative val="0"/>
          <c:dLbls>
            <c:dLbl>
              <c:idx val="6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>
                      <a:solidFill>
                        <a:schemeClr val="tx1"/>
                      </a:solidFill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6FF7-469B-AA6C-2CBC6658BD0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Sheet1!$A$3:$G$3</c:f>
              <c:numCache>
                <c:formatCode>General</c:formatCode>
                <c:ptCount val="7"/>
                <c:pt idx="6">
                  <c:v>3219.7281698219995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6FF7-469B-AA6C-2CBC6658BD0E}"/>
            </c:ext>
          </c:extLst>
        </c:ser>
        <c:ser>
          <c:idx val="3"/>
          <c:order val="3"/>
          <c:spPr>
            <a:solidFill>
              <a:srgbClr val="C3CFE1"/>
            </a:solidFill>
            <a:ln w="9525" algn="ctr">
              <a:solidFill>
                <a:srgbClr val="1C3A81"/>
              </a:solidFill>
              <a:prstDash val="solid"/>
            </a:ln>
          </c:spPr>
          <c:invertIfNegative val="0"/>
          <c:val>
            <c:numRef>
              <c:f>Sheet1!$A$4:$G$4</c:f>
              <c:numCache>
                <c:formatCode>General</c:formatCode>
                <c:ptCount val="7"/>
                <c:pt idx="6">
                  <c:v>4396.5101773287843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FF7-469B-AA6C-2CBC6658BD0E}"/>
            </c:ext>
          </c:extLst>
        </c:ser>
        <c:ser>
          <c:idx val="4"/>
          <c:order val="4"/>
          <c:spPr>
            <a:solidFill>
              <a:srgbClr val="C3CFE1"/>
            </a:solidFill>
            <a:ln w="9525" algn="ctr">
              <a:solidFill>
                <a:srgbClr val="1C3A81"/>
              </a:solidFill>
              <a:prstDash val="solid"/>
            </a:ln>
          </c:spPr>
          <c:invertIfNegative val="0"/>
          <c:val>
            <c:numRef>
              <c:f>Sheet1!$A$5:$G$5</c:f>
              <c:numCache>
                <c:formatCode>General</c:formatCode>
                <c:ptCount val="7"/>
                <c:pt idx="6">
                  <c:v>57.643637415596459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6FF7-469B-AA6C-2CBC6658BD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6660224"/>
        <c:axId val="80261056"/>
      </c:barChart>
      <c:catAx>
        <c:axId val="3666022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algn="ctr">
            <a:solidFill>
              <a:schemeClr val="tx1"/>
            </a:solidFill>
            <a:prstDash val="solid"/>
          </a:ln>
        </c:spPr>
        <c:crossAx val="80261056"/>
        <c:crosses val="min"/>
        <c:auto val="0"/>
        <c:lblAlgn val="ctr"/>
        <c:lblOffset val="100"/>
        <c:noMultiLvlLbl val="0"/>
      </c:catAx>
      <c:valAx>
        <c:axId val="80261056"/>
        <c:scaling>
          <c:orientation val="minMax"/>
          <c:max val="21610.934685705764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666022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870503597122302E-2"/>
          <c:y val="3.7845705967976713E-2"/>
          <c:w val="0.96258992805755395"/>
          <c:h val="0.92430858806404659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1F497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C8F-41A9-93C9-42B3439D9FDB}"/>
              </c:ext>
            </c:extLst>
          </c:dPt>
          <c:dPt>
            <c:idx val="1"/>
            <c:invertIfNegative val="0"/>
            <c:bubble3D val="0"/>
            <c:spPr>
              <a:solidFill>
                <a:srgbClr val="1F497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C8F-41A9-93C9-42B3439D9FDB}"/>
              </c:ext>
            </c:extLst>
          </c:dPt>
          <c:dPt>
            <c:idx val="6"/>
            <c:invertIfNegative val="0"/>
            <c:bubble3D val="0"/>
            <c:spPr>
              <a:solidFill>
                <a:srgbClr val="C3CFE1"/>
              </a:solidFill>
              <a:ln w="9525" algn="ctr">
                <a:solidFill>
                  <a:srgbClr val="1C3A8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AC8F-41A9-93C9-42B3439D9FDB}"/>
              </c:ext>
            </c:extLst>
          </c:dPt>
          <c:val>
            <c:numRef>
              <c:f>Sheet1!$A$1:$G$1</c:f>
              <c:numCache>
                <c:formatCode>General</c:formatCode>
                <c:ptCount val="7"/>
                <c:pt idx="0">
                  <c:v>10531.410165985535</c:v>
                </c:pt>
                <c:pt idx="1">
                  <c:v>84030.419228629544</c:v>
                </c:pt>
                <c:pt idx="2">
                  <c:v>79754.484842175429</c:v>
                </c:pt>
                <c:pt idx="3">
                  <c:v>76595.234900105992</c:v>
                </c:pt>
                <c:pt idx="4">
                  <c:v>71922.93485980187</c:v>
                </c:pt>
                <c:pt idx="5">
                  <c:v>69025.001830501948</c:v>
                </c:pt>
                <c:pt idx="6">
                  <c:v>45878.100393762623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C8F-41A9-93C9-42B3439D9FDB}"/>
            </c:ext>
          </c:extLst>
        </c:ser>
        <c:ser>
          <c:idx val="1"/>
          <c:order val="1"/>
          <c:spPr>
            <a:solidFill>
              <a:srgbClr val="E46C0A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1F497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AC8F-41A9-93C9-42B3439D9FDB}"/>
              </c:ext>
            </c:extLst>
          </c:dPt>
          <c:dPt>
            <c:idx val="1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A-AC8F-41A9-93C9-42B3439D9FDB}"/>
              </c:ext>
            </c:extLst>
          </c:dPt>
          <c:dPt>
            <c:idx val="2"/>
            <c:invertIfNegative val="0"/>
            <c:bubble3D val="0"/>
            <c:spPr>
              <a:solidFill>
                <a:srgbClr val="F184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2-3379-45B6-928E-B39DEB2976F8}"/>
              </c:ext>
            </c:extLst>
          </c:dPt>
          <c:dPt>
            <c:idx val="3"/>
            <c:invertIfNegative val="0"/>
            <c:bubble3D val="0"/>
            <c:spPr>
              <a:solidFill>
                <a:srgbClr val="F184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1-3379-45B6-928E-B39DEB2976F8}"/>
              </c:ext>
            </c:extLst>
          </c:dPt>
          <c:dPt>
            <c:idx val="4"/>
            <c:invertIfNegative val="0"/>
            <c:bubble3D val="0"/>
            <c:spPr>
              <a:solidFill>
                <a:srgbClr val="F184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0-3379-45B6-928E-B39DEB2976F8}"/>
              </c:ext>
            </c:extLst>
          </c:dPt>
          <c:dPt>
            <c:idx val="5"/>
            <c:invertIfNegative val="0"/>
            <c:bubble3D val="0"/>
            <c:spPr>
              <a:solidFill>
                <a:srgbClr val="F18400"/>
              </a:solidFill>
              <a:ln w="3175" algn="ctr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C-AC8F-41A9-93C9-42B3439D9FDB}"/>
              </c:ext>
            </c:extLst>
          </c:dPt>
          <c:dPt>
            <c:idx val="6"/>
            <c:invertIfNegative val="0"/>
            <c:bubble3D val="0"/>
            <c:spPr>
              <a:solidFill>
                <a:srgbClr val="C3CFE1"/>
              </a:solidFill>
              <a:ln w="9525" algn="ctr">
                <a:solidFill>
                  <a:srgbClr val="1C3A8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E-AC8F-41A9-93C9-42B3439D9FDB}"/>
              </c:ext>
            </c:extLst>
          </c:dPt>
          <c:val>
            <c:numRef>
              <c:f>Sheet1!$A$2:$G$2</c:f>
              <c:numCache>
                <c:formatCode>General</c:formatCode>
                <c:ptCount val="7"/>
                <c:pt idx="0">
                  <c:v>86851.856969509929</c:v>
                </c:pt>
                <c:pt idx="1">
                  <c:v>-10531.410165985535</c:v>
                </c:pt>
                <c:pt idx="2">
                  <c:v>4275.9343864541152</c:v>
                </c:pt>
                <c:pt idx="3">
                  <c:v>3159.2499420694367</c:v>
                </c:pt>
                <c:pt idx="4">
                  <c:v>4672.3000403041224</c:v>
                </c:pt>
                <c:pt idx="5">
                  <c:v>2897.9330292999221</c:v>
                </c:pt>
                <c:pt idx="6">
                  <c:v>11300.744712246029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AC8F-41A9-93C9-42B3439D9FDB}"/>
            </c:ext>
          </c:extLst>
        </c:ser>
        <c:ser>
          <c:idx val="2"/>
          <c:order val="2"/>
          <c:spPr>
            <a:solidFill>
              <a:srgbClr val="6F8DB9"/>
            </a:solidFill>
            <a:ln w="9525" algn="ctr">
              <a:solidFill>
                <a:schemeClr val="tx1"/>
              </a:solidFill>
              <a:prstDash val="solid"/>
            </a:ln>
          </c:spPr>
          <c:invertIfNegative val="0"/>
          <c:dPt>
            <c:idx val="6"/>
            <c:invertIfNegative val="0"/>
            <c:bubble3D val="0"/>
            <c:spPr>
              <a:solidFill>
                <a:srgbClr val="C3CFE1"/>
              </a:solidFill>
              <a:ln w="9525" algn="ctr">
                <a:solidFill>
                  <a:srgbClr val="1C3A8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1-AC8F-41A9-93C9-42B3439D9FDB}"/>
              </c:ext>
            </c:extLst>
          </c:dPt>
          <c:val>
            <c:numRef>
              <c:f>Sheet1!$A$3:$G$3</c:f>
              <c:numCache>
                <c:formatCode>General</c:formatCode>
                <c:ptCount val="7"/>
                <c:pt idx="5">
                  <c:v>106.20254470220243</c:v>
                </c:pt>
                <c:pt idx="6">
                  <c:v>7195.9163266386749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AC8F-41A9-93C9-42B3439D9FDB}"/>
            </c:ext>
          </c:extLst>
        </c:ser>
        <c:ser>
          <c:idx val="3"/>
          <c:order val="3"/>
          <c:spPr>
            <a:solidFill>
              <a:srgbClr val="C3CFE1"/>
            </a:solidFill>
            <a:ln w="9525" algn="ctr">
              <a:solidFill>
                <a:srgbClr val="1C3A81"/>
              </a:solidFill>
              <a:prstDash val="solid"/>
            </a:ln>
          </c:spPr>
          <c:invertIfNegative val="0"/>
          <c:val>
            <c:numRef>
              <c:f>Sheet1!$A$4:$G$4</c:f>
              <c:numCache>
                <c:formatCode>General</c:formatCode>
                <c:ptCount val="7"/>
                <c:pt idx="6">
                  <c:v>3106.7661277880252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AC8F-41A9-93C9-42B3439D9FDB}"/>
            </c:ext>
          </c:extLst>
        </c:ser>
        <c:ser>
          <c:idx val="4"/>
          <c:order val="4"/>
          <c:spPr>
            <a:solidFill>
              <a:srgbClr val="C3CFE1"/>
            </a:solidFill>
            <a:ln w="9525" algn="ctr">
              <a:solidFill>
                <a:srgbClr val="1C3A81"/>
              </a:solidFill>
              <a:prstDash val="solid"/>
            </a:ln>
          </c:spPr>
          <c:invertIfNegative val="0"/>
          <c:val>
            <c:numRef>
              <c:f>Sheet1!$A$5:$G$5</c:f>
              <c:numCache>
                <c:formatCode>General</c:formatCode>
                <c:ptCount val="7"/>
                <c:pt idx="6">
                  <c:v>1649.6768147688272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AC8F-41A9-93C9-42B3439D9FDB}"/>
            </c:ext>
          </c:extLst>
        </c:ser>
        <c:ser>
          <c:idx val="5"/>
          <c:order val="5"/>
          <c:spPr>
            <a:solidFill>
              <a:srgbClr val="FFFFFF"/>
            </a:solidFill>
            <a:ln w="9525" algn="ctr">
              <a:solidFill>
                <a:srgbClr val="1C3A81"/>
              </a:solidFill>
              <a:prstDash val="solid"/>
            </a:ln>
          </c:spPr>
          <c:invertIfNegative val="0"/>
          <c:val>
            <c:numRef>
              <c:f>Sheet1!$A$6:$G$6</c:f>
              <c:numCache>
                <c:formatCode>General</c:formatCode>
                <c:ptCount val="7"/>
                <c:pt idx="6">
                  <c:v>-7943.7742183475375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AC8F-41A9-93C9-42B3439D9FDB}"/>
            </c:ext>
          </c:extLst>
        </c:ser>
        <c:ser>
          <c:idx val="6"/>
          <c:order val="6"/>
          <c:spPr>
            <a:solidFill>
              <a:srgbClr val="FFFFFF"/>
            </a:solidFill>
            <a:ln w="9525" algn="ctr">
              <a:solidFill>
                <a:srgbClr val="1C3A81"/>
              </a:solidFill>
              <a:prstDash val="solid"/>
            </a:ln>
          </c:spPr>
          <c:invertIfNegative val="0"/>
          <c:val>
            <c:numRef>
              <c:f>Sheet1!$A$7:$G$7</c:f>
              <c:numCache>
                <c:formatCode>General</c:formatCode>
                <c:ptCount val="7"/>
                <c:pt idx="6">
                  <c:v>-2587.6359476379976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AC8F-41A9-93C9-42B3439D9F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9295488"/>
        <c:axId val="38147136"/>
      </c:barChart>
      <c:catAx>
        <c:axId val="3929548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algn="ctr">
            <a:solidFill>
              <a:schemeClr val="tx1"/>
            </a:solidFill>
            <a:prstDash val="solid"/>
          </a:ln>
        </c:spPr>
        <c:crossAx val="38147136"/>
        <c:crossesAt val="0"/>
        <c:auto val="0"/>
        <c:lblAlgn val="ctr"/>
        <c:lblOffset val="100"/>
        <c:noMultiLvlLbl val="0"/>
      </c:catAx>
      <c:valAx>
        <c:axId val="38147136"/>
        <c:scaling>
          <c:orientation val="minMax"/>
          <c:max val="97383.267135495465"/>
          <c:min val="-10531.410165985564"/>
        </c:scaling>
        <c:delete val="1"/>
        <c:axPos val="l"/>
        <c:numFmt formatCode="General" sourceLinked="1"/>
        <c:majorTickMark val="out"/>
        <c:minorTickMark val="none"/>
        <c:tickLblPos val="nextTo"/>
        <c:crossAx val="3929548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8030513176144243E-2"/>
          <c:y val="3.889304412864622E-2"/>
          <c:w val="0.96393897364771153"/>
          <c:h val="0.9222139117427075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1F497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A08-484A-A71C-2686C9C006CB}"/>
              </c:ext>
            </c:extLst>
          </c:dPt>
          <c:dPt>
            <c:idx val="1"/>
            <c:invertIfNegative val="0"/>
            <c:bubble3D val="0"/>
            <c:spPr>
              <a:solidFill>
                <a:srgbClr val="1F497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CA08-484A-A71C-2686C9C006CB}"/>
              </c:ext>
            </c:extLst>
          </c:dPt>
          <c:dPt>
            <c:idx val="6"/>
            <c:invertIfNegative val="0"/>
            <c:bubble3D val="0"/>
            <c:spPr>
              <a:solidFill>
                <a:srgbClr val="C3CFE1"/>
              </a:solidFill>
              <a:ln w="9525" algn="ctr">
                <a:solidFill>
                  <a:srgbClr val="1C3A8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CA08-484A-A71C-2686C9C006CB}"/>
              </c:ext>
            </c:extLst>
          </c:dPt>
          <c:val>
            <c:numRef>
              <c:f>Sheet1!$A$1:$G$1</c:f>
              <c:numCache>
                <c:formatCode>General</c:formatCode>
                <c:ptCount val="7"/>
                <c:pt idx="0">
                  <c:v>304113.81928260479</c:v>
                </c:pt>
                <c:pt idx="1">
                  <c:v>375460.51742373261</c:v>
                </c:pt>
                <c:pt idx="2">
                  <c:v>340989.34829813865</c:v>
                </c:pt>
                <c:pt idx="3">
                  <c:v>285804.38051682286</c:v>
                </c:pt>
                <c:pt idx="4">
                  <c:v>272475.45271367457</c:v>
                </c:pt>
                <c:pt idx="5">
                  <c:v>260542.7946874089</c:v>
                </c:pt>
                <c:pt idx="6">
                  <c:v>64687.363530615752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A08-484A-A71C-2686C9C006CB}"/>
            </c:ext>
          </c:extLst>
        </c:ser>
        <c:ser>
          <c:idx val="1"/>
          <c:order val="1"/>
          <c:spPr>
            <a:solidFill>
              <a:srgbClr val="E46C0A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CA08-484A-A71C-2686C9C006CB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A-CA08-484A-A71C-2686C9C006CB}"/>
              </c:ext>
            </c:extLst>
          </c:dPt>
          <c:dPt>
            <c:idx val="2"/>
            <c:invertIfNegative val="0"/>
            <c:bubble3D val="0"/>
            <c:spPr>
              <a:solidFill>
                <a:srgbClr val="F184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C-6EA7-499B-AAEC-F27604A62834}"/>
              </c:ext>
            </c:extLst>
          </c:dPt>
          <c:dPt>
            <c:idx val="3"/>
            <c:invertIfNegative val="0"/>
            <c:bubble3D val="0"/>
            <c:spPr>
              <a:solidFill>
                <a:srgbClr val="F184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6EA7-499B-AAEC-F27604A62834}"/>
              </c:ext>
            </c:extLst>
          </c:dPt>
          <c:dPt>
            <c:idx val="4"/>
            <c:invertIfNegative val="0"/>
            <c:bubble3D val="0"/>
            <c:spPr>
              <a:solidFill>
                <a:srgbClr val="F184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E-6EA7-499B-AAEC-F27604A62834}"/>
              </c:ext>
            </c:extLst>
          </c:dPt>
          <c:dPt>
            <c:idx val="5"/>
            <c:invertIfNegative val="0"/>
            <c:bubble3D val="0"/>
            <c:spPr>
              <a:solidFill>
                <a:srgbClr val="F184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6EA7-499B-AAEC-F27604A62834}"/>
              </c:ext>
            </c:extLst>
          </c:dPt>
          <c:dPt>
            <c:idx val="6"/>
            <c:invertIfNegative val="0"/>
            <c:bubble3D val="0"/>
            <c:spPr>
              <a:solidFill>
                <a:srgbClr val="C3CFE1"/>
              </a:solidFill>
              <a:ln w="9525" algn="ctr">
                <a:solidFill>
                  <a:srgbClr val="1C3A8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C-CA08-484A-A71C-2686C9C006CB}"/>
              </c:ext>
            </c:extLst>
          </c:dPt>
          <c:val>
            <c:numRef>
              <c:f>Sheet1!$A$2:$G$2</c:f>
              <c:numCache>
                <c:formatCode>General</c:formatCode>
                <c:ptCount val="7"/>
                <c:pt idx="0">
                  <c:v>-46547.520847427193</c:v>
                </c:pt>
                <c:pt idx="1">
                  <c:v>-46547.520847427193</c:v>
                </c:pt>
                <c:pt idx="2">
                  <c:v>34471.169125593966</c:v>
                </c:pt>
                <c:pt idx="3">
                  <c:v>55184.96778131579</c:v>
                </c:pt>
                <c:pt idx="4">
                  <c:v>13328.927803148283</c:v>
                </c:pt>
                <c:pt idx="5">
                  <c:v>11932.658026265679</c:v>
                </c:pt>
                <c:pt idx="6">
                  <c:v>86592.079223522684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CA08-484A-A71C-2686C9C006CB}"/>
            </c:ext>
          </c:extLst>
        </c:ser>
        <c:ser>
          <c:idx val="2"/>
          <c:order val="2"/>
          <c:spPr>
            <a:solidFill>
              <a:srgbClr val="C3CFE1"/>
            </a:solidFill>
            <a:ln w="9525" algn="ctr">
              <a:solidFill>
                <a:srgbClr val="1C3A81"/>
              </a:solidFill>
              <a:prstDash val="solid"/>
            </a:ln>
          </c:spPr>
          <c:invertIfNegative val="0"/>
          <c:val>
            <c:numRef>
              <c:f>Sheet1!$A$3:$G$3</c:f>
              <c:numCache>
                <c:formatCode>General</c:formatCode>
                <c:ptCount val="7"/>
                <c:pt idx="6">
                  <c:v>54865.651941681281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A08-484A-A71C-2686C9C006CB}"/>
            </c:ext>
          </c:extLst>
        </c:ser>
        <c:ser>
          <c:idx val="3"/>
          <c:order val="3"/>
          <c:spPr>
            <a:solidFill>
              <a:srgbClr val="C3CFE1"/>
            </a:solidFill>
            <a:ln w="9525" algn="ctr">
              <a:solidFill>
                <a:srgbClr val="1C3A81"/>
              </a:solidFill>
              <a:prstDash val="solid"/>
            </a:ln>
          </c:spPr>
          <c:invertIfNegative val="0"/>
          <c:val>
            <c:numRef>
              <c:f>Sheet1!$A$4:$G$4</c:f>
              <c:numCache>
                <c:formatCode>General</c:formatCode>
                <c:ptCount val="7"/>
                <c:pt idx="6">
                  <c:v>22903.252334663179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CA08-484A-A71C-2686C9C006CB}"/>
            </c:ext>
          </c:extLst>
        </c:ser>
        <c:ser>
          <c:idx val="4"/>
          <c:order val="4"/>
          <c:spPr>
            <a:solidFill>
              <a:srgbClr val="C3CFE1"/>
            </a:solidFill>
            <a:ln w="9525" algn="ctr">
              <a:solidFill>
                <a:srgbClr val="1C3A81"/>
              </a:solidFill>
              <a:prstDash val="solid"/>
            </a:ln>
          </c:spPr>
          <c:invertIfNegative val="0"/>
          <c:val>
            <c:numRef>
              <c:f>Sheet1!$A$5:$G$5</c:f>
              <c:numCache>
                <c:formatCode>General</c:formatCode>
                <c:ptCount val="7"/>
                <c:pt idx="6">
                  <c:v>18730.830952970078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CA08-484A-A71C-2686C9C006CB}"/>
            </c:ext>
          </c:extLst>
        </c:ser>
        <c:ser>
          <c:idx val="5"/>
          <c:order val="5"/>
          <c:spPr>
            <a:solidFill>
              <a:srgbClr val="C3CFE1"/>
            </a:solidFill>
            <a:ln w="9525" algn="ctr">
              <a:solidFill>
                <a:srgbClr val="1C3A81"/>
              </a:solidFill>
              <a:prstDash val="solid"/>
            </a:ln>
          </c:spPr>
          <c:invertIfNegative val="0"/>
          <c:val>
            <c:numRef>
              <c:f>Sheet1!$A$6:$G$6</c:f>
              <c:numCache>
                <c:formatCode>General</c:formatCode>
                <c:ptCount val="7"/>
                <c:pt idx="6">
                  <c:v>12763.616703955922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CA08-484A-A71C-2686C9C006CB}"/>
            </c:ext>
          </c:extLst>
        </c:ser>
        <c:ser>
          <c:idx val="6"/>
          <c:order val="6"/>
          <c:spPr>
            <a:noFill/>
            <a:ln w="9525" algn="ctr">
              <a:solidFill>
                <a:srgbClr val="1C3A81"/>
              </a:solidFill>
              <a:prstDash val="solid"/>
            </a:ln>
          </c:spPr>
          <c:invertIfNegative val="0"/>
          <c:val>
            <c:numRef>
              <c:f>Sheet1!$A$7:$G$7</c:f>
              <c:numCache>
                <c:formatCode>General</c:formatCode>
                <c:ptCount val="7"/>
                <c:pt idx="6">
                  <c:v>-46547.520847427193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CA08-484A-A71C-2686C9C006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9293952"/>
        <c:axId val="80258752"/>
      </c:barChart>
      <c:catAx>
        <c:axId val="3929395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algn="ctr">
            <a:solidFill>
              <a:schemeClr val="tx1"/>
            </a:solidFill>
            <a:prstDash val="solid"/>
          </a:ln>
        </c:spPr>
        <c:crossAx val="80258752"/>
        <c:crossesAt val="0"/>
        <c:auto val="0"/>
        <c:lblAlgn val="ctr"/>
        <c:lblOffset val="100"/>
        <c:noMultiLvlLbl val="0"/>
      </c:catAx>
      <c:valAx>
        <c:axId val="80258752"/>
        <c:scaling>
          <c:orientation val="minMax"/>
          <c:max val="375460.51742373261"/>
          <c:min val="-46547.520847427193"/>
        </c:scaling>
        <c:delete val="1"/>
        <c:axPos val="l"/>
        <c:numFmt formatCode="General" sourceLinked="1"/>
        <c:majorTickMark val="out"/>
        <c:minorTickMark val="none"/>
        <c:tickLblPos val="nextTo"/>
        <c:crossAx val="3929395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870503597122302E-2"/>
          <c:y val="3.0552291421856639E-2"/>
          <c:w val="0.96258992805755395"/>
          <c:h val="0.9388954171562866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1F497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4DD-462C-957F-E9078DC01D4C}"/>
              </c:ext>
            </c:extLst>
          </c:dPt>
          <c:dPt>
            <c:idx val="1"/>
            <c:invertIfNegative val="0"/>
            <c:bubble3D val="0"/>
            <c:spPr>
              <a:solidFill>
                <a:srgbClr val="1F497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4DD-462C-957F-E9078DC01D4C}"/>
              </c:ext>
            </c:extLst>
          </c:dPt>
          <c:dPt>
            <c:idx val="6"/>
            <c:invertIfNegative val="0"/>
            <c:bubble3D val="0"/>
            <c:spPr>
              <a:solidFill>
                <a:srgbClr val="C3CFE1"/>
              </a:solidFill>
              <a:ln w="9525" algn="ctr">
                <a:solidFill>
                  <a:srgbClr val="1C3A8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14DD-462C-957F-E9078DC01D4C}"/>
              </c:ext>
            </c:extLst>
          </c:dPt>
          <c:val>
            <c:numRef>
              <c:f>Sheet1!$A$1:$G$1</c:f>
              <c:numCache>
                <c:formatCode>General</c:formatCode>
                <c:ptCount val="7"/>
                <c:pt idx="0">
                  <c:v>51748.76743228751</c:v>
                </c:pt>
                <c:pt idx="1">
                  <c:v>46433.956955582675</c:v>
                </c:pt>
                <c:pt idx="2">
                  <c:v>43956.390687715408</c:v>
                </c:pt>
                <c:pt idx="3">
                  <c:v>43184.282008457783</c:v>
                </c:pt>
                <c:pt idx="4">
                  <c:v>40435.967465691123</c:v>
                </c:pt>
                <c:pt idx="5">
                  <c:v>40435.967465691123</c:v>
                </c:pt>
                <c:pt idx="6">
                  <c:v>17610.551158693313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4DD-462C-957F-E9078DC01D4C}"/>
            </c:ext>
          </c:extLst>
        </c:ser>
        <c:ser>
          <c:idx val="1"/>
          <c:order val="1"/>
          <c:spPr>
            <a:solidFill>
              <a:srgbClr val="E46C0A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F184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C-1670-49D0-8FA5-F47BF612A558}"/>
              </c:ext>
            </c:extLst>
          </c:dPt>
          <c:dPt>
            <c:idx val="3"/>
            <c:invertIfNegative val="0"/>
            <c:bubble3D val="0"/>
            <c:spPr>
              <a:solidFill>
                <a:srgbClr val="F184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1670-49D0-8FA5-F47BF612A558}"/>
              </c:ext>
            </c:extLst>
          </c:dPt>
          <c:dPt>
            <c:idx val="4"/>
            <c:invertIfNegative val="0"/>
            <c:bubble3D val="0"/>
            <c:spPr>
              <a:solidFill>
                <a:srgbClr val="F184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E-1670-49D0-8FA5-F47BF612A558}"/>
              </c:ext>
            </c:extLst>
          </c:dPt>
          <c:dPt>
            <c:idx val="5"/>
            <c:invertIfNegative val="0"/>
            <c:bubble3D val="0"/>
            <c:spPr>
              <a:solidFill>
                <a:srgbClr val="6F8DB9"/>
              </a:solidFill>
              <a:ln w="3175" algn="ctr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8-14DD-462C-957F-E9078DC01D4C}"/>
              </c:ext>
            </c:extLst>
          </c:dPt>
          <c:dPt>
            <c:idx val="6"/>
            <c:invertIfNegative val="0"/>
            <c:bubble3D val="0"/>
            <c:spPr>
              <a:solidFill>
                <a:srgbClr val="C3CFE1"/>
              </a:solidFill>
              <a:ln w="9525" algn="ctr">
                <a:solidFill>
                  <a:srgbClr val="1C3A8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A-14DD-462C-957F-E9078DC01D4C}"/>
              </c:ext>
            </c:extLst>
          </c:dPt>
          <c:val>
            <c:numRef>
              <c:f>Sheet1!$A$2:$G$2</c:f>
              <c:numCache>
                <c:formatCode>General</c:formatCode>
                <c:ptCount val="7"/>
                <c:pt idx="2">
                  <c:v>2477.566267867267</c:v>
                </c:pt>
                <c:pt idx="3">
                  <c:v>772.10867925762432</c:v>
                </c:pt>
                <c:pt idx="4">
                  <c:v>2748.3145427666605</c:v>
                </c:pt>
                <c:pt idx="5">
                  <c:v>5074.3855335601111</c:v>
                </c:pt>
                <c:pt idx="6">
                  <c:v>19653.409451403379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14DD-462C-957F-E9078DC01D4C}"/>
            </c:ext>
          </c:extLst>
        </c:ser>
        <c:ser>
          <c:idx val="2"/>
          <c:order val="2"/>
          <c:spPr>
            <a:solidFill>
              <a:srgbClr val="6F8DB9"/>
            </a:solidFill>
            <a:ln w="3175" algn="ctr">
              <a:solidFill>
                <a:schemeClr val="tx1"/>
              </a:solidFill>
              <a:prstDash val="solid"/>
            </a:ln>
          </c:spPr>
          <c:invertIfNegative val="0"/>
          <c:dPt>
            <c:idx val="6"/>
            <c:invertIfNegative val="0"/>
            <c:bubble3D val="0"/>
            <c:spPr>
              <a:solidFill>
                <a:srgbClr val="C3CFE1"/>
              </a:solidFill>
              <a:ln w="9525" algn="ctr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D-14DD-462C-957F-E9078DC01D4C}"/>
              </c:ext>
            </c:extLst>
          </c:dPt>
          <c:val>
            <c:numRef>
              <c:f>Sheet1!$A$3:$G$3</c:f>
              <c:numCache>
                <c:formatCode>General</c:formatCode>
                <c:ptCount val="7"/>
                <c:pt idx="5">
                  <c:v>476.74549583026965</c:v>
                </c:pt>
                <c:pt idx="6">
                  <c:v>1076.2593720167206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14DD-462C-957F-E9078DC01D4C}"/>
            </c:ext>
          </c:extLst>
        </c:ser>
        <c:ser>
          <c:idx val="3"/>
          <c:order val="3"/>
          <c:spPr>
            <a:solidFill>
              <a:srgbClr val="C3CFE1"/>
            </a:solidFill>
            <a:ln w="9525" algn="ctr">
              <a:solidFill>
                <a:schemeClr val="tx1"/>
              </a:solidFill>
              <a:prstDash val="solid"/>
            </a:ln>
          </c:spPr>
          <c:invertIfNegative val="0"/>
          <c:val>
            <c:numRef>
              <c:f>Sheet1!$A$4:$G$4</c:f>
              <c:numCache>
                <c:formatCode>General</c:formatCode>
                <c:ptCount val="7"/>
                <c:pt idx="6">
                  <c:v>3801.1143827867927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14DD-462C-957F-E9078DC01D4C}"/>
            </c:ext>
          </c:extLst>
        </c:ser>
        <c:ser>
          <c:idx val="4"/>
          <c:order val="4"/>
          <c:spPr>
            <a:solidFill>
              <a:srgbClr val="C3CFE1"/>
            </a:solidFill>
            <a:ln w="9525" algn="ctr">
              <a:solidFill>
                <a:schemeClr val="tx1"/>
              </a:solidFill>
              <a:prstDash val="solid"/>
            </a:ln>
          </c:spPr>
          <c:invertIfNegative val="0"/>
          <c:val>
            <c:numRef>
              <c:f>Sheet1!$A$5:$G$5</c:f>
              <c:numCache>
                <c:formatCode>General</c:formatCode>
                <c:ptCount val="7"/>
                <c:pt idx="6">
                  <c:v>2009.8981687771011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14DD-462C-957F-E9078DC01D4C}"/>
            </c:ext>
          </c:extLst>
        </c:ser>
        <c:ser>
          <c:idx val="5"/>
          <c:order val="5"/>
          <c:spPr>
            <a:solidFill>
              <a:srgbClr val="C3CFE1"/>
            </a:solidFill>
            <a:ln w="9525" algn="ctr">
              <a:solidFill>
                <a:schemeClr val="tx1"/>
              </a:solidFill>
              <a:prstDash val="solid"/>
            </a:ln>
          </c:spPr>
          <c:invertIfNegative val="0"/>
          <c:val>
            <c:numRef>
              <c:f>Sheet1!$A$6:$G$6</c:f>
              <c:numCache>
                <c:formatCode>General</c:formatCode>
                <c:ptCount val="7"/>
                <c:pt idx="6">
                  <c:v>1835.8659614041826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14DD-462C-957F-E9078DC01D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0263168"/>
        <c:axId val="80260480"/>
      </c:barChart>
      <c:catAx>
        <c:axId val="4026316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algn="ctr">
            <a:solidFill>
              <a:schemeClr val="tx1"/>
            </a:solidFill>
            <a:prstDash val="solid"/>
          </a:ln>
        </c:spPr>
        <c:crossAx val="80260480"/>
        <c:crossesAt val="0"/>
        <c:auto val="0"/>
        <c:lblAlgn val="ctr"/>
        <c:lblOffset val="100"/>
        <c:noMultiLvlLbl val="0"/>
      </c:catAx>
      <c:valAx>
        <c:axId val="80260480"/>
        <c:scaling>
          <c:orientation val="minMax"/>
          <c:max val="51748.76743228751"/>
          <c:min val="-11207.968029886782"/>
        </c:scaling>
        <c:delete val="1"/>
        <c:axPos val="l"/>
        <c:numFmt formatCode="General" sourceLinked="1"/>
        <c:majorTickMark val="out"/>
        <c:minorTickMark val="none"/>
        <c:tickLblPos val="nextTo"/>
        <c:crossAx val="4026316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1A21E0-EF45-48AD-9BC2-7CE82BAC6BDB}" type="datetimeFigureOut">
              <a:rPr lang="ru-RU" smtClean="0"/>
              <a:t>25.04.2024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2863E-8975-454E-B881-E50B23E8DA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8961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15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430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145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860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575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290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005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72000" algn="l" defTabSz="11430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82863E-8975-454E-B881-E50B23E8DAA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1722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82863E-8975-454E-B881-E50B23E8DAA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8556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3270D5A-F2CE-4E4F-979D-00964F22DD54}" type="slidenum">
              <a:rPr lang="ru-RU" smtClean="0"/>
              <a:pPr>
                <a:defRPr/>
              </a:pPr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2366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3663" y="742950"/>
            <a:ext cx="661352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4147" name="Заметки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4148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636" eaLnBrk="0" hangingPunct="0">
              <a:defRPr sz="9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defTabSz="915636" eaLnBrk="0" hangingPunct="0">
              <a:defRPr sz="9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defTabSz="915636" eaLnBrk="0" hangingPunct="0">
              <a:defRPr sz="9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defTabSz="915636" eaLnBrk="0" hangingPunct="0">
              <a:defRPr sz="9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defTabSz="915636" eaLnBrk="0" hangingPunct="0">
              <a:defRPr sz="9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288294" indent="-146502" defTabSz="915636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6908" indent="-146502" defTabSz="915636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205522" indent="-146502" defTabSz="915636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664137" indent="-146502" defTabSz="915636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B3E2C7B-324F-470F-AE09-CAD2A6E00CD7}" type="slidenum">
              <a:rPr lang="ru-RU" sz="1200" b="0">
                <a:solidFill>
                  <a:srgbClr val="000000"/>
                </a:solidFill>
                <a:latin typeface="Calibri" pitchFamily="34" charset="0"/>
              </a:rPr>
              <a:pPr eaLnBrk="1" hangingPunct="1"/>
              <a:t>22</a:t>
            </a:fld>
            <a:endParaRPr lang="ru-RU" sz="1200" b="0">
              <a:solidFill>
                <a:srgbClr val="0000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195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3663" y="742950"/>
            <a:ext cx="6613525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1" name="Заметки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/>
          </a:p>
        </p:txBody>
      </p:sp>
      <p:sp>
        <p:nvSpPr>
          <p:cNvPr id="135172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636"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5248" indent="-286633" defTabSz="915636"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6536" indent="-229308" defTabSz="915636"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5150" indent="-229308" defTabSz="915636"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63764" indent="-229308" defTabSz="915636"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22378" indent="-229308" defTabSz="91563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80992" indent="-229308" defTabSz="91563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39606" indent="-229308" defTabSz="91563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98221" indent="-229308" defTabSz="91563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579460F6-3BCE-43CE-835C-5D52F506E5D0}" type="slidenum">
              <a:rPr lang="ru-RU" altLang="ru-RU" smtClean="0">
                <a:solidFill>
                  <a:srgbClr val="000000"/>
                </a:solidFill>
              </a:rPr>
              <a:pPr/>
              <a:t>24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0999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Номер слайда 6"/>
          <p:cNvSpPr txBox="1">
            <a:spLocks noGrp="1"/>
          </p:cNvSpPr>
          <p:nvPr/>
        </p:nvSpPr>
        <p:spPr bwMode="auto">
          <a:xfrm>
            <a:off x="3856485" y="9442367"/>
            <a:ext cx="2950691" cy="496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98" tIns="45846" rIns="91698" bIns="45846" anchor="b"/>
          <a:lstStyle>
            <a:lvl1pPr defTabSz="936625" eaLnBrk="0" hangingPunct="0">
              <a:defRPr sz="12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36625" eaLnBrk="0" hangingPunct="0">
              <a:defRPr sz="12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36625" eaLnBrk="0" hangingPunct="0">
              <a:defRPr sz="12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36625" eaLnBrk="0" hangingPunct="0">
              <a:defRPr sz="12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36625" eaLnBrk="0" hangingPunct="0">
              <a:defRPr sz="12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r" defTabSz="936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5572572-F65F-4B9B-AE35-69AFDEA016DC}" type="slidenum">
              <a:rPr kumimoji="0" lang="ru-RU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366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ru-RU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6675" y="217488"/>
            <a:ext cx="6618288" cy="37274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" name="Заметки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34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Номер слайда 6"/>
          <p:cNvSpPr txBox="1">
            <a:spLocks noGrp="1"/>
          </p:cNvSpPr>
          <p:nvPr/>
        </p:nvSpPr>
        <p:spPr bwMode="auto">
          <a:xfrm>
            <a:off x="3856485" y="9442367"/>
            <a:ext cx="2950691" cy="496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98" tIns="45846" rIns="91698" bIns="45846" anchor="b"/>
          <a:lstStyle>
            <a:lvl1pPr defTabSz="936625" eaLnBrk="0" hangingPunct="0">
              <a:defRPr sz="12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36625" eaLnBrk="0" hangingPunct="0">
              <a:defRPr sz="12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36625" eaLnBrk="0" hangingPunct="0">
              <a:defRPr sz="12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36625" eaLnBrk="0" hangingPunct="0">
              <a:defRPr sz="12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36625" eaLnBrk="0" hangingPunct="0">
              <a:defRPr sz="12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r" defTabSz="936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5572572-F65F-4B9B-AE35-69AFDEA016DC}" type="slidenum">
              <a:rPr kumimoji="0" lang="ru-RU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366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ru-RU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6675" y="217488"/>
            <a:ext cx="6618288" cy="37274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" name="Заметки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282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325" y="800157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5925164"/>
            <a:ext cx="13430250" cy="77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307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0725" y="329102"/>
            <a:ext cx="1481139" cy="1397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5925164"/>
            <a:ext cx="13430250" cy="77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91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5925164"/>
            <a:ext cx="13430250" cy="771254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7" r="3661"/>
          <a:stretch/>
        </p:blipFill>
        <p:spPr>
          <a:xfrm>
            <a:off x="0" y="3699426"/>
            <a:ext cx="13430250" cy="692227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0" y="3699426"/>
            <a:ext cx="13430250" cy="692227"/>
          </a:xfrm>
          <a:prstGeom prst="rect">
            <a:avLst/>
          </a:prstGeom>
        </p:spPr>
        <p:txBody>
          <a:bodyPr vert="horz" lIns="114300" tIns="57150" rIns="114300" bIns="57150" rtlCol="0" anchor="ctr">
            <a:noAutofit/>
          </a:bodyPr>
          <a:lstStyle>
            <a:lvl1pPr algn="ctr">
              <a:defRPr lang="en-US" sz="4000" b="1" kern="1200" spc="169" dirty="0">
                <a:solidFill>
                  <a:schemeClr val="bg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</a:lstStyle>
          <a:p>
            <a:r>
              <a:rPr lang="ru-RU" dirty="0"/>
              <a:t>НАЗВАНИЕ РАЗДЕЛА</a:t>
            </a:r>
            <a:endParaRPr lang="en-US" dirty="0"/>
          </a:p>
        </p:txBody>
      </p:sp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325" y="800157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198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 userDrawn="1"/>
        </p:nvCxnSpPr>
        <p:spPr>
          <a:xfrm flipH="1">
            <a:off x="548456" y="7212734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548456" y="7226767"/>
            <a:ext cx="2101537" cy="269304"/>
          </a:xfrm>
          <a:prstGeom prst="rect">
            <a:avLst/>
          </a:prstGeom>
          <a:noFill/>
        </p:spPr>
        <p:txBody>
          <a:bodyPr wrap="none" lIns="114300" tIns="57150" rIns="114300" bIns="57150" rtlCol="0">
            <a:spAutoFit/>
          </a:bodyPr>
          <a:lstStyle/>
          <a:p>
            <a:pPr algn="l"/>
            <a:r>
              <a:rPr lang="ru-RU" sz="1000" dirty="0">
                <a:solidFill>
                  <a:srgbClr val="003D8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ПРЕЗЕНТАЦИЯ О КОМПАНИИ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48457" y="254782"/>
            <a:ext cx="11509530" cy="409868"/>
          </a:xfrm>
          <a:prstGeom prst="rect">
            <a:avLst/>
          </a:prstGeom>
        </p:spPr>
        <p:txBody>
          <a:bodyPr vert="horz" lIns="114300" tIns="57150" rIns="114300" bIns="57150" rtlCol="0" anchor="ctr">
            <a:noAutofit/>
          </a:bodyPr>
          <a:lstStyle>
            <a:lvl1pPr>
              <a:defRPr sz="3000" baseline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</a:lstStyle>
          <a:p>
            <a:r>
              <a:rPr lang="ru-RU" dirty="0"/>
              <a:t>НАИМЕНОВАНИЕ СЛАЙДА</a:t>
            </a:r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10795856" y="7015173"/>
            <a:ext cx="2277165" cy="469359"/>
          </a:xfrm>
          <a:prstGeom prst="rect">
            <a:avLst/>
          </a:prstGeom>
          <a:noFill/>
        </p:spPr>
        <p:txBody>
          <a:bodyPr wrap="square" lIns="114300" tIns="57150" rIns="114300" bIns="57150" rtlCol="0">
            <a:spAutoFit/>
          </a:bodyPr>
          <a:lstStyle/>
          <a:p>
            <a:pPr algn="r"/>
            <a:fld id="{44A0DB5A-4A1A-4420-9295-8BB2A863997E}" type="slidenum">
              <a:rPr lang="ru-RU" smtClean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pPr algn="r"/>
              <a:t>‹#›</a:t>
            </a:fld>
            <a:endParaRPr lang="ru-RU" dirty="0">
              <a:solidFill>
                <a:srgbClr val="003264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0267" y="91492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829078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5925164"/>
            <a:ext cx="13430250" cy="771254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7" r="3661"/>
          <a:stretch/>
        </p:blipFill>
        <p:spPr>
          <a:xfrm>
            <a:off x="0" y="3699426"/>
            <a:ext cx="13430250" cy="69222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42" y="3675674"/>
            <a:ext cx="13419769" cy="730969"/>
          </a:xfrm>
          <a:prstGeom prst="rect">
            <a:avLst/>
          </a:prstGeom>
          <a:noFill/>
        </p:spPr>
        <p:txBody>
          <a:bodyPr wrap="square" lIns="114300" tIns="57150" rIns="114300" bIns="57150" rtlCol="0">
            <a:spAutoFit/>
          </a:bodyPr>
          <a:lstStyle/>
          <a:p>
            <a:pPr algn="ctr"/>
            <a:r>
              <a:rPr lang="ru-RU" sz="4000" b="1" spc="169" dirty="0">
                <a:solidFill>
                  <a:schemeClr val="bg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СПАСИБО ЗА ВНИМАНИЕ!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325" y="800157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1659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1021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3331" y="7008174"/>
            <a:ext cx="3021806" cy="402567"/>
          </a:xfrm>
          <a:prstGeom prst="rect">
            <a:avLst/>
          </a:prstGeom>
        </p:spPr>
        <p:txBody>
          <a:bodyPr vert="horz" lIns="114300" tIns="57150" rIns="114300" bIns="57150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A7C0EF-CED6-48CD-8063-EDF64048513D}" type="datetimeFigureOut">
              <a:rPr lang="ru-RU" smtClean="0"/>
              <a:t>25.04.2024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48772" y="7008174"/>
            <a:ext cx="4532710" cy="402567"/>
          </a:xfrm>
          <a:prstGeom prst="rect">
            <a:avLst/>
          </a:prstGeom>
        </p:spPr>
        <p:txBody>
          <a:bodyPr vert="horz" lIns="114300" tIns="57150" rIns="114300" bIns="57150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85115" y="7008174"/>
            <a:ext cx="3021806" cy="402567"/>
          </a:xfrm>
          <a:prstGeom prst="rect">
            <a:avLst/>
          </a:prstGeom>
        </p:spPr>
        <p:txBody>
          <a:bodyPr vert="horz" lIns="114300" tIns="57150" rIns="114300" bIns="57150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54648-EF90-4CD3-A4B4-AE31895184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4188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88" r:id="rId3"/>
    <p:sldLayoutId id="2147483686" r:id="rId4"/>
    <p:sldLayoutId id="2147483689" r:id="rId5"/>
    <p:sldLayoutId id="2147483672" r:id="rId6"/>
  </p:sldLayoutIdLst>
  <p:txStyles>
    <p:titleStyle>
      <a:lvl1pPr algn="l" defTabSz="1143000" rtl="0" eaLnBrk="1" latinLnBrk="0" hangingPunct="1">
        <a:lnSpc>
          <a:spcPct val="90000"/>
        </a:lnSpc>
        <a:spcBef>
          <a:spcPct val="0"/>
        </a:spcBef>
        <a:buNone/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1143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57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428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2000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571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3143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714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286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857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15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145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575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90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05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72000" algn="l" defTabSz="114300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chart" Target="../charts/chart1.xml"/><Relationship Id="rId4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7" Type="http://schemas.openxmlformats.org/officeDocument/2006/relationships/image" Target="../media/image6.emf"/><Relationship Id="rId2" Type="http://schemas.openxmlformats.org/officeDocument/2006/relationships/tags" Target="../tags/tag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7.xml"/><Relationship Id="rId7" Type="http://schemas.openxmlformats.org/officeDocument/2006/relationships/image" Target="../media/image7.png"/><Relationship Id="rId2" Type="http://schemas.openxmlformats.org/officeDocument/2006/relationships/tags" Target="../tags/tag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0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9.xml"/><Relationship Id="rId7" Type="http://schemas.openxmlformats.org/officeDocument/2006/relationships/image" Target="../media/image11.png"/><Relationship Id="rId2" Type="http://schemas.openxmlformats.org/officeDocument/2006/relationships/tags" Target="../tags/tag8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.bin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oleObject" Target="../embeddings/oleObject4.bin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slideLayout" Target="../slideLayouts/slideLayout4.xml"/><Relationship Id="rId17" Type="http://schemas.openxmlformats.org/officeDocument/2006/relationships/chart" Target="../charts/chart5.xml"/><Relationship Id="rId2" Type="http://schemas.openxmlformats.org/officeDocument/2006/relationships/tags" Target="../tags/tag10.xml"/><Relationship Id="rId16" Type="http://schemas.openxmlformats.org/officeDocument/2006/relationships/chart" Target="../charts/chart4.xml"/><Relationship Id="rId1" Type="http://schemas.openxmlformats.org/officeDocument/2006/relationships/vmlDrawing" Target="../drawings/vmlDrawing4.v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5" Type="http://schemas.openxmlformats.org/officeDocument/2006/relationships/tags" Target="../tags/tag13.xml"/><Relationship Id="rId15" Type="http://schemas.openxmlformats.org/officeDocument/2006/relationships/image" Target="../media/image7.png"/><Relationship Id="rId10" Type="http://schemas.openxmlformats.org/officeDocument/2006/relationships/tags" Target="../tags/tag18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image" Target="../media/image6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image" Target="../media/image9.png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slideLayout" Target="../slideLayouts/slideLayout4.xml"/><Relationship Id="rId17" Type="http://schemas.openxmlformats.org/officeDocument/2006/relationships/chart" Target="../charts/chart7.xml"/><Relationship Id="rId2" Type="http://schemas.openxmlformats.org/officeDocument/2006/relationships/tags" Target="../tags/tag20.xml"/><Relationship Id="rId16" Type="http://schemas.openxmlformats.org/officeDocument/2006/relationships/chart" Target="../charts/chart6.xml"/><Relationship Id="rId1" Type="http://schemas.openxmlformats.org/officeDocument/2006/relationships/vmlDrawing" Target="../drawings/vmlDrawing5.v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image" Target="../media/image6.emf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oleObject" Target="../embeddings/oleObject5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6.emf"/><Relationship Id="rId2" Type="http://schemas.openxmlformats.org/officeDocument/2006/relationships/tags" Target="../tags/tag30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8.png"/><Relationship Id="rId4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tags" Target="../tags/tag33.xml"/><Relationship Id="rId7" Type="http://schemas.openxmlformats.org/officeDocument/2006/relationships/oleObject" Target="../embeddings/oleObject7.bin"/><Relationship Id="rId2" Type="http://schemas.openxmlformats.org/officeDocument/2006/relationships/tags" Target="../tags/tag32.xml"/><Relationship Id="rId1" Type="http://schemas.openxmlformats.org/officeDocument/2006/relationships/vmlDrawing" Target="../drawings/vmlDrawing7.vml"/><Relationship Id="rId6" Type="http://schemas.microsoft.com/office/2007/relationships/hdphoto" Target="../media/hdphoto2.wdp"/><Relationship Id="rId5" Type="http://schemas.openxmlformats.org/officeDocument/2006/relationships/image" Target="../media/image14.png"/><Relationship Id="rId4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7" Type="http://schemas.openxmlformats.org/officeDocument/2006/relationships/image" Target="../media/image6.emf"/><Relationship Id="rId2" Type="http://schemas.openxmlformats.org/officeDocument/2006/relationships/tags" Target="../tags/tag34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5.png"/><Relationship Id="rId4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tags" Target="../tags/tag37.xml"/><Relationship Id="rId7" Type="http://schemas.openxmlformats.org/officeDocument/2006/relationships/image" Target="../media/image16.png"/><Relationship Id="rId2" Type="http://schemas.openxmlformats.org/officeDocument/2006/relationships/tags" Target="../tags/tag36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9.bin"/><Relationship Id="rId4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0.bin"/><Relationship Id="rId4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1.bin"/><Relationship Id="rId4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13" Type="http://schemas.openxmlformats.org/officeDocument/2006/relationships/chart" Target="../charts/chart8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image" Target="../media/image18.emf"/><Relationship Id="rId2" Type="http://schemas.openxmlformats.org/officeDocument/2006/relationships/tags" Target="../tags/tag42.xml"/><Relationship Id="rId1" Type="http://schemas.openxmlformats.org/officeDocument/2006/relationships/vmlDrawing" Target="../drawings/vmlDrawing12.vml"/><Relationship Id="rId6" Type="http://schemas.openxmlformats.org/officeDocument/2006/relationships/tags" Target="../tags/tag46.xml"/><Relationship Id="rId11" Type="http://schemas.openxmlformats.org/officeDocument/2006/relationships/oleObject" Target="../embeddings/oleObject12.bin"/><Relationship Id="rId5" Type="http://schemas.openxmlformats.org/officeDocument/2006/relationships/tags" Target="../tags/tag45.xml"/><Relationship Id="rId10" Type="http://schemas.openxmlformats.org/officeDocument/2006/relationships/slideLayout" Target="../slideLayouts/slideLayout4.xml"/><Relationship Id="rId4" Type="http://schemas.openxmlformats.org/officeDocument/2006/relationships/tags" Target="../tags/tag44.xml"/><Relationship Id="rId9" Type="http://schemas.openxmlformats.org/officeDocument/2006/relationships/tags" Target="../tags/tag4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0.xml"/><Relationship Id="rId3" Type="http://schemas.openxmlformats.org/officeDocument/2006/relationships/tags" Target="../tags/tag51.xml"/><Relationship Id="rId7" Type="http://schemas.openxmlformats.org/officeDocument/2006/relationships/chart" Target="../charts/chart9.xml"/><Relationship Id="rId2" Type="http://schemas.openxmlformats.org/officeDocument/2006/relationships/tags" Target="../tags/tag50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0.bin"/><Relationship Id="rId10" Type="http://schemas.openxmlformats.org/officeDocument/2006/relationships/chart" Target="../charts/chart12.xml"/><Relationship Id="rId4" Type="http://schemas.openxmlformats.org/officeDocument/2006/relationships/slideLayout" Target="../slideLayouts/slideLayout4.xml"/><Relationship Id="rId9" Type="http://schemas.openxmlformats.org/officeDocument/2006/relationships/chart" Target="../charts/char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2.xml"/><Relationship Id="rId5" Type="http://schemas.openxmlformats.org/officeDocument/2006/relationships/chart" Target="../charts/chart14.xml"/><Relationship Id="rId4" Type="http://schemas.openxmlformats.org/officeDocument/2006/relationships/chart" Target="../charts/char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17" Type="http://schemas.openxmlformats.org/officeDocument/2006/relationships/tags" Target="../tags/tag168.xml"/><Relationship Id="rId21" Type="http://schemas.openxmlformats.org/officeDocument/2006/relationships/tags" Target="../tags/tag72.xml"/><Relationship Id="rId42" Type="http://schemas.openxmlformats.org/officeDocument/2006/relationships/tags" Target="../tags/tag93.xml"/><Relationship Id="rId63" Type="http://schemas.openxmlformats.org/officeDocument/2006/relationships/tags" Target="../tags/tag114.xml"/><Relationship Id="rId84" Type="http://schemas.openxmlformats.org/officeDocument/2006/relationships/tags" Target="../tags/tag135.xml"/><Relationship Id="rId138" Type="http://schemas.openxmlformats.org/officeDocument/2006/relationships/tags" Target="../tags/tag189.xml"/><Relationship Id="rId159" Type="http://schemas.openxmlformats.org/officeDocument/2006/relationships/tags" Target="../tags/tag210.xml"/><Relationship Id="rId170" Type="http://schemas.openxmlformats.org/officeDocument/2006/relationships/oleObject" Target="../embeddings/oleObject13.bin"/><Relationship Id="rId107" Type="http://schemas.openxmlformats.org/officeDocument/2006/relationships/tags" Target="../tags/tag158.xml"/><Relationship Id="rId11" Type="http://schemas.openxmlformats.org/officeDocument/2006/relationships/tags" Target="../tags/tag62.xml"/><Relationship Id="rId32" Type="http://schemas.openxmlformats.org/officeDocument/2006/relationships/tags" Target="../tags/tag83.xml"/><Relationship Id="rId53" Type="http://schemas.openxmlformats.org/officeDocument/2006/relationships/tags" Target="../tags/tag104.xml"/><Relationship Id="rId74" Type="http://schemas.openxmlformats.org/officeDocument/2006/relationships/tags" Target="../tags/tag125.xml"/><Relationship Id="rId128" Type="http://schemas.openxmlformats.org/officeDocument/2006/relationships/tags" Target="../tags/tag179.xml"/><Relationship Id="rId149" Type="http://schemas.openxmlformats.org/officeDocument/2006/relationships/tags" Target="../tags/tag200.xml"/><Relationship Id="rId5" Type="http://schemas.openxmlformats.org/officeDocument/2006/relationships/tags" Target="../tags/tag56.xml"/><Relationship Id="rId95" Type="http://schemas.openxmlformats.org/officeDocument/2006/relationships/tags" Target="../tags/tag146.xml"/><Relationship Id="rId160" Type="http://schemas.openxmlformats.org/officeDocument/2006/relationships/tags" Target="../tags/tag211.xml"/><Relationship Id="rId22" Type="http://schemas.openxmlformats.org/officeDocument/2006/relationships/tags" Target="../tags/tag73.xml"/><Relationship Id="rId43" Type="http://schemas.openxmlformats.org/officeDocument/2006/relationships/tags" Target="../tags/tag94.xml"/><Relationship Id="rId64" Type="http://schemas.openxmlformats.org/officeDocument/2006/relationships/tags" Target="../tags/tag115.xml"/><Relationship Id="rId118" Type="http://schemas.openxmlformats.org/officeDocument/2006/relationships/tags" Target="../tags/tag169.xml"/><Relationship Id="rId139" Type="http://schemas.openxmlformats.org/officeDocument/2006/relationships/tags" Target="../tags/tag190.xml"/><Relationship Id="rId85" Type="http://schemas.openxmlformats.org/officeDocument/2006/relationships/tags" Target="../tags/tag136.xml"/><Relationship Id="rId150" Type="http://schemas.openxmlformats.org/officeDocument/2006/relationships/tags" Target="../tags/tag201.xml"/><Relationship Id="rId171" Type="http://schemas.openxmlformats.org/officeDocument/2006/relationships/image" Target="../media/image18.emf"/><Relationship Id="rId12" Type="http://schemas.openxmlformats.org/officeDocument/2006/relationships/tags" Target="../tags/tag63.xml"/><Relationship Id="rId33" Type="http://schemas.openxmlformats.org/officeDocument/2006/relationships/tags" Target="../tags/tag84.xml"/><Relationship Id="rId108" Type="http://schemas.openxmlformats.org/officeDocument/2006/relationships/tags" Target="../tags/tag159.xml"/><Relationship Id="rId129" Type="http://schemas.openxmlformats.org/officeDocument/2006/relationships/tags" Target="../tags/tag180.xml"/><Relationship Id="rId54" Type="http://schemas.openxmlformats.org/officeDocument/2006/relationships/tags" Target="../tags/tag105.xml"/><Relationship Id="rId75" Type="http://schemas.openxmlformats.org/officeDocument/2006/relationships/tags" Target="../tags/tag126.xml"/><Relationship Id="rId96" Type="http://schemas.openxmlformats.org/officeDocument/2006/relationships/tags" Target="../tags/tag147.xml"/><Relationship Id="rId140" Type="http://schemas.openxmlformats.org/officeDocument/2006/relationships/tags" Target="../tags/tag191.xml"/><Relationship Id="rId161" Type="http://schemas.openxmlformats.org/officeDocument/2006/relationships/tags" Target="../tags/tag212.xml"/><Relationship Id="rId1" Type="http://schemas.openxmlformats.org/officeDocument/2006/relationships/vmlDrawing" Target="../drawings/vmlDrawing14.vml"/><Relationship Id="rId6" Type="http://schemas.openxmlformats.org/officeDocument/2006/relationships/tags" Target="../tags/tag57.xml"/><Relationship Id="rId23" Type="http://schemas.openxmlformats.org/officeDocument/2006/relationships/tags" Target="../tags/tag74.xml"/><Relationship Id="rId28" Type="http://schemas.openxmlformats.org/officeDocument/2006/relationships/tags" Target="../tags/tag79.xml"/><Relationship Id="rId49" Type="http://schemas.openxmlformats.org/officeDocument/2006/relationships/tags" Target="../tags/tag100.xml"/><Relationship Id="rId114" Type="http://schemas.openxmlformats.org/officeDocument/2006/relationships/tags" Target="../tags/tag165.xml"/><Relationship Id="rId119" Type="http://schemas.openxmlformats.org/officeDocument/2006/relationships/tags" Target="../tags/tag170.xml"/><Relationship Id="rId44" Type="http://schemas.openxmlformats.org/officeDocument/2006/relationships/tags" Target="../tags/tag95.xml"/><Relationship Id="rId60" Type="http://schemas.openxmlformats.org/officeDocument/2006/relationships/tags" Target="../tags/tag111.xml"/><Relationship Id="rId65" Type="http://schemas.openxmlformats.org/officeDocument/2006/relationships/tags" Target="../tags/tag116.xml"/><Relationship Id="rId81" Type="http://schemas.openxmlformats.org/officeDocument/2006/relationships/tags" Target="../tags/tag132.xml"/><Relationship Id="rId86" Type="http://schemas.openxmlformats.org/officeDocument/2006/relationships/tags" Target="../tags/tag137.xml"/><Relationship Id="rId130" Type="http://schemas.openxmlformats.org/officeDocument/2006/relationships/tags" Target="../tags/tag181.xml"/><Relationship Id="rId135" Type="http://schemas.openxmlformats.org/officeDocument/2006/relationships/tags" Target="../tags/tag186.xml"/><Relationship Id="rId151" Type="http://schemas.openxmlformats.org/officeDocument/2006/relationships/tags" Target="../tags/tag202.xml"/><Relationship Id="rId156" Type="http://schemas.openxmlformats.org/officeDocument/2006/relationships/tags" Target="../tags/tag207.xml"/><Relationship Id="rId172" Type="http://schemas.openxmlformats.org/officeDocument/2006/relationships/chart" Target="../charts/chart15.xml"/><Relationship Id="rId13" Type="http://schemas.openxmlformats.org/officeDocument/2006/relationships/tags" Target="../tags/tag64.xml"/><Relationship Id="rId18" Type="http://schemas.openxmlformats.org/officeDocument/2006/relationships/tags" Target="../tags/tag69.xml"/><Relationship Id="rId39" Type="http://schemas.openxmlformats.org/officeDocument/2006/relationships/tags" Target="../tags/tag90.xml"/><Relationship Id="rId109" Type="http://schemas.openxmlformats.org/officeDocument/2006/relationships/tags" Target="../tags/tag160.xml"/><Relationship Id="rId34" Type="http://schemas.openxmlformats.org/officeDocument/2006/relationships/tags" Target="../tags/tag85.xml"/><Relationship Id="rId50" Type="http://schemas.openxmlformats.org/officeDocument/2006/relationships/tags" Target="../tags/tag101.xml"/><Relationship Id="rId55" Type="http://schemas.openxmlformats.org/officeDocument/2006/relationships/tags" Target="../tags/tag106.xml"/><Relationship Id="rId76" Type="http://schemas.openxmlformats.org/officeDocument/2006/relationships/tags" Target="../tags/tag127.xml"/><Relationship Id="rId97" Type="http://schemas.openxmlformats.org/officeDocument/2006/relationships/tags" Target="../tags/tag148.xml"/><Relationship Id="rId104" Type="http://schemas.openxmlformats.org/officeDocument/2006/relationships/tags" Target="../tags/tag155.xml"/><Relationship Id="rId120" Type="http://schemas.openxmlformats.org/officeDocument/2006/relationships/tags" Target="../tags/tag171.xml"/><Relationship Id="rId125" Type="http://schemas.openxmlformats.org/officeDocument/2006/relationships/tags" Target="../tags/tag176.xml"/><Relationship Id="rId141" Type="http://schemas.openxmlformats.org/officeDocument/2006/relationships/tags" Target="../tags/tag192.xml"/><Relationship Id="rId146" Type="http://schemas.openxmlformats.org/officeDocument/2006/relationships/tags" Target="../tags/tag197.xml"/><Relationship Id="rId167" Type="http://schemas.openxmlformats.org/officeDocument/2006/relationships/tags" Target="../tags/tag218.xml"/><Relationship Id="rId7" Type="http://schemas.openxmlformats.org/officeDocument/2006/relationships/tags" Target="../tags/tag58.xml"/><Relationship Id="rId71" Type="http://schemas.openxmlformats.org/officeDocument/2006/relationships/tags" Target="../tags/tag122.xml"/><Relationship Id="rId92" Type="http://schemas.openxmlformats.org/officeDocument/2006/relationships/tags" Target="../tags/tag143.xml"/><Relationship Id="rId162" Type="http://schemas.openxmlformats.org/officeDocument/2006/relationships/tags" Target="../tags/tag213.xml"/><Relationship Id="rId2" Type="http://schemas.openxmlformats.org/officeDocument/2006/relationships/tags" Target="../tags/tag53.xml"/><Relationship Id="rId29" Type="http://schemas.openxmlformats.org/officeDocument/2006/relationships/tags" Target="../tags/tag80.xml"/><Relationship Id="rId24" Type="http://schemas.openxmlformats.org/officeDocument/2006/relationships/tags" Target="../tags/tag75.xml"/><Relationship Id="rId40" Type="http://schemas.openxmlformats.org/officeDocument/2006/relationships/tags" Target="../tags/tag91.xml"/><Relationship Id="rId45" Type="http://schemas.openxmlformats.org/officeDocument/2006/relationships/tags" Target="../tags/tag96.xml"/><Relationship Id="rId66" Type="http://schemas.openxmlformats.org/officeDocument/2006/relationships/tags" Target="../tags/tag117.xml"/><Relationship Id="rId87" Type="http://schemas.openxmlformats.org/officeDocument/2006/relationships/tags" Target="../tags/tag138.xml"/><Relationship Id="rId110" Type="http://schemas.openxmlformats.org/officeDocument/2006/relationships/tags" Target="../tags/tag161.xml"/><Relationship Id="rId115" Type="http://schemas.openxmlformats.org/officeDocument/2006/relationships/tags" Target="../tags/tag166.xml"/><Relationship Id="rId131" Type="http://schemas.openxmlformats.org/officeDocument/2006/relationships/tags" Target="../tags/tag182.xml"/><Relationship Id="rId136" Type="http://schemas.openxmlformats.org/officeDocument/2006/relationships/tags" Target="../tags/tag187.xml"/><Relationship Id="rId157" Type="http://schemas.openxmlformats.org/officeDocument/2006/relationships/tags" Target="../tags/tag208.xml"/><Relationship Id="rId61" Type="http://schemas.openxmlformats.org/officeDocument/2006/relationships/tags" Target="../tags/tag112.xml"/><Relationship Id="rId82" Type="http://schemas.openxmlformats.org/officeDocument/2006/relationships/tags" Target="../tags/tag133.xml"/><Relationship Id="rId152" Type="http://schemas.openxmlformats.org/officeDocument/2006/relationships/tags" Target="../tags/tag203.xml"/><Relationship Id="rId173" Type="http://schemas.openxmlformats.org/officeDocument/2006/relationships/chart" Target="../charts/chart16.xml"/><Relationship Id="rId19" Type="http://schemas.openxmlformats.org/officeDocument/2006/relationships/tags" Target="../tags/tag70.xml"/><Relationship Id="rId14" Type="http://schemas.openxmlformats.org/officeDocument/2006/relationships/tags" Target="../tags/tag65.xml"/><Relationship Id="rId30" Type="http://schemas.openxmlformats.org/officeDocument/2006/relationships/tags" Target="../tags/tag81.xml"/><Relationship Id="rId35" Type="http://schemas.openxmlformats.org/officeDocument/2006/relationships/tags" Target="../tags/tag86.xml"/><Relationship Id="rId56" Type="http://schemas.openxmlformats.org/officeDocument/2006/relationships/tags" Target="../tags/tag107.xml"/><Relationship Id="rId77" Type="http://schemas.openxmlformats.org/officeDocument/2006/relationships/tags" Target="../tags/tag128.xml"/><Relationship Id="rId100" Type="http://schemas.openxmlformats.org/officeDocument/2006/relationships/tags" Target="../tags/tag151.xml"/><Relationship Id="rId105" Type="http://schemas.openxmlformats.org/officeDocument/2006/relationships/tags" Target="../tags/tag156.xml"/><Relationship Id="rId126" Type="http://schemas.openxmlformats.org/officeDocument/2006/relationships/tags" Target="../tags/tag177.xml"/><Relationship Id="rId147" Type="http://schemas.openxmlformats.org/officeDocument/2006/relationships/tags" Target="../tags/tag198.xml"/><Relationship Id="rId168" Type="http://schemas.openxmlformats.org/officeDocument/2006/relationships/slideLayout" Target="../slideLayouts/slideLayout4.xml"/><Relationship Id="rId8" Type="http://schemas.openxmlformats.org/officeDocument/2006/relationships/tags" Target="../tags/tag59.xml"/><Relationship Id="rId51" Type="http://schemas.openxmlformats.org/officeDocument/2006/relationships/tags" Target="../tags/tag102.xml"/><Relationship Id="rId72" Type="http://schemas.openxmlformats.org/officeDocument/2006/relationships/tags" Target="../tags/tag123.xml"/><Relationship Id="rId93" Type="http://schemas.openxmlformats.org/officeDocument/2006/relationships/tags" Target="../tags/tag144.xml"/><Relationship Id="rId98" Type="http://schemas.openxmlformats.org/officeDocument/2006/relationships/tags" Target="../tags/tag149.xml"/><Relationship Id="rId121" Type="http://schemas.openxmlformats.org/officeDocument/2006/relationships/tags" Target="../tags/tag172.xml"/><Relationship Id="rId142" Type="http://schemas.openxmlformats.org/officeDocument/2006/relationships/tags" Target="../tags/tag193.xml"/><Relationship Id="rId163" Type="http://schemas.openxmlformats.org/officeDocument/2006/relationships/tags" Target="../tags/tag214.xml"/><Relationship Id="rId3" Type="http://schemas.openxmlformats.org/officeDocument/2006/relationships/tags" Target="../tags/tag54.xml"/><Relationship Id="rId25" Type="http://schemas.openxmlformats.org/officeDocument/2006/relationships/tags" Target="../tags/tag76.xml"/><Relationship Id="rId46" Type="http://schemas.openxmlformats.org/officeDocument/2006/relationships/tags" Target="../tags/tag97.xml"/><Relationship Id="rId67" Type="http://schemas.openxmlformats.org/officeDocument/2006/relationships/tags" Target="../tags/tag118.xml"/><Relationship Id="rId116" Type="http://schemas.openxmlformats.org/officeDocument/2006/relationships/tags" Target="../tags/tag167.xml"/><Relationship Id="rId137" Type="http://schemas.openxmlformats.org/officeDocument/2006/relationships/tags" Target="../tags/tag188.xml"/><Relationship Id="rId158" Type="http://schemas.openxmlformats.org/officeDocument/2006/relationships/tags" Target="../tags/tag209.xml"/><Relationship Id="rId20" Type="http://schemas.openxmlformats.org/officeDocument/2006/relationships/tags" Target="../tags/tag71.xml"/><Relationship Id="rId41" Type="http://schemas.openxmlformats.org/officeDocument/2006/relationships/tags" Target="../tags/tag92.xml"/><Relationship Id="rId62" Type="http://schemas.openxmlformats.org/officeDocument/2006/relationships/tags" Target="../tags/tag113.xml"/><Relationship Id="rId83" Type="http://schemas.openxmlformats.org/officeDocument/2006/relationships/tags" Target="../tags/tag134.xml"/><Relationship Id="rId88" Type="http://schemas.openxmlformats.org/officeDocument/2006/relationships/tags" Target="../tags/tag139.xml"/><Relationship Id="rId111" Type="http://schemas.openxmlformats.org/officeDocument/2006/relationships/tags" Target="../tags/tag162.xml"/><Relationship Id="rId132" Type="http://schemas.openxmlformats.org/officeDocument/2006/relationships/tags" Target="../tags/tag183.xml"/><Relationship Id="rId153" Type="http://schemas.openxmlformats.org/officeDocument/2006/relationships/tags" Target="../tags/tag204.xml"/><Relationship Id="rId174" Type="http://schemas.openxmlformats.org/officeDocument/2006/relationships/chart" Target="../charts/chart17.xml"/><Relationship Id="rId15" Type="http://schemas.openxmlformats.org/officeDocument/2006/relationships/tags" Target="../tags/tag66.xml"/><Relationship Id="rId36" Type="http://schemas.openxmlformats.org/officeDocument/2006/relationships/tags" Target="../tags/tag87.xml"/><Relationship Id="rId57" Type="http://schemas.openxmlformats.org/officeDocument/2006/relationships/tags" Target="../tags/tag108.xml"/><Relationship Id="rId106" Type="http://schemas.openxmlformats.org/officeDocument/2006/relationships/tags" Target="../tags/tag157.xml"/><Relationship Id="rId127" Type="http://schemas.openxmlformats.org/officeDocument/2006/relationships/tags" Target="../tags/tag178.xml"/><Relationship Id="rId10" Type="http://schemas.openxmlformats.org/officeDocument/2006/relationships/tags" Target="../tags/tag61.xml"/><Relationship Id="rId31" Type="http://schemas.openxmlformats.org/officeDocument/2006/relationships/tags" Target="../tags/tag82.xml"/><Relationship Id="rId52" Type="http://schemas.openxmlformats.org/officeDocument/2006/relationships/tags" Target="../tags/tag103.xml"/><Relationship Id="rId73" Type="http://schemas.openxmlformats.org/officeDocument/2006/relationships/tags" Target="../tags/tag124.xml"/><Relationship Id="rId78" Type="http://schemas.openxmlformats.org/officeDocument/2006/relationships/tags" Target="../tags/tag129.xml"/><Relationship Id="rId94" Type="http://schemas.openxmlformats.org/officeDocument/2006/relationships/tags" Target="../tags/tag145.xml"/><Relationship Id="rId99" Type="http://schemas.openxmlformats.org/officeDocument/2006/relationships/tags" Target="../tags/tag150.xml"/><Relationship Id="rId101" Type="http://schemas.openxmlformats.org/officeDocument/2006/relationships/tags" Target="../tags/tag152.xml"/><Relationship Id="rId122" Type="http://schemas.openxmlformats.org/officeDocument/2006/relationships/tags" Target="../tags/tag173.xml"/><Relationship Id="rId143" Type="http://schemas.openxmlformats.org/officeDocument/2006/relationships/tags" Target="../tags/tag194.xml"/><Relationship Id="rId148" Type="http://schemas.openxmlformats.org/officeDocument/2006/relationships/tags" Target="../tags/tag199.xml"/><Relationship Id="rId164" Type="http://schemas.openxmlformats.org/officeDocument/2006/relationships/tags" Target="../tags/tag215.xml"/><Relationship Id="rId169" Type="http://schemas.openxmlformats.org/officeDocument/2006/relationships/notesSlide" Target="../notesSlides/notesSlide6.xml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26" Type="http://schemas.openxmlformats.org/officeDocument/2006/relationships/tags" Target="../tags/tag77.xml"/><Relationship Id="rId47" Type="http://schemas.openxmlformats.org/officeDocument/2006/relationships/tags" Target="../tags/tag98.xml"/><Relationship Id="rId68" Type="http://schemas.openxmlformats.org/officeDocument/2006/relationships/tags" Target="../tags/tag119.xml"/><Relationship Id="rId89" Type="http://schemas.openxmlformats.org/officeDocument/2006/relationships/tags" Target="../tags/tag140.xml"/><Relationship Id="rId112" Type="http://schemas.openxmlformats.org/officeDocument/2006/relationships/tags" Target="../tags/tag163.xml"/><Relationship Id="rId133" Type="http://schemas.openxmlformats.org/officeDocument/2006/relationships/tags" Target="../tags/tag184.xml"/><Relationship Id="rId154" Type="http://schemas.openxmlformats.org/officeDocument/2006/relationships/tags" Target="../tags/tag205.xml"/><Relationship Id="rId175" Type="http://schemas.openxmlformats.org/officeDocument/2006/relationships/chart" Target="../charts/chart18.xml"/><Relationship Id="rId16" Type="http://schemas.openxmlformats.org/officeDocument/2006/relationships/tags" Target="../tags/tag67.xml"/><Relationship Id="rId37" Type="http://schemas.openxmlformats.org/officeDocument/2006/relationships/tags" Target="../tags/tag88.xml"/><Relationship Id="rId58" Type="http://schemas.openxmlformats.org/officeDocument/2006/relationships/tags" Target="../tags/tag109.xml"/><Relationship Id="rId79" Type="http://schemas.openxmlformats.org/officeDocument/2006/relationships/tags" Target="../tags/tag130.xml"/><Relationship Id="rId102" Type="http://schemas.openxmlformats.org/officeDocument/2006/relationships/tags" Target="../tags/tag153.xml"/><Relationship Id="rId123" Type="http://schemas.openxmlformats.org/officeDocument/2006/relationships/tags" Target="../tags/tag174.xml"/><Relationship Id="rId144" Type="http://schemas.openxmlformats.org/officeDocument/2006/relationships/tags" Target="../tags/tag195.xml"/><Relationship Id="rId90" Type="http://schemas.openxmlformats.org/officeDocument/2006/relationships/tags" Target="../tags/tag141.xml"/><Relationship Id="rId165" Type="http://schemas.openxmlformats.org/officeDocument/2006/relationships/tags" Target="../tags/tag216.xml"/><Relationship Id="rId27" Type="http://schemas.openxmlformats.org/officeDocument/2006/relationships/tags" Target="../tags/tag78.xml"/><Relationship Id="rId48" Type="http://schemas.openxmlformats.org/officeDocument/2006/relationships/tags" Target="../tags/tag99.xml"/><Relationship Id="rId69" Type="http://schemas.openxmlformats.org/officeDocument/2006/relationships/tags" Target="../tags/tag120.xml"/><Relationship Id="rId113" Type="http://schemas.openxmlformats.org/officeDocument/2006/relationships/tags" Target="../tags/tag164.xml"/><Relationship Id="rId134" Type="http://schemas.openxmlformats.org/officeDocument/2006/relationships/tags" Target="../tags/tag185.xml"/><Relationship Id="rId80" Type="http://schemas.openxmlformats.org/officeDocument/2006/relationships/tags" Target="../tags/tag131.xml"/><Relationship Id="rId155" Type="http://schemas.openxmlformats.org/officeDocument/2006/relationships/tags" Target="../tags/tag206.xml"/><Relationship Id="rId17" Type="http://schemas.openxmlformats.org/officeDocument/2006/relationships/tags" Target="../tags/tag68.xml"/><Relationship Id="rId38" Type="http://schemas.openxmlformats.org/officeDocument/2006/relationships/tags" Target="../tags/tag89.xml"/><Relationship Id="rId59" Type="http://schemas.openxmlformats.org/officeDocument/2006/relationships/tags" Target="../tags/tag110.xml"/><Relationship Id="rId103" Type="http://schemas.openxmlformats.org/officeDocument/2006/relationships/tags" Target="../tags/tag154.xml"/><Relationship Id="rId124" Type="http://schemas.openxmlformats.org/officeDocument/2006/relationships/tags" Target="../tags/tag175.xml"/><Relationship Id="rId70" Type="http://schemas.openxmlformats.org/officeDocument/2006/relationships/tags" Target="../tags/tag121.xml"/><Relationship Id="rId91" Type="http://schemas.openxmlformats.org/officeDocument/2006/relationships/tags" Target="../tags/tag142.xml"/><Relationship Id="rId145" Type="http://schemas.openxmlformats.org/officeDocument/2006/relationships/tags" Target="../tags/tag196.xml"/><Relationship Id="rId166" Type="http://schemas.openxmlformats.org/officeDocument/2006/relationships/tags" Target="../tags/tag217.xml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tags" Target="../tags/tag334.xml"/><Relationship Id="rId21" Type="http://schemas.openxmlformats.org/officeDocument/2006/relationships/tags" Target="../tags/tag238.xml"/><Relationship Id="rId42" Type="http://schemas.openxmlformats.org/officeDocument/2006/relationships/tags" Target="../tags/tag259.xml"/><Relationship Id="rId63" Type="http://schemas.openxmlformats.org/officeDocument/2006/relationships/tags" Target="../tags/tag280.xml"/><Relationship Id="rId84" Type="http://schemas.openxmlformats.org/officeDocument/2006/relationships/tags" Target="../tags/tag301.xml"/><Relationship Id="rId138" Type="http://schemas.openxmlformats.org/officeDocument/2006/relationships/tags" Target="../tags/tag355.xml"/><Relationship Id="rId107" Type="http://schemas.openxmlformats.org/officeDocument/2006/relationships/tags" Target="../tags/tag324.xml"/><Relationship Id="rId11" Type="http://schemas.openxmlformats.org/officeDocument/2006/relationships/tags" Target="../tags/tag228.xml"/><Relationship Id="rId32" Type="http://schemas.openxmlformats.org/officeDocument/2006/relationships/tags" Target="../tags/tag249.xml"/><Relationship Id="rId53" Type="http://schemas.openxmlformats.org/officeDocument/2006/relationships/tags" Target="../tags/tag270.xml"/><Relationship Id="rId74" Type="http://schemas.openxmlformats.org/officeDocument/2006/relationships/tags" Target="../tags/tag291.xml"/><Relationship Id="rId128" Type="http://schemas.openxmlformats.org/officeDocument/2006/relationships/tags" Target="../tags/tag345.xml"/><Relationship Id="rId149" Type="http://schemas.openxmlformats.org/officeDocument/2006/relationships/tags" Target="../tags/tag366.xml"/><Relationship Id="rId5" Type="http://schemas.openxmlformats.org/officeDocument/2006/relationships/tags" Target="../tags/tag222.xml"/><Relationship Id="rId95" Type="http://schemas.openxmlformats.org/officeDocument/2006/relationships/tags" Target="../tags/tag312.xml"/><Relationship Id="rId22" Type="http://schemas.openxmlformats.org/officeDocument/2006/relationships/tags" Target="../tags/tag239.xml"/><Relationship Id="rId27" Type="http://schemas.openxmlformats.org/officeDocument/2006/relationships/tags" Target="../tags/tag244.xml"/><Relationship Id="rId43" Type="http://schemas.openxmlformats.org/officeDocument/2006/relationships/tags" Target="../tags/tag260.xml"/><Relationship Id="rId48" Type="http://schemas.openxmlformats.org/officeDocument/2006/relationships/tags" Target="../tags/tag265.xml"/><Relationship Id="rId64" Type="http://schemas.openxmlformats.org/officeDocument/2006/relationships/tags" Target="../tags/tag281.xml"/><Relationship Id="rId69" Type="http://schemas.openxmlformats.org/officeDocument/2006/relationships/tags" Target="../tags/tag286.xml"/><Relationship Id="rId113" Type="http://schemas.openxmlformats.org/officeDocument/2006/relationships/tags" Target="../tags/tag330.xml"/><Relationship Id="rId118" Type="http://schemas.openxmlformats.org/officeDocument/2006/relationships/tags" Target="../tags/tag335.xml"/><Relationship Id="rId134" Type="http://schemas.openxmlformats.org/officeDocument/2006/relationships/tags" Target="../tags/tag351.xml"/><Relationship Id="rId139" Type="http://schemas.openxmlformats.org/officeDocument/2006/relationships/tags" Target="../tags/tag356.xml"/><Relationship Id="rId80" Type="http://schemas.openxmlformats.org/officeDocument/2006/relationships/tags" Target="../tags/tag297.xml"/><Relationship Id="rId85" Type="http://schemas.openxmlformats.org/officeDocument/2006/relationships/tags" Target="../tags/tag302.xml"/><Relationship Id="rId150" Type="http://schemas.openxmlformats.org/officeDocument/2006/relationships/slideLayout" Target="../slideLayouts/slideLayout4.xml"/><Relationship Id="rId155" Type="http://schemas.openxmlformats.org/officeDocument/2006/relationships/chart" Target="../charts/chart20.xml"/><Relationship Id="rId12" Type="http://schemas.openxmlformats.org/officeDocument/2006/relationships/tags" Target="../tags/tag229.xml"/><Relationship Id="rId17" Type="http://schemas.openxmlformats.org/officeDocument/2006/relationships/tags" Target="../tags/tag234.xml"/><Relationship Id="rId33" Type="http://schemas.openxmlformats.org/officeDocument/2006/relationships/tags" Target="../tags/tag250.xml"/><Relationship Id="rId38" Type="http://schemas.openxmlformats.org/officeDocument/2006/relationships/tags" Target="../tags/tag255.xml"/><Relationship Id="rId59" Type="http://schemas.openxmlformats.org/officeDocument/2006/relationships/tags" Target="../tags/tag276.xml"/><Relationship Id="rId103" Type="http://schemas.openxmlformats.org/officeDocument/2006/relationships/tags" Target="../tags/tag320.xml"/><Relationship Id="rId108" Type="http://schemas.openxmlformats.org/officeDocument/2006/relationships/tags" Target="../tags/tag325.xml"/><Relationship Id="rId124" Type="http://schemas.openxmlformats.org/officeDocument/2006/relationships/tags" Target="../tags/tag341.xml"/><Relationship Id="rId129" Type="http://schemas.openxmlformats.org/officeDocument/2006/relationships/tags" Target="../tags/tag346.xml"/><Relationship Id="rId54" Type="http://schemas.openxmlformats.org/officeDocument/2006/relationships/tags" Target="../tags/tag271.xml"/><Relationship Id="rId70" Type="http://schemas.openxmlformats.org/officeDocument/2006/relationships/tags" Target="../tags/tag287.xml"/><Relationship Id="rId75" Type="http://schemas.openxmlformats.org/officeDocument/2006/relationships/tags" Target="../tags/tag292.xml"/><Relationship Id="rId91" Type="http://schemas.openxmlformats.org/officeDocument/2006/relationships/tags" Target="../tags/tag308.xml"/><Relationship Id="rId96" Type="http://schemas.openxmlformats.org/officeDocument/2006/relationships/tags" Target="../tags/tag313.xml"/><Relationship Id="rId140" Type="http://schemas.openxmlformats.org/officeDocument/2006/relationships/tags" Target="../tags/tag357.xml"/><Relationship Id="rId145" Type="http://schemas.openxmlformats.org/officeDocument/2006/relationships/tags" Target="../tags/tag362.xml"/><Relationship Id="rId1" Type="http://schemas.openxmlformats.org/officeDocument/2006/relationships/vmlDrawing" Target="../drawings/vmlDrawing15.vml"/><Relationship Id="rId6" Type="http://schemas.openxmlformats.org/officeDocument/2006/relationships/tags" Target="../tags/tag223.xml"/><Relationship Id="rId23" Type="http://schemas.openxmlformats.org/officeDocument/2006/relationships/tags" Target="../tags/tag240.xml"/><Relationship Id="rId28" Type="http://schemas.openxmlformats.org/officeDocument/2006/relationships/tags" Target="../tags/tag245.xml"/><Relationship Id="rId49" Type="http://schemas.openxmlformats.org/officeDocument/2006/relationships/tags" Target="../tags/tag266.xml"/><Relationship Id="rId114" Type="http://schemas.openxmlformats.org/officeDocument/2006/relationships/tags" Target="../tags/tag331.xml"/><Relationship Id="rId119" Type="http://schemas.openxmlformats.org/officeDocument/2006/relationships/tags" Target="../tags/tag336.xml"/><Relationship Id="rId44" Type="http://schemas.openxmlformats.org/officeDocument/2006/relationships/tags" Target="../tags/tag261.xml"/><Relationship Id="rId60" Type="http://schemas.openxmlformats.org/officeDocument/2006/relationships/tags" Target="../tags/tag277.xml"/><Relationship Id="rId65" Type="http://schemas.openxmlformats.org/officeDocument/2006/relationships/tags" Target="../tags/tag282.xml"/><Relationship Id="rId81" Type="http://schemas.openxmlformats.org/officeDocument/2006/relationships/tags" Target="../tags/tag298.xml"/><Relationship Id="rId86" Type="http://schemas.openxmlformats.org/officeDocument/2006/relationships/tags" Target="../tags/tag303.xml"/><Relationship Id="rId130" Type="http://schemas.openxmlformats.org/officeDocument/2006/relationships/tags" Target="../tags/tag347.xml"/><Relationship Id="rId135" Type="http://schemas.openxmlformats.org/officeDocument/2006/relationships/tags" Target="../tags/tag352.xml"/><Relationship Id="rId151" Type="http://schemas.openxmlformats.org/officeDocument/2006/relationships/notesSlide" Target="../notesSlides/notesSlide7.xml"/><Relationship Id="rId156" Type="http://schemas.openxmlformats.org/officeDocument/2006/relationships/chart" Target="../charts/chart21.xml"/><Relationship Id="rId13" Type="http://schemas.openxmlformats.org/officeDocument/2006/relationships/tags" Target="../tags/tag230.xml"/><Relationship Id="rId18" Type="http://schemas.openxmlformats.org/officeDocument/2006/relationships/tags" Target="../tags/tag235.xml"/><Relationship Id="rId39" Type="http://schemas.openxmlformats.org/officeDocument/2006/relationships/tags" Target="../tags/tag256.xml"/><Relationship Id="rId109" Type="http://schemas.openxmlformats.org/officeDocument/2006/relationships/tags" Target="../tags/tag326.xml"/><Relationship Id="rId34" Type="http://schemas.openxmlformats.org/officeDocument/2006/relationships/tags" Target="../tags/tag251.xml"/><Relationship Id="rId50" Type="http://schemas.openxmlformats.org/officeDocument/2006/relationships/tags" Target="../tags/tag267.xml"/><Relationship Id="rId55" Type="http://schemas.openxmlformats.org/officeDocument/2006/relationships/tags" Target="../tags/tag272.xml"/><Relationship Id="rId76" Type="http://schemas.openxmlformats.org/officeDocument/2006/relationships/tags" Target="../tags/tag293.xml"/><Relationship Id="rId97" Type="http://schemas.openxmlformats.org/officeDocument/2006/relationships/tags" Target="../tags/tag314.xml"/><Relationship Id="rId104" Type="http://schemas.openxmlformats.org/officeDocument/2006/relationships/tags" Target="../tags/tag321.xml"/><Relationship Id="rId120" Type="http://schemas.openxmlformats.org/officeDocument/2006/relationships/tags" Target="../tags/tag337.xml"/><Relationship Id="rId125" Type="http://schemas.openxmlformats.org/officeDocument/2006/relationships/tags" Target="../tags/tag342.xml"/><Relationship Id="rId141" Type="http://schemas.openxmlformats.org/officeDocument/2006/relationships/tags" Target="../tags/tag358.xml"/><Relationship Id="rId146" Type="http://schemas.openxmlformats.org/officeDocument/2006/relationships/tags" Target="../tags/tag363.xml"/><Relationship Id="rId7" Type="http://schemas.openxmlformats.org/officeDocument/2006/relationships/tags" Target="../tags/tag224.xml"/><Relationship Id="rId71" Type="http://schemas.openxmlformats.org/officeDocument/2006/relationships/tags" Target="../tags/tag288.xml"/><Relationship Id="rId92" Type="http://schemas.openxmlformats.org/officeDocument/2006/relationships/tags" Target="../tags/tag309.xml"/><Relationship Id="rId2" Type="http://schemas.openxmlformats.org/officeDocument/2006/relationships/tags" Target="../tags/tag219.xml"/><Relationship Id="rId29" Type="http://schemas.openxmlformats.org/officeDocument/2006/relationships/tags" Target="../tags/tag246.xml"/><Relationship Id="rId24" Type="http://schemas.openxmlformats.org/officeDocument/2006/relationships/tags" Target="../tags/tag241.xml"/><Relationship Id="rId40" Type="http://schemas.openxmlformats.org/officeDocument/2006/relationships/tags" Target="../tags/tag257.xml"/><Relationship Id="rId45" Type="http://schemas.openxmlformats.org/officeDocument/2006/relationships/tags" Target="../tags/tag262.xml"/><Relationship Id="rId66" Type="http://schemas.openxmlformats.org/officeDocument/2006/relationships/tags" Target="../tags/tag283.xml"/><Relationship Id="rId87" Type="http://schemas.openxmlformats.org/officeDocument/2006/relationships/tags" Target="../tags/tag304.xml"/><Relationship Id="rId110" Type="http://schemas.openxmlformats.org/officeDocument/2006/relationships/tags" Target="../tags/tag327.xml"/><Relationship Id="rId115" Type="http://schemas.openxmlformats.org/officeDocument/2006/relationships/tags" Target="../tags/tag332.xml"/><Relationship Id="rId131" Type="http://schemas.openxmlformats.org/officeDocument/2006/relationships/tags" Target="../tags/tag348.xml"/><Relationship Id="rId136" Type="http://schemas.openxmlformats.org/officeDocument/2006/relationships/tags" Target="../tags/tag353.xml"/><Relationship Id="rId61" Type="http://schemas.openxmlformats.org/officeDocument/2006/relationships/tags" Target="../tags/tag278.xml"/><Relationship Id="rId82" Type="http://schemas.openxmlformats.org/officeDocument/2006/relationships/tags" Target="../tags/tag299.xml"/><Relationship Id="rId152" Type="http://schemas.openxmlformats.org/officeDocument/2006/relationships/oleObject" Target="../embeddings/oleObject14.bin"/><Relationship Id="rId19" Type="http://schemas.openxmlformats.org/officeDocument/2006/relationships/tags" Target="../tags/tag236.xml"/><Relationship Id="rId14" Type="http://schemas.openxmlformats.org/officeDocument/2006/relationships/tags" Target="../tags/tag231.xml"/><Relationship Id="rId30" Type="http://schemas.openxmlformats.org/officeDocument/2006/relationships/tags" Target="../tags/tag247.xml"/><Relationship Id="rId35" Type="http://schemas.openxmlformats.org/officeDocument/2006/relationships/tags" Target="../tags/tag252.xml"/><Relationship Id="rId56" Type="http://schemas.openxmlformats.org/officeDocument/2006/relationships/tags" Target="../tags/tag273.xml"/><Relationship Id="rId77" Type="http://schemas.openxmlformats.org/officeDocument/2006/relationships/tags" Target="../tags/tag294.xml"/><Relationship Id="rId100" Type="http://schemas.openxmlformats.org/officeDocument/2006/relationships/tags" Target="../tags/tag317.xml"/><Relationship Id="rId105" Type="http://schemas.openxmlformats.org/officeDocument/2006/relationships/tags" Target="../tags/tag322.xml"/><Relationship Id="rId126" Type="http://schemas.openxmlformats.org/officeDocument/2006/relationships/tags" Target="../tags/tag343.xml"/><Relationship Id="rId147" Type="http://schemas.openxmlformats.org/officeDocument/2006/relationships/tags" Target="../tags/tag364.xml"/><Relationship Id="rId8" Type="http://schemas.openxmlformats.org/officeDocument/2006/relationships/tags" Target="../tags/tag225.xml"/><Relationship Id="rId51" Type="http://schemas.openxmlformats.org/officeDocument/2006/relationships/tags" Target="../tags/tag268.xml"/><Relationship Id="rId72" Type="http://schemas.openxmlformats.org/officeDocument/2006/relationships/tags" Target="../tags/tag289.xml"/><Relationship Id="rId93" Type="http://schemas.openxmlformats.org/officeDocument/2006/relationships/tags" Target="../tags/tag310.xml"/><Relationship Id="rId98" Type="http://schemas.openxmlformats.org/officeDocument/2006/relationships/tags" Target="../tags/tag315.xml"/><Relationship Id="rId121" Type="http://schemas.openxmlformats.org/officeDocument/2006/relationships/tags" Target="../tags/tag338.xml"/><Relationship Id="rId142" Type="http://schemas.openxmlformats.org/officeDocument/2006/relationships/tags" Target="../tags/tag359.xml"/><Relationship Id="rId3" Type="http://schemas.openxmlformats.org/officeDocument/2006/relationships/tags" Target="../tags/tag220.xml"/><Relationship Id="rId25" Type="http://schemas.openxmlformats.org/officeDocument/2006/relationships/tags" Target="../tags/tag242.xml"/><Relationship Id="rId46" Type="http://schemas.openxmlformats.org/officeDocument/2006/relationships/tags" Target="../tags/tag263.xml"/><Relationship Id="rId67" Type="http://schemas.openxmlformats.org/officeDocument/2006/relationships/tags" Target="../tags/tag284.xml"/><Relationship Id="rId116" Type="http://schemas.openxmlformats.org/officeDocument/2006/relationships/tags" Target="../tags/tag333.xml"/><Relationship Id="rId137" Type="http://schemas.openxmlformats.org/officeDocument/2006/relationships/tags" Target="../tags/tag354.xml"/><Relationship Id="rId20" Type="http://schemas.openxmlformats.org/officeDocument/2006/relationships/tags" Target="../tags/tag237.xml"/><Relationship Id="rId41" Type="http://schemas.openxmlformats.org/officeDocument/2006/relationships/tags" Target="../tags/tag258.xml"/><Relationship Id="rId62" Type="http://schemas.openxmlformats.org/officeDocument/2006/relationships/tags" Target="../tags/tag279.xml"/><Relationship Id="rId83" Type="http://schemas.openxmlformats.org/officeDocument/2006/relationships/tags" Target="../tags/tag300.xml"/><Relationship Id="rId88" Type="http://schemas.openxmlformats.org/officeDocument/2006/relationships/tags" Target="../tags/tag305.xml"/><Relationship Id="rId111" Type="http://schemas.openxmlformats.org/officeDocument/2006/relationships/tags" Target="../tags/tag328.xml"/><Relationship Id="rId132" Type="http://schemas.openxmlformats.org/officeDocument/2006/relationships/tags" Target="../tags/tag349.xml"/><Relationship Id="rId153" Type="http://schemas.openxmlformats.org/officeDocument/2006/relationships/image" Target="../media/image18.emf"/><Relationship Id="rId15" Type="http://schemas.openxmlformats.org/officeDocument/2006/relationships/tags" Target="../tags/tag232.xml"/><Relationship Id="rId36" Type="http://schemas.openxmlformats.org/officeDocument/2006/relationships/tags" Target="../tags/tag253.xml"/><Relationship Id="rId57" Type="http://schemas.openxmlformats.org/officeDocument/2006/relationships/tags" Target="../tags/tag274.xml"/><Relationship Id="rId106" Type="http://schemas.openxmlformats.org/officeDocument/2006/relationships/tags" Target="../tags/tag323.xml"/><Relationship Id="rId127" Type="http://schemas.openxmlformats.org/officeDocument/2006/relationships/tags" Target="../tags/tag344.xml"/><Relationship Id="rId10" Type="http://schemas.openxmlformats.org/officeDocument/2006/relationships/tags" Target="../tags/tag227.xml"/><Relationship Id="rId31" Type="http://schemas.openxmlformats.org/officeDocument/2006/relationships/tags" Target="../tags/tag248.xml"/><Relationship Id="rId52" Type="http://schemas.openxmlformats.org/officeDocument/2006/relationships/tags" Target="../tags/tag269.xml"/><Relationship Id="rId73" Type="http://schemas.openxmlformats.org/officeDocument/2006/relationships/tags" Target="../tags/tag290.xml"/><Relationship Id="rId78" Type="http://schemas.openxmlformats.org/officeDocument/2006/relationships/tags" Target="../tags/tag295.xml"/><Relationship Id="rId94" Type="http://schemas.openxmlformats.org/officeDocument/2006/relationships/tags" Target="../tags/tag311.xml"/><Relationship Id="rId99" Type="http://schemas.openxmlformats.org/officeDocument/2006/relationships/tags" Target="../tags/tag316.xml"/><Relationship Id="rId101" Type="http://schemas.openxmlformats.org/officeDocument/2006/relationships/tags" Target="../tags/tag318.xml"/><Relationship Id="rId122" Type="http://schemas.openxmlformats.org/officeDocument/2006/relationships/tags" Target="../tags/tag339.xml"/><Relationship Id="rId143" Type="http://schemas.openxmlformats.org/officeDocument/2006/relationships/tags" Target="../tags/tag360.xml"/><Relationship Id="rId148" Type="http://schemas.openxmlformats.org/officeDocument/2006/relationships/tags" Target="../tags/tag365.xml"/><Relationship Id="rId4" Type="http://schemas.openxmlformats.org/officeDocument/2006/relationships/tags" Target="../tags/tag221.xml"/><Relationship Id="rId9" Type="http://schemas.openxmlformats.org/officeDocument/2006/relationships/tags" Target="../tags/tag226.xml"/><Relationship Id="rId26" Type="http://schemas.openxmlformats.org/officeDocument/2006/relationships/tags" Target="../tags/tag243.xml"/><Relationship Id="rId47" Type="http://schemas.openxmlformats.org/officeDocument/2006/relationships/tags" Target="../tags/tag264.xml"/><Relationship Id="rId68" Type="http://schemas.openxmlformats.org/officeDocument/2006/relationships/tags" Target="../tags/tag285.xml"/><Relationship Id="rId89" Type="http://schemas.openxmlformats.org/officeDocument/2006/relationships/tags" Target="../tags/tag306.xml"/><Relationship Id="rId112" Type="http://schemas.openxmlformats.org/officeDocument/2006/relationships/tags" Target="../tags/tag329.xml"/><Relationship Id="rId133" Type="http://schemas.openxmlformats.org/officeDocument/2006/relationships/tags" Target="../tags/tag350.xml"/><Relationship Id="rId154" Type="http://schemas.openxmlformats.org/officeDocument/2006/relationships/chart" Target="../charts/chart19.xml"/><Relationship Id="rId16" Type="http://schemas.openxmlformats.org/officeDocument/2006/relationships/tags" Target="../tags/tag233.xml"/><Relationship Id="rId37" Type="http://schemas.openxmlformats.org/officeDocument/2006/relationships/tags" Target="../tags/tag254.xml"/><Relationship Id="rId58" Type="http://schemas.openxmlformats.org/officeDocument/2006/relationships/tags" Target="../tags/tag275.xml"/><Relationship Id="rId79" Type="http://schemas.openxmlformats.org/officeDocument/2006/relationships/tags" Target="../tags/tag296.xml"/><Relationship Id="rId102" Type="http://schemas.openxmlformats.org/officeDocument/2006/relationships/tags" Target="../tags/tag319.xml"/><Relationship Id="rId123" Type="http://schemas.openxmlformats.org/officeDocument/2006/relationships/tags" Target="../tags/tag340.xml"/><Relationship Id="rId144" Type="http://schemas.openxmlformats.org/officeDocument/2006/relationships/tags" Target="../tags/tag361.xml"/><Relationship Id="rId90" Type="http://schemas.openxmlformats.org/officeDocument/2006/relationships/tags" Target="../tags/tag30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0040" y="3399757"/>
            <a:ext cx="8130175" cy="761747"/>
          </a:xfrm>
          <a:prstGeom prst="rect">
            <a:avLst/>
          </a:prstGeom>
          <a:noFill/>
        </p:spPr>
        <p:txBody>
          <a:bodyPr wrap="none" lIns="114300" tIns="57150" rIns="114300" bIns="57150" rtlCol="0">
            <a:spAutoFit/>
          </a:bodyPr>
          <a:lstStyle/>
          <a:p>
            <a:pPr algn="ctr"/>
            <a:r>
              <a:rPr lang="ru-RU" sz="4200" b="1" dirty="0">
                <a:solidFill>
                  <a:srgbClr val="003D8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ПРЕЗЕНТАЦИЯ О КОМПАНИИ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7108" y="4600781"/>
            <a:ext cx="1920589" cy="1100301"/>
          </a:xfrm>
          <a:prstGeom prst="rect">
            <a:avLst/>
          </a:prstGeom>
          <a:noFill/>
        </p:spPr>
        <p:txBody>
          <a:bodyPr wrap="none" lIns="114300" tIns="57150" rIns="114300" bIns="57150" rtlCol="0">
            <a:spAutoFit/>
          </a:bodyPr>
          <a:lstStyle/>
          <a:p>
            <a:pPr algn="ctr"/>
            <a:r>
              <a:rPr lang="ru-RU" sz="1600" b="1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Докладчик: </a:t>
            </a:r>
            <a:r>
              <a:rPr lang="ru-RU" sz="1600" kern="1400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ФИО</a:t>
            </a:r>
          </a:p>
          <a:p>
            <a:pPr algn="ctr"/>
            <a:r>
              <a:rPr lang="ru-RU" sz="1600" kern="1400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должность</a:t>
            </a:r>
            <a:endParaRPr lang="en-US" sz="1600" kern="1400" dirty="0">
              <a:solidFill>
                <a:srgbClr val="003264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algn="ctr"/>
            <a:endParaRPr lang="ru-RU" sz="1600" b="1" dirty="0">
              <a:solidFill>
                <a:srgbClr val="003264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algn="ctr"/>
            <a:r>
              <a:rPr lang="ru-RU" sz="1600" b="1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Дата: </a:t>
            </a:r>
            <a:r>
              <a:rPr lang="ru-RU" sz="1600" kern="1400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1506770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5155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3694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Picture 2" descr="C:\Users\Zedd\Desktop\screenshot\Image 03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461" y="762857"/>
            <a:ext cx="11297320" cy="6147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0061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Picture 2" descr="C:\Users\Zedd\Desktop\screenshot\Image 03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989" y="1051405"/>
            <a:ext cx="9725159" cy="5417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4752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ED484D-4680-4154-B99B-8C1766176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205" dirty="0">
                <a:latin typeface="Arial" panose="020B0604020202020204" pitchFamily="34" charset="0"/>
                <a:cs typeface="Arial" panose="020B0604020202020204" pitchFamily="34" charset="0"/>
              </a:rPr>
              <a:t>Шрифты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90C363-F7D0-47B4-B4E6-F5FA540B1A68}"/>
              </a:ext>
            </a:extLst>
          </p:cNvPr>
          <p:cNvSpPr txBox="1"/>
          <p:nvPr/>
        </p:nvSpPr>
        <p:spPr>
          <a:xfrm>
            <a:off x="643742" y="2350484"/>
            <a:ext cx="3147238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8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544" b="1" dirty="0">
                <a:solidFill>
                  <a:schemeClr val="bg1">
                    <a:lumMod val="6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Подзаголовки</a:t>
            </a:r>
            <a:endParaRPr lang="ru-RU" sz="1654" b="1" dirty="0">
              <a:solidFill>
                <a:schemeClr val="bg1">
                  <a:lumMod val="6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r>
              <a:rPr lang="en-US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Liberation Sans Bold 1</a:t>
            </a:r>
            <a:r>
              <a:rPr lang="ru-RU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2</a:t>
            </a:r>
            <a:r>
              <a:rPr lang="en-US" sz="1323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pt</a:t>
            </a:r>
            <a:endParaRPr lang="ru-RU" sz="1323" dirty="0">
              <a:solidFill>
                <a:schemeClr val="tx1">
                  <a:lumMod val="75000"/>
                  <a:lumOff val="2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endParaRPr lang="ru-RU" sz="1323" dirty="0">
              <a:solidFill>
                <a:schemeClr val="tx1">
                  <a:lumMod val="75000"/>
                  <a:lumOff val="2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r>
              <a:rPr lang="ru-RU" sz="1323" b="1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Выделение в тексте, вар 1</a:t>
            </a:r>
          </a:p>
          <a:p>
            <a:r>
              <a:rPr lang="en-US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Liberation Sans Bold 1</a:t>
            </a:r>
            <a:r>
              <a:rPr lang="ru-RU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2</a:t>
            </a:r>
            <a:r>
              <a:rPr lang="en-US" sz="1323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pt</a:t>
            </a:r>
            <a:endParaRPr lang="ru-RU" sz="1323" dirty="0">
              <a:solidFill>
                <a:schemeClr val="tx1">
                  <a:lumMod val="75000"/>
                  <a:lumOff val="2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endParaRPr lang="en-US" sz="1764" dirty="0">
              <a:solidFill>
                <a:schemeClr val="tx1">
                  <a:lumMod val="75000"/>
                  <a:lumOff val="2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defTabSz="1008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323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Основной</a:t>
            </a:r>
            <a:endParaRPr lang="ru-RU" sz="1654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r>
              <a:rPr lang="en-US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Liberation Sans</a:t>
            </a:r>
            <a:r>
              <a:rPr lang="en-US" sz="1323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1</a:t>
            </a:r>
            <a:r>
              <a:rPr lang="ru-RU" sz="1323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2</a:t>
            </a:r>
            <a:r>
              <a:rPr lang="en-US" sz="1323" dirty="0" err="1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pt</a:t>
            </a:r>
            <a:r>
              <a:rPr lang="en-US" sz="1323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, 11pt</a:t>
            </a:r>
            <a:endParaRPr lang="ru-RU" sz="1323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endParaRPr lang="ru-RU" sz="1323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189024" indent="-189024" defTabSz="1008126" fontAlgn="base">
              <a:spcBef>
                <a:spcPct val="0"/>
              </a:spcBef>
              <a:spcAft>
                <a:spcPct val="0"/>
              </a:spcAft>
              <a:buClr>
                <a:srgbClr val="F08800"/>
              </a:buClr>
              <a:buFont typeface="Arial" panose="020B0604020202020204" pitchFamily="34" charset="0"/>
              <a:buChar char="•"/>
              <a:defRPr/>
            </a:pPr>
            <a:r>
              <a:rPr lang="ru-RU" sz="1323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Буллиты</a:t>
            </a:r>
            <a:endParaRPr lang="ru-RU" sz="1654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r>
              <a:rPr lang="en-US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Liberation Sans</a:t>
            </a:r>
            <a:r>
              <a:rPr lang="en-US" sz="1323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1</a:t>
            </a:r>
            <a:r>
              <a:rPr lang="ru-RU" sz="1323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2</a:t>
            </a:r>
            <a:r>
              <a:rPr lang="en-US" sz="1323" dirty="0" err="1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pt</a:t>
            </a:r>
            <a:r>
              <a:rPr lang="en-US" sz="1323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, 11pt</a:t>
            </a:r>
            <a:endParaRPr lang="ru-RU" sz="1323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endParaRPr lang="en-US" sz="1323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defTabSz="1008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103" dirty="0">
                <a:solidFill>
                  <a:schemeClr val="bg1">
                    <a:lumMod val="6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Примечание</a:t>
            </a:r>
            <a:endParaRPr lang="ru-RU" sz="882" dirty="0">
              <a:solidFill>
                <a:schemeClr val="bg1">
                  <a:lumMod val="6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r>
              <a:rPr lang="en-US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Liberation Sans</a:t>
            </a:r>
            <a:r>
              <a:rPr lang="en-US" sz="1323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</a:t>
            </a:r>
            <a:r>
              <a:rPr lang="ru-RU" sz="1323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10</a:t>
            </a:r>
            <a:r>
              <a:rPr lang="en-US" sz="1323" dirty="0" err="1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pt</a:t>
            </a:r>
            <a:endParaRPr lang="ru-RU" sz="1764" dirty="0">
              <a:solidFill>
                <a:schemeClr val="tx1">
                  <a:lumMod val="75000"/>
                  <a:lumOff val="2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defTabSz="1008126" fontAlgn="base">
              <a:spcBef>
                <a:spcPct val="0"/>
              </a:spcBef>
              <a:spcAft>
                <a:spcPct val="0"/>
              </a:spcAft>
              <a:defRPr/>
            </a:pPr>
            <a:endParaRPr lang="ru-RU" sz="882" i="1" dirty="0">
              <a:solidFill>
                <a:schemeClr val="bg1">
                  <a:lumMod val="6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defTabSz="1008126" fontAlgn="base">
              <a:spcBef>
                <a:spcPct val="0"/>
              </a:spcBef>
              <a:spcAft>
                <a:spcPct val="0"/>
              </a:spcAft>
              <a:defRPr/>
            </a:pPr>
            <a:endParaRPr lang="ru-RU" sz="882" i="1" dirty="0">
              <a:solidFill>
                <a:schemeClr val="bg1">
                  <a:lumMod val="6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defTabSz="1008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882" i="1" dirty="0">
                <a:solidFill>
                  <a:schemeClr val="bg1">
                    <a:lumMod val="6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Сноски</a:t>
            </a:r>
          </a:p>
          <a:p>
            <a:r>
              <a:rPr lang="en-US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Liberation Sans</a:t>
            </a:r>
            <a:r>
              <a:rPr lang="en-US" sz="1323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8pt</a:t>
            </a:r>
            <a:endParaRPr lang="ru-RU" sz="1764" dirty="0">
              <a:solidFill>
                <a:schemeClr val="tx1">
                  <a:lumMod val="75000"/>
                  <a:lumOff val="2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endParaRPr lang="ru-RU" sz="1764" dirty="0">
              <a:solidFill>
                <a:schemeClr val="tx1">
                  <a:lumMod val="75000"/>
                  <a:lumOff val="2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DD76CC-07A3-4D62-99C1-70FA4B106DC0}"/>
              </a:ext>
            </a:extLst>
          </p:cNvPr>
          <p:cNvSpPr txBox="1"/>
          <p:nvPr/>
        </p:nvSpPr>
        <p:spPr>
          <a:xfrm>
            <a:off x="643742" y="1674558"/>
            <a:ext cx="2541826" cy="737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8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544" b="1" dirty="0">
                <a:solidFill>
                  <a:srgbClr val="F088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ЗАГОЛОВКОК ВАР 1</a:t>
            </a:r>
          </a:p>
          <a:p>
            <a:r>
              <a:rPr lang="en-US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Liberation Sans Bold 1</a:t>
            </a:r>
            <a:r>
              <a:rPr lang="ru-RU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4</a:t>
            </a:r>
            <a:r>
              <a:rPr lang="en-US" sz="1323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pt</a:t>
            </a:r>
            <a:r>
              <a:rPr lang="ru-RU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, </a:t>
            </a:r>
            <a:r>
              <a:rPr lang="en-US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16pt,</a:t>
            </a:r>
            <a:r>
              <a:rPr lang="ru-RU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</a:t>
            </a:r>
            <a:r>
              <a:rPr lang="en-US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All Caps</a:t>
            </a:r>
            <a:endParaRPr lang="ru-RU" sz="1764" dirty="0">
              <a:solidFill>
                <a:schemeClr val="tx1">
                  <a:lumMod val="75000"/>
                  <a:lumOff val="2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7" name="Скругленный прямоугольник 16">
            <a:extLst>
              <a:ext uri="{FF2B5EF4-FFF2-40B4-BE49-F238E27FC236}">
                <a16:creationId xmlns:a16="http://schemas.microsoft.com/office/drawing/2014/main" id="{BB601659-A5B1-49EF-8972-5627E77F9CE2}"/>
              </a:ext>
            </a:extLst>
          </p:cNvPr>
          <p:cNvSpPr/>
          <p:nvPr/>
        </p:nvSpPr>
        <p:spPr>
          <a:xfrm>
            <a:off x="4104852" y="1674557"/>
            <a:ext cx="2424203" cy="492320"/>
          </a:xfrm>
          <a:prstGeom prst="roundRect">
            <a:avLst>
              <a:gd name="adj" fmla="val 50000"/>
            </a:avLst>
          </a:prstGeom>
          <a:solidFill>
            <a:srgbClr val="0040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ru-RU" sz="1544" b="1" cap="all" dirty="0">
                <a:solidFill>
                  <a:schemeClr val="bg1">
                    <a:lumMod val="9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ЗАГОЛОВКОК ВАР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53A0CC-E8A3-4080-A06F-37057C0615AD}"/>
              </a:ext>
            </a:extLst>
          </p:cNvPr>
          <p:cNvSpPr txBox="1"/>
          <p:nvPr/>
        </p:nvSpPr>
        <p:spPr>
          <a:xfrm>
            <a:off x="3899428" y="2928452"/>
            <a:ext cx="2570002" cy="4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323" b="1" dirty="0">
                <a:solidFill>
                  <a:srgbClr val="F088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Выделение в тексте, вар 2</a:t>
            </a:r>
          </a:p>
          <a:p>
            <a:r>
              <a:rPr lang="en-US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Liberation Sans Bold 1</a:t>
            </a:r>
            <a:r>
              <a:rPr lang="ru-RU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2</a:t>
            </a:r>
            <a:r>
              <a:rPr lang="en-US" sz="1323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pt</a:t>
            </a:r>
            <a:endParaRPr lang="ru-RU" sz="1323" dirty="0">
              <a:solidFill>
                <a:schemeClr val="tx1">
                  <a:lumMod val="75000"/>
                  <a:lumOff val="2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CA3A2733-DBC5-4641-BF1A-97E52BB855D0}"/>
              </a:ext>
            </a:extLst>
          </p:cNvPr>
          <p:cNvCxnSpPr/>
          <p:nvPr/>
        </p:nvCxnSpPr>
        <p:spPr>
          <a:xfrm>
            <a:off x="3487778" y="1674557"/>
            <a:ext cx="0" cy="49232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B8FFF5-F098-4E45-9C71-D062CC71C49F}"/>
              </a:ext>
            </a:extLst>
          </p:cNvPr>
          <p:cNvCxnSpPr/>
          <p:nvPr/>
        </p:nvCxnSpPr>
        <p:spPr>
          <a:xfrm>
            <a:off x="3487778" y="2928452"/>
            <a:ext cx="0" cy="49232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D5ADF2DB-E943-46E4-99F3-0FBDD5DB8DFB}"/>
              </a:ext>
            </a:extLst>
          </p:cNvPr>
          <p:cNvGrpSpPr/>
          <p:nvPr/>
        </p:nvGrpSpPr>
        <p:grpSpPr>
          <a:xfrm>
            <a:off x="8908807" y="2394386"/>
            <a:ext cx="2821211" cy="906915"/>
            <a:chOff x="2318420" y="2758174"/>
            <a:chExt cx="2558314" cy="821940"/>
          </a:xfrm>
        </p:grpSpPr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918733D7-F0F8-4E18-8619-A1D51C3C6F49}"/>
                </a:ext>
              </a:extLst>
            </p:cNvPr>
            <p:cNvSpPr/>
            <p:nvPr/>
          </p:nvSpPr>
          <p:spPr>
            <a:xfrm>
              <a:off x="2318420" y="2758174"/>
              <a:ext cx="1100440" cy="82194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ru-RU" sz="3528" b="1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28</a:t>
              </a:r>
              <a:br>
                <a:rPr lang="ru-RU" sz="3528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</a:br>
              <a:r>
                <a:rPr lang="ru-RU" sz="1544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млрд </a:t>
              </a:r>
              <a:br>
                <a:rPr lang="ru-RU" sz="1544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</a:br>
              <a:r>
                <a:rPr lang="ru-RU" sz="1544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руб.</a:t>
              </a:r>
              <a:endParaRPr lang="ru-RU" sz="1985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16" name="Round Same Side Corner Rectangle 58">
              <a:extLst>
                <a:ext uri="{FF2B5EF4-FFF2-40B4-BE49-F238E27FC236}">
                  <a16:creationId xmlns:a16="http://schemas.microsoft.com/office/drawing/2014/main" id="{EC41B849-27B0-4A1F-A0EC-60210BFC5516}"/>
                </a:ext>
              </a:extLst>
            </p:cNvPr>
            <p:cNvSpPr/>
            <p:nvPr/>
          </p:nvSpPr>
          <p:spPr>
            <a:xfrm rot="10800000" flipH="1">
              <a:off x="3411652" y="2834820"/>
              <a:ext cx="36000" cy="611535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F18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1920" tIns="120960" rIns="241920" bIns="120960" rtlCol="0" anchor="ctr"/>
            <a:lstStyle/>
            <a:p>
              <a:pPr algn="ctr"/>
              <a:endParaRPr lang="bg-BG" sz="2536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E0CBC041-22C2-4EF9-BA30-2C61825C4269}"/>
                </a:ext>
              </a:extLst>
            </p:cNvPr>
            <p:cNvSpPr/>
            <p:nvPr/>
          </p:nvSpPr>
          <p:spPr>
            <a:xfrm>
              <a:off x="3433805" y="2931016"/>
              <a:ext cx="1442929" cy="477335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ru-RU" sz="1764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Выручка </a:t>
              </a:r>
              <a:br>
                <a:rPr lang="en-US" sz="1764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</a:br>
              <a:r>
                <a:rPr lang="ru-RU" sz="1764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к 2030 г.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59C79D5-CC75-411C-BBFA-279E3922565C}"/>
              </a:ext>
            </a:extLst>
          </p:cNvPr>
          <p:cNvSpPr txBox="1"/>
          <p:nvPr/>
        </p:nvSpPr>
        <p:spPr>
          <a:xfrm>
            <a:off x="8341905" y="1777324"/>
            <a:ext cx="2570002" cy="29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323" b="1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Оформление цифр</a:t>
            </a:r>
            <a:endParaRPr lang="ru-RU" sz="1323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AD26FFAB-847F-4CAC-93B6-9D2809492364}"/>
              </a:ext>
            </a:extLst>
          </p:cNvPr>
          <p:cNvSpPr/>
          <p:nvPr/>
        </p:nvSpPr>
        <p:spPr>
          <a:xfrm>
            <a:off x="8247236" y="1674557"/>
            <a:ext cx="3345284" cy="2741016"/>
          </a:xfrm>
          <a:prstGeom prst="roundRect">
            <a:avLst>
              <a:gd name="adj" fmla="val 4064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536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032FA7EE-EDC3-4D28-8B5E-D39E310E4662}"/>
              </a:ext>
            </a:extLst>
          </p:cNvPr>
          <p:cNvCxnSpPr/>
          <p:nvPr/>
        </p:nvCxnSpPr>
        <p:spPr>
          <a:xfrm>
            <a:off x="9810746" y="3357313"/>
            <a:ext cx="0" cy="49232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3E0BC7AE-FC9C-4391-A9C3-FBFF7A20867D}"/>
              </a:ext>
            </a:extLst>
          </p:cNvPr>
          <p:cNvCxnSpPr/>
          <p:nvPr/>
        </p:nvCxnSpPr>
        <p:spPr>
          <a:xfrm>
            <a:off x="10635612" y="3357313"/>
            <a:ext cx="0" cy="49232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5B197528-B08E-46C5-BDF3-99B866CDA83B}"/>
              </a:ext>
            </a:extLst>
          </p:cNvPr>
          <p:cNvCxnSpPr>
            <a:cxnSpLocks/>
          </p:cNvCxnSpPr>
          <p:nvPr/>
        </p:nvCxnSpPr>
        <p:spPr>
          <a:xfrm>
            <a:off x="9017110" y="2688107"/>
            <a:ext cx="34747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EE791E9-8E62-4097-87FF-E7DD44CDF2F4}"/>
              </a:ext>
            </a:extLst>
          </p:cNvPr>
          <p:cNvSpPr txBox="1"/>
          <p:nvPr/>
        </p:nvSpPr>
        <p:spPr>
          <a:xfrm>
            <a:off x="10199382" y="3843925"/>
            <a:ext cx="944046" cy="4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Liberation Sans 1</a:t>
            </a:r>
            <a:r>
              <a:rPr lang="ru-RU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6</a:t>
            </a:r>
            <a:r>
              <a:rPr lang="en-US" sz="1323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pt</a:t>
            </a:r>
            <a:endParaRPr lang="ru-RU" sz="1323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CEB425-3376-49FA-ACF8-E4A94B48C4A9}"/>
              </a:ext>
            </a:extLst>
          </p:cNvPr>
          <p:cNvSpPr txBox="1"/>
          <p:nvPr/>
        </p:nvSpPr>
        <p:spPr>
          <a:xfrm>
            <a:off x="8401809" y="2441100"/>
            <a:ext cx="958355" cy="906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Liberation Sans </a:t>
            </a:r>
            <a:br>
              <a:rPr lang="ru-RU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en-US" sz="1323" b="1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Bold</a:t>
            </a:r>
            <a:endParaRPr lang="ru-RU" sz="1323" b="1" dirty="0">
              <a:solidFill>
                <a:schemeClr val="tx1">
                  <a:lumMod val="75000"/>
                  <a:lumOff val="2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r>
              <a:rPr lang="ru-RU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32</a:t>
            </a:r>
            <a:r>
              <a:rPr lang="en-US" sz="1323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pt</a:t>
            </a:r>
            <a:endParaRPr lang="ru-RU" sz="1323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1C6BB1E-F717-439F-ABE0-374D0E5AFECD}"/>
              </a:ext>
            </a:extLst>
          </p:cNvPr>
          <p:cNvSpPr txBox="1"/>
          <p:nvPr/>
        </p:nvSpPr>
        <p:spPr>
          <a:xfrm>
            <a:off x="9317280" y="3843925"/>
            <a:ext cx="944046" cy="4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Liberation Sans 1</a:t>
            </a:r>
            <a:r>
              <a:rPr lang="ru-RU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4</a:t>
            </a:r>
            <a:r>
              <a:rPr lang="en-US" sz="1323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pt</a:t>
            </a:r>
            <a:endParaRPr lang="ru-RU" sz="1323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9645089A-4081-4DD8-9A64-C8767C24F895}"/>
              </a:ext>
            </a:extLst>
          </p:cNvPr>
          <p:cNvSpPr/>
          <p:nvPr/>
        </p:nvSpPr>
        <p:spPr>
          <a:xfrm>
            <a:off x="4104852" y="3809304"/>
            <a:ext cx="2424203" cy="2077401"/>
          </a:xfrm>
          <a:prstGeom prst="roundRect">
            <a:avLst>
              <a:gd name="adj" fmla="val 8073"/>
            </a:avLst>
          </a:prstGeom>
          <a:solidFill>
            <a:srgbClr val="00396A"/>
          </a:solidFill>
          <a:ln>
            <a:noFill/>
          </a:ln>
        </p:spPr>
        <p:txBody>
          <a:bodyPr wrap="square" lIns="198646" tIns="57555" rIns="198646" bIns="57555" anchor="ctr">
            <a:noAutofit/>
          </a:bodyPr>
          <a:lstStyle/>
          <a:p>
            <a:pPr defTabSz="1142502"/>
            <a:r>
              <a:rPr lang="ru-RU" altLang="ru-RU" sz="1544" b="1" dirty="0">
                <a:solidFill>
                  <a:schemeClr val="bg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ВАЖНАЯ ИНФОРМАЦИЯ </a:t>
            </a:r>
          </a:p>
          <a:p>
            <a:pPr defTabSz="1142502"/>
            <a:r>
              <a:rPr lang="ru-RU" altLang="ru-RU" sz="1544" b="1" dirty="0">
                <a:solidFill>
                  <a:schemeClr val="bg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ИЛИ ВЫВОД</a:t>
            </a:r>
          </a:p>
          <a:p>
            <a:pPr defTabSz="1142502"/>
            <a:endParaRPr lang="ru-RU" altLang="ru-RU" sz="1544" b="1" dirty="0">
              <a:solidFill>
                <a:schemeClr val="bg1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defTabSz="1142502"/>
            <a:r>
              <a:rPr lang="en-US" sz="1323" dirty="0">
                <a:solidFill>
                  <a:schemeClr val="bg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Liberation Sans</a:t>
            </a:r>
            <a:r>
              <a:rPr lang="en-US" altLang="ru-RU" sz="1323" dirty="0">
                <a:solidFill>
                  <a:schemeClr val="bg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Bold 16pt</a:t>
            </a:r>
          </a:p>
          <a:p>
            <a:pPr defTabSz="1142502"/>
            <a:r>
              <a:rPr lang="en-US" altLang="ru-RU" sz="1323" dirty="0">
                <a:solidFill>
                  <a:schemeClr val="bg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All Caps</a:t>
            </a:r>
            <a:endParaRPr lang="ru-RU" altLang="ru-RU" sz="1323" dirty="0">
              <a:solidFill>
                <a:schemeClr val="bg1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40" name="Freeform 7">
            <a:extLst>
              <a:ext uri="{FF2B5EF4-FFF2-40B4-BE49-F238E27FC236}">
                <a16:creationId xmlns:a16="http://schemas.microsoft.com/office/drawing/2014/main" id="{51CD2041-C4AA-4B31-B47D-11F2A1D989A0}"/>
              </a:ext>
            </a:extLst>
          </p:cNvPr>
          <p:cNvSpPr>
            <a:spLocks/>
          </p:cNvSpPr>
          <p:nvPr/>
        </p:nvSpPr>
        <p:spPr bwMode="auto">
          <a:xfrm flipH="1" flipV="1">
            <a:off x="3746725" y="3826392"/>
            <a:ext cx="378988" cy="716285"/>
          </a:xfrm>
          <a:custGeom>
            <a:avLst/>
            <a:gdLst>
              <a:gd name="T0" fmla="*/ 0 w 287"/>
              <a:gd name="T1" fmla="*/ 0 h 671"/>
              <a:gd name="T2" fmla="*/ 0 w 287"/>
              <a:gd name="T3" fmla="*/ 394 h 671"/>
              <a:gd name="T4" fmla="*/ 287 w 287"/>
              <a:gd name="T5" fmla="*/ 671 h 671"/>
              <a:gd name="T6" fmla="*/ 0 w 287"/>
              <a:gd name="T7" fmla="*/ 0 h 671"/>
              <a:gd name="T8" fmla="*/ 0 w 287"/>
              <a:gd name="T9" fmla="*/ 0 h 6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7" h="671">
                <a:moveTo>
                  <a:pt x="0" y="0"/>
                </a:moveTo>
                <a:lnTo>
                  <a:pt x="0" y="394"/>
                </a:lnTo>
                <a:lnTo>
                  <a:pt x="287" y="671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396A"/>
          </a:solidFill>
          <a:ln>
            <a:noFill/>
          </a:ln>
        </p:spPr>
        <p:txBody>
          <a:bodyPr vert="horz" wrap="square" lIns="100912" tIns="50456" rIns="100912" bIns="50456" numCol="1" anchor="t" anchorCtr="0" compatLnSpc="1">
            <a:prstTxWarp prst="textNoShape">
              <a:avLst/>
            </a:prstTxWarp>
          </a:bodyPr>
          <a:lstStyle/>
          <a:p>
            <a:endParaRPr lang="ru-RU" sz="1103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94543C-C42A-4E48-A5A4-74CBB7918D38}"/>
              </a:ext>
            </a:extLst>
          </p:cNvPr>
          <p:cNvSpPr txBox="1"/>
          <p:nvPr/>
        </p:nvSpPr>
        <p:spPr>
          <a:xfrm>
            <a:off x="4106088" y="2232740"/>
            <a:ext cx="2570002" cy="4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Liberation Sans Bold 1</a:t>
            </a:r>
            <a:r>
              <a:rPr lang="ru-RU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4</a:t>
            </a:r>
            <a:r>
              <a:rPr lang="en-US" sz="1323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pt</a:t>
            </a:r>
            <a:r>
              <a:rPr lang="ru-RU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, </a:t>
            </a:r>
            <a:r>
              <a:rPr lang="en-US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16pt,</a:t>
            </a:r>
            <a:r>
              <a:rPr lang="ru-RU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</a:t>
            </a:r>
            <a:r>
              <a:rPr lang="en-US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All Caps</a:t>
            </a:r>
            <a:endParaRPr lang="ru-RU" sz="1764" dirty="0">
              <a:solidFill>
                <a:schemeClr val="tx1">
                  <a:lumMod val="75000"/>
                  <a:lumOff val="2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graphicFrame>
        <p:nvGraphicFramePr>
          <p:cNvPr id="50" name="Chart 3">
            <a:extLst>
              <a:ext uri="{FF2B5EF4-FFF2-40B4-BE49-F238E27FC236}">
                <a16:creationId xmlns:a16="http://schemas.microsoft.com/office/drawing/2014/main" id="{B7E1395B-5ACF-4901-833E-D53D79DE3F36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0598457"/>
              </p:ext>
            </p:extLst>
          </p:nvPr>
        </p:nvGraphicFramePr>
        <p:xfrm>
          <a:off x="8820606" y="5449429"/>
          <a:ext cx="2555427" cy="10862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1" name="Текст 2">
            <a:extLst>
              <a:ext uri="{FF2B5EF4-FFF2-40B4-BE49-F238E27FC236}">
                <a16:creationId xmlns:a16="http://schemas.microsoft.com/office/drawing/2014/main" id="{7B8272C8-5A68-443E-AFB6-22E478782B2E}"/>
              </a:ext>
            </a:extLst>
          </p:cNvPr>
          <p:cNvSpPr>
            <a:spLocks noGrp="1"/>
          </p:cNvSpPr>
          <p:nvPr>
            <p:custDataLst>
              <p:tags r:id="rId2"/>
            </p:custDataLst>
          </p:nvPr>
        </p:nvSpPr>
        <p:spPr bwMode="auto">
          <a:xfrm>
            <a:off x="9400481" y="6535722"/>
            <a:ext cx="413069" cy="27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149766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ru-RU" sz="1103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+mn-lt"/>
              </a:rPr>
              <a:t>2020</a:t>
            </a:r>
          </a:p>
        </p:txBody>
      </p:sp>
      <p:sp>
        <p:nvSpPr>
          <p:cNvPr id="52" name="Текст 2">
            <a:extLst>
              <a:ext uri="{FF2B5EF4-FFF2-40B4-BE49-F238E27FC236}">
                <a16:creationId xmlns:a16="http://schemas.microsoft.com/office/drawing/2014/main" id="{743C8937-3BB7-46A7-8F90-7C3960C67587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auto">
          <a:xfrm>
            <a:off x="10331637" y="6535722"/>
            <a:ext cx="413069" cy="27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149766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ru-RU" altLang="en-US" sz="1103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2021</a:t>
            </a:r>
            <a:endParaRPr lang="ru-RU" sz="1103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+mn-lt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297E50-115D-4BD2-BB88-631149ACA767}"/>
              </a:ext>
            </a:extLst>
          </p:cNvPr>
          <p:cNvSpPr txBox="1"/>
          <p:nvPr/>
        </p:nvSpPr>
        <p:spPr>
          <a:xfrm>
            <a:off x="8401809" y="4749032"/>
            <a:ext cx="3074232" cy="523268"/>
          </a:xfrm>
          <a:prstGeom prst="rect">
            <a:avLst/>
          </a:prstGeom>
          <a:noFill/>
        </p:spPr>
        <p:txBody>
          <a:bodyPr wrap="square" lIns="114981" tIns="57491" rIns="114981" bIns="57491" rtlCol="0">
            <a:spAutoFit/>
          </a:bodyPr>
          <a:lstStyle>
            <a:defPPr>
              <a:defRPr lang="ru-RU"/>
            </a:defPPr>
            <a:lvl1pPr>
              <a:defRPr cap="all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algn="ctr" defTabSz="1008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323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 диаграммы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23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Liberation Sans bold 1</a:t>
            </a:r>
            <a:r>
              <a:rPr lang="ru-RU" sz="1323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2</a:t>
            </a:r>
            <a:r>
              <a:rPr lang="en-US" sz="1323" cap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pt</a:t>
            </a:r>
            <a:r>
              <a:rPr lang="ru-RU" sz="1323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, </a:t>
            </a:r>
            <a:r>
              <a:rPr lang="en-US" sz="1323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all caps</a:t>
            </a:r>
            <a:endParaRPr lang="ru-RU" sz="1323" b="1" dirty="0">
              <a:solidFill>
                <a:srgbClr val="F184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cxnSp>
        <p:nvCxnSpPr>
          <p:cNvPr id="54" name="Прямая соединительная линия 53">
            <a:extLst>
              <a:ext uri="{FF2B5EF4-FFF2-40B4-BE49-F238E27FC236}">
                <a16:creationId xmlns:a16="http://schemas.microsoft.com/office/drawing/2014/main" id="{7760D911-2A62-4F21-8390-9600FF251F81}"/>
              </a:ext>
            </a:extLst>
          </p:cNvPr>
          <p:cNvCxnSpPr>
            <a:cxnSpLocks/>
          </p:cNvCxnSpPr>
          <p:nvPr/>
        </p:nvCxnSpPr>
        <p:spPr>
          <a:xfrm>
            <a:off x="8820606" y="5717856"/>
            <a:ext cx="34747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74992F89-732D-48AE-9BDC-241DFD0C5806}"/>
              </a:ext>
            </a:extLst>
          </p:cNvPr>
          <p:cNvSpPr txBox="1"/>
          <p:nvPr/>
        </p:nvSpPr>
        <p:spPr>
          <a:xfrm>
            <a:off x="8205306" y="5470849"/>
            <a:ext cx="976919" cy="906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Liberation Sans </a:t>
            </a:r>
            <a:br>
              <a:rPr lang="ru-RU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en-US" sz="1323" b="1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Bold</a:t>
            </a:r>
            <a:endParaRPr lang="ru-RU" sz="1323" b="1" dirty="0">
              <a:solidFill>
                <a:schemeClr val="tx1">
                  <a:lumMod val="75000"/>
                  <a:lumOff val="2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r>
              <a:rPr lang="en-US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12pt</a:t>
            </a:r>
            <a:endParaRPr lang="ru-RU" sz="1323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D1E5F1DC-27BA-41E2-B2BA-BED229D43F7A}"/>
              </a:ext>
            </a:extLst>
          </p:cNvPr>
          <p:cNvCxnSpPr>
            <a:cxnSpLocks/>
          </p:cNvCxnSpPr>
          <p:nvPr/>
        </p:nvCxnSpPr>
        <p:spPr>
          <a:xfrm>
            <a:off x="8820606" y="6601634"/>
            <a:ext cx="34747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CC89A0E7-B39B-4CE7-927A-3B753E389C23}"/>
              </a:ext>
            </a:extLst>
          </p:cNvPr>
          <p:cNvSpPr txBox="1"/>
          <p:nvPr/>
        </p:nvSpPr>
        <p:spPr>
          <a:xfrm>
            <a:off x="8205306" y="6245328"/>
            <a:ext cx="976919" cy="703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Liberation Sans </a:t>
            </a:r>
            <a:br>
              <a:rPr lang="ru-RU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en-US" sz="1323" dirty="0">
                <a:solidFill>
                  <a:schemeClr val="tx1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10pt</a:t>
            </a:r>
            <a:endParaRPr lang="ru-RU" sz="1323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215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1">
            <a:extLst>
              <a:ext uri="{FF2B5EF4-FFF2-40B4-BE49-F238E27FC236}">
                <a16:creationId xmlns:a16="http://schemas.microsoft.com/office/drawing/2014/main" id="{02462CF9-0822-43E7-87B9-43F790C96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772" y="2737889"/>
            <a:ext cx="10626618" cy="252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9779" tIns="54890" rIns="109779" bIns="54890">
            <a:spAutoFit/>
          </a:bodyPr>
          <a:lstStyle/>
          <a:p>
            <a:r>
              <a:rPr lang="ru-RU" altLang="ru-RU" sz="2205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Вопрос 1: </a:t>
            </a:r>
          </a:p>
          <a:p>
            <a:r>
              <a:rPr lang="ru-RU" altLang="ru-RU" sz="2205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 вопроса</a:t>
            </a:r>
          </a:p>
          <a:p>
            <a:endParaRPr lang="ru-RU" altLang="ru-RU" sz="2205" dirty="0">
              <a:solidFill>
                <a:srgbClr val="003264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endParaRPr lang="ru-RU" altLang="ru-RU" sz="1874" dirty="0">
              <a:solidFill>
                <a:srgbClr val="003264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endParaRPr lang="en-US" altLang="ru-RU" sz="1874" dirty="0">
              <a:solidFill>
                <a:srgbClr val="003264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r>
              <a:rPr lang="ru-RU" altLang="ru-RU" sz="1764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Докладчик: </a:t>
            </a:r>
          </a:p>
          <a:p>
            <a:r>
              <a:rPr lang="ru-RU" altLang="ru-RU" sz="1764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ФИО,</a:t>
            </a:r>
          </a:p>
          <a:p>
            <a:r>
              <a:rPr lang="ru-RU" altLang="ru-RU" sz="1764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должность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5541170-284D-4CDB-AD16-BA4474BEABA5}"/>
              </a:ext>
            </a:extLst>
          </p:cNvPr>
          <p:cNvSpPr txBox="1">
            <a:spLocks/>
          </p:cNvSpPr>
          <p:nvPr/>
        </p:nvSpPr>
        <p:spPr>
          <a:xfrm>
            <a:off x="570772" y="702798"/>
            <a:ext cx="11208028" cy="10982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 РАЗДЕЛА </a:t>
            </a:r>
          </a:p>
          <a:p>
            <a:r>
              <a:rPr lang="ru-RU" sz="3200" b="1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ИЛИ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568907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Диаграмма 24">
            <a:extLst>
              <a:ext uri="{FF2B5EF4-FFF2-40B4-BE49-F238E27FC236}">
                <a16:creationId xmlns:a16="http://schemas.microsoft.com/office/drawing/2014/main" id="{3694F991-9971-4C50-8F97-89D0010BBF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8146398"/>
              </p:ext>
            </p:extLst>
          </p:nvPr>
        </p:nvGraphicFramePr>
        <p:xfrm>
          <a:off x="5011830" y="1113381"/>
          <a:ext cx="7755806" cy="34890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слайда с диаграммами и таблицей</a:t>
            </a:r>
          </a:p>
        </p:txBody>
      </p:sp>
      <p:sp>
        <p:nvSpPr>
          <p:cNvPr id="241" name="Рисунок 4">
            <a:extLst>
              <a:ext uri="{FF2B5EF4-FFF2-40B4-BE49-F238E27FC236}">
                <a16:creationId xmlns:a16="http://schemas.microsoft.com/office/drawing/2014/main" id="{C504C441-C2D6-4886-B984-A0EB436BA072}"/>
              </a:ext>
            </a:extLst>
          </p:cNvPr>
          <p:cNvSpPr/>
          <p:nvPr/>
        </p:nvSpPr>
        <p:spPr>
          <a:xfrm>
            <a:off x="1840139" y="837051"/>
            <a:ext cx="13349" cy="13349"/>
          </a:xfrm>
          <a:custGeom>
            <a:avLst/>
            <a:gdLst/>
            <a:ahLst/>
            <a:cxnLst/>
            <a:rect l="l" t="t" r="r" b="b"/>
            <a:pathLst>
              <a:path w="12107" h="12107"/>
            </a:pathLst>
          </a:custGeom>
          <a:solidFill>
            <a:srgbClr val="EF7500"/>
          </a:solidFill>
          <a:ln w="12101" cap="flat">
            <a:noFill/>
            <a:prstDash val="solid"/>
            <a:miter/>
          </a:ln>
        </p:spPr>
        <p:txBody>
          <a:bodyPr rtlCol="0" anchor="ctr"/>
          <a:lstStyle/>
          <a:p>
            <a:endParaRPr lang="ru-RU" sz="2536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42" name="Рисунок 4">
            <a:extLst>
              <a:ext uri="{FF2B5EF4-FFF2-40B4-BE49-F238E27FC236}">
                <a16:creationId xmlns:a16="http://schemas.microsoft.com/office/drawing/2014/main" id="{D00EADF4-21DE-4495-A2F1-83400C4AAADC}"/>
              </a:ext>
            </a:extLst>
          </p:cNvPr>
          <p:cNvSpPr/>
          <p:nvPr/>
        </p:nvSpPr>
        <p:spPr>
          <a:xfrm>
            <a:off x="1840139" y="837051"/>
            <a:ext cx="13349" cy="13349"/>
          </a:xfrm>
          <a:custGeom>
            <a:avLst/>
            <a:gdLst/>
            <a:ahLst/>
            <a:cxnLst/>
            <a:rect l="l" t="t" r="r" b="b"/>
            <a:pathLst>
              <a:path w="12107" h="12107"/>
            </a:pathLst>
          </a:custGeom>
          <a:noFill/>
          <a:ln w="605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ru-RU" sz="2536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graphicFrame>
        <p:nvGraphicFramePr>
          <p:cNvPr id="802" name="Diagramma1">
            <a:extLst>
              <a:ext uri="{FF2B5EF4-FFF2-40B4-BE49-F238E27FC236}">
                <a16:creationId xmlns:a16="http://schemas.microsoft.com/office/drawing/2014/main" id="{B921CF9E-89B4-4F1F-BC77-A988E55A26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027417"/>
              </p:ext>
            </p:extLst>
          </p:nvPr>
        </p:nvGraphicFramePr>
        <p:xfrm>
          <a:off x="535576" y="1613965"/>
          <a:ext cx="4108260" cy="25128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03" name="TextBox 802">
            <a:extLst>
              <a:ext uri="{FF2B5EF4-FFF2-40B4-BE49-F238E27FC236}">
                <a16:creationId xmlns:a16="http://schemas.microsoft.com/office/drawing/2014/main" id="{DDC2A7BC-031C-449B-8817-AD8465A940AC}"/>
              </a:ext>
            </a:extLst>
          </p:cNvPr>
          <p:cNvSpPr txBox="1"/>
          <p:nvPr/>
        </p:nvSpPr>
        <p:spPr>
          <a:xfrm>
            <a:off x="535577" y="884890"/>
            <a:ext cx="11818563" cy="4742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algn="ctr">
              <a:defRPr sz="1400">
                <a:solidFill>
                  <a:srgbClr val="F5791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 sz="16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ЗАГОЛОВОК ДИАГРАММЫ</a:t>
            </a:r>
          </a:p>
          <a:p>
            <a:r>
              <a:rPr lang="ru-RU" sz="80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МЛРД РУБ. (С УЧЁТОМ НДС)</a:t>
            </a:r>
          </a:p>
        </p:txBody>
      </p:sp>
      <p:sp>
        <p:nvSpPr>
          <p:cNvPr id="811" name="Прямоугольник 810">
            <a:extLst>
              <a:ext uri="{FF2B5EF4-FFF2-40B4-BE49-F238E27FC236}">
                <a16:creationId xmlns:a16="http://schemas.microsoft.com/office/drawing/2014/main" id="{28C758C3-644C-4C06-9486-1E87D44B52FB}"/>
              </a:ext>
            </a:extLst>
          </p:cNvPr>
          <p:cNvSpPr/>
          <p:nvPr/>
        </p:nvSpPr>
        <p:spPr>
          <a:xfrm>
            <a:off x="3882274" y="2477464"/>
            <a:ext cx="2103174" cy="689018"/>
          </a:xfrm>
          <a:prstGeom prst="rect">
            <a:avLst/>
          </a:prstGeom>
        </p:spPr>
        <p:txBody>
          <a:bodyPr wrap="square" lIns="114981" tIns="57491" rIns="114981" bIns="57491">
            <a:spAutoFit/>
          </a:bodyPr>
          <a:lstStyle/>
          <a:p>
            <a:pPr defTabSz="1149766"/>
            <a:r>
              <a:rPr lang="ru-RU" sz="12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</a:t>
            </a:r>
          </a:p>
          <a:p>
            <a:pPr defTabSz="1149766"/>
            <a:r>
              <a:rPr lang="ru-RU" sz="12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параметра</a:t>
            </a:r>
          </a:p>
          <a:p>
            <a:pPr defTabSz="1149766"/>
            <a:r>
              <a:rPr lang="en-US" sz="882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</a:t>
            </a:r>
            <a:r>
              <a:rPr lang="ru-RU" sz="1323" b="1" dirty="0">
                <a:solidFill>
                  <a:srgbClr val="FF99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19,1</a:t>
            </a:r>
            <a:endParaRPr lang="ru-RU" sz="882" b="1" dirty="0">
              <a:solidFill>
                <a:srgbClr val="FF99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812" name="TextBox 811">
            <a:extLst>
              <a:ext uri="{FF2B5EF4-FFF2-40B4-BE49-F238E27FC236}">
                <a16:creationId xmlns:a16="http://schemas.microsoft.com/office/drawing/2014/main" id="{776EA58E-CCEE-46A9-951C-15C2A4062D4A}"/>
              </a:ext>
            </a:extLst>
          </p:cNvPr>
          <p:cNvSpPr txBox="1"/>
          <p:nvPr/>
        </p:nvSpPr>
        <p:spPr>
          <a:xfrm>
            <a:off x="1803117" y="2647150"/>
            <a:ext cx="1566840" cy="421573"/>
          </a:xfrm>
          <a:prstGeom prst="rect">
            <a:avLst/>
          </a:prstGeom>
          <a:noFill/>
        </p:spPr>
        <p:txBody>
          <a:bodyPr wrap="square" lIns="114981" tIns="57491" rIns="114981" bIns="57491" rtlCol="0">
            <a:spAutoFit/>
          </a:bodyPr>
          <a:lstStyle/>
          <a:p>
            <a:pPr algn="ctr" defTabSz="1149766"/>
            <a:r>
              <a:rPr lang="ru-RU" sz="1985" b="1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37,8</a:t>
            </a:r>
          </a:p>
        </p:txBody>
      </p:sp>
      <p:sp>
        <p:nvSpPr>
          <p:cNvPr id="815" name="Прямоугольник 814">
            <a:extLst>
              <a:ext uri="{FF2B5EF4-FFF2-40B4-BE49-F238E27FC236}">
                <a16:creationId xmlns:a16="http://schemas.microsoft.com/office/drawing/2014/main" id="{EA6F051E-85F2-4A1A-92AB-A42D2574B770}"/>
              </a:ext>
            </a:extLst>
          </p:cNvPr>
          <p:cNvSpPr/>
          <p:nvPr/>
        </p:nvSpPr>
        <p:spPr>
          <a:xfrm>
            <a:off x="535577" y="3072707"/>
            <a:ext cx="1452981" cy="689018"/>
          </a:xfrm>
          <a:prstGeom prst="rect">
            <a:avLst/>
          </a:prstGeom>
        </p:spPr>
        <p:txBody>
          <a:bodyPr wrap="square" lIns="114981" tIns="57491" rIns="114981" bIns="57491">
            <a:spAutoFit/>
          </a:bodyPr>
          <a:lstStyle/>
          <a:p>
            <a:pPr defTabSz="1149766"/>
            <a:r>
              <a:rPr lang="ru-RU" sz="12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</a:t>
            </a:r>
          </a:p>
          <a:p>
            <a:pPr defTabSz="1149766"/>
            <a:r>
              <a:rPr lang="ru-RU" sz="12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параметра</a:t>
            </a:r>
          </a:p>
          <a:p>
            <a:pPr defTabSz="1149766"/>
            <a:r>
              <a:rPr lang="en-US" sz="882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</a:t>
            </a:r>
            <a:r>
              <a:rPr lang="ru-RU" sz="1323" b="1" dirty="0">
                <a:solidFill>
                  <a:srgbClr val="FF99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19,1</a:t>
            </a:r>
            <a:endParaRPr lang="ru-RU" sz="882" b="1" dirty="0">
              <a:solidFill>
                <a:srgbClr val="FF99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810" name="Прямоугольник 809">
            <a:extLst>
              <a:ext uri="{FF2B5EF4-FFF2-40B4-BE49-F238E27FC236}">
                <a16:creationId xmlns:a16="http://schemas.microsoft.com/office/drawing/2014/main" id="{4DDED884-68B8-4349-B2D3-5C86F9C9E6EC}"/>
              </a:ext>
            </a:extLst>
          </p:cNvPr>
          <p:cNvSpPr/>
          <p:nvPr/>
        </p:nvSpPr>
        <p:spPr>
          <a:xfrm>
            <a:off x="3882275" y="3364017"/>
            <a:ext cx="2103174" cy="672091"/>
          </a:xfrm>
          <a:prstGeom prst="rect">
            <a:avLst/>
          </a:prstGeom>
        </p:spPr>
        <p:txBody>
          <a:bodyPr wrap="square" lIns="114981" tIns="57491" rIns="114981" bIns="57491">
            <a:spAutoFit/>
          </a:bodyPr>
          <a:lstStyle/>
          <a:p>
            <a:pPr defTabSz="1149766"/>
            <a:r>
              <a:rPr lang="ru-RU" sz="12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</a:t>
            </a:r>
          </a:p>
          <a:p>
            <a:pPr defTabSz="1149766"/>
            <a:r>
              <a:rPr lang="ru-RU" sz="12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параметра</a:t>
            </a:r>
          </a:p>
          <a:p>
            <a:pPr defTabSz="1149766"/>
            <a:r>
              <a:rPr lang="en-US" sz="772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</a:t>
            </a:r>
            <a:r>
              <a:rPr lang="ru-RU" sz="1213" b="1" dirty="0">
                <a:solidFill>
                  <a:srgbClr val="FF99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19,1</a:t>
            </a:r>
            <a:endParaRPr lang="ru-RU" sz="772" b="1" dirty="0">
              <a:solidFill>
                <a:srgbClr val="FF99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816" name="Прямоугольник 815">
            <a:extLst>
              <a:ext uri="{FF2B5EF4-FFF2-40B4-BE49-F238E27FC236}">
                <a16:creationId xmlns:a16="http://schemas.microsoft.com/office/drawing/2014/main" id="{D0325165-0EC9-4B24-9E73-16DB0041291A}"/>
              </a:ext>
            </a:extLst>
          </p:cNvPr>
          <p:cNvSpPr/>
          <p:nvPr/>
        </p:nvSpPr>
        <p:spPr>
          <a:xfrm>
            <a:off x="3564707" y="1616539"/>
            <a:ext cx="2103174" cy="689019"/>
          </a:xfrm>
          <a:prstGeom prst="rect">
            <a:avLst/>
          </a:prstGeom>
        </p:spPr>
        <p:txBody>
          <a:bodyPr wrap="square" lIns="114981" tIns="57491" rIns="114981" bIns="57491">
            <a:spAutoFit/>
          </a:bodyPr>
          <a:lstStyle/>
          <a:p>
            <a:pPr defTabSz="1149766"/>
            <a:r>
              <a:rPr lang="ru-RU" sz="12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</a:t>
            </a:r>
          </a:p>
          <a:p>
            <a:pPr defTabSz="1149766"/>
            <a:r>
              <a:rPr lang="ru-RU" sz="12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параметра</a:t>
            </a:r>
          </a:p>
          <a:p>
            <a:pPr defTabSz="1149766"/>
            <a:r>
              <a:rPr lang="en-US" sz="882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</a:t>
            </a:r>
            <a:r>
              <a:rPr lang="ru-RU" sz="1323" b="1" dirty="0">
                <a:solidFill>
                  <a:srgbClr val="FF99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19,1</a:t>
            </a:r>
            <a:endParaRPr lang="ru-RU" sz="882" b="1" dirty="0">
              <a:solidFill>
                <a:srgbClr val="FF99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820" name="Прямоугольник: скругленные углы 819">
            <a:extLst>
              <a:ext uri="{FF2B5EF4-FFF2-40B4-BE49-F238E27FC236}">
                <a16:creationId xmlns:a16="http://schemas.microsoft.com/office/drawing/2014/main" id="{B3243283-2601-44F2-AF62-27CD7775EF4C}"/>
              </a:ext>
            </a:extLst>
          </p:cNvPr>
          <p:cNvSpPr/>
          <p:nvPr/>
        </p:nvSpPr>
        <p:spPr>
          <a:xfrm>
            <a:off x="548458" y="6266779"/>
            <a:ext cx="12219178" cy="636432"/>
          </a:xfrm>
          <a:prstGeom prst="roundRect">
            <a:avLst>
              <a:gd name="adj" fmla="val 17974"/>
            </a:avLst>
          </a:prstGeom>
          <a:solidFill>
            <a:srgbClr val="00396A"/>
          </a:solidFill>
          <a:ln>
            <a:noFill/>
          </a:ln>
        </p:spPr>
        <p:txBody>
          <a:bodyPr wrap="square" lIns="198646" tIns="57555" rIns="198646" bIns="57555" anchor="ctr">
            <a:noAutofit/>
          </a:bodyPr>
          <a:lstStyle/>
          <a:p>
            <a:pPr algn="ctr"/>
            <a:r>
              <a:rPr lang="ru-RU" sz="1544" b="1" dirty="0">
                <a:solidFill>
                  <a:schemeClr val="bg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ВАЖНАЯ ИНФОРМАЦИЯ ИЛИ ВЫВОД</a:t>
            </a:r>
          </a:p>
        </p:txBody>
      </p:sp>
      <p:grpSp>
        <p:nvGrpSpPr>
          <p:cNvPr id="821" name="Группа 820">
            <a:extLst>
              <a:ext uri="{FF2B5EF4-FFF2-40B4-BE49-F238E27FC236}">
                <a16:creationId xmlns:a16="http://schemas.microsoft.com/office/drawing/2014/main" id="{34BCD7B6-B51D-41F1-8FBB-F80828398033}"/>
              </a:ext>
            </a:extLst>
          </p:cNvPr>
          <p:cNvGrpSpPr/>
          <p:nvPr/>
        </p:nvGrpSpPr>
        <p:grpSpPr>
          <a:xfrm>
            <a:off x="888089" y="6392826"/>
            <a:ext cx="373978" cy="373978"/>
            <a:chOff x="967160" y="6278578"/>
            <a:chExt cx="419100" cy="419100"/>
          </a:xfrm>
        </p:grpSpPr>
        <p:sp>
          <p:nvSpPr>
            <p:cNvPr id="822" name="Рисунок 4">
              <a:extLst>
                <a:ext uri="{FF2B5EF4-FFF2-40B4-BE49-F238E27FC236}">
                  <a16:creationId xmlns:a16="http://schemas.microsoft.com/office/drawing/2014/main" id="{FE450E9A-010F-4E64-9F94-BEC90581AA71}"/>
                </a:ext>
              </a:extLst>
            </p:cNvPr>
            <p:cNvSpPr/>
            <p:nvPr/>
          </p:nvSpPr>
          <p:spPr>
            <a:xfrm>
              <a:off x="967160" y="6278578"/>
              <a:ext cx="419100" cy="419100"/>
            </a:xfrm>
            <a:custGeom>
              <a:avLst/>
              <a:gdLst>
                <a:gd name="connsiteX0" fmla="*/ 419100 w 419100"/>
                <a:gd name="connsiteY0" fmla="*/ 209550 h 419100"/>
                <a:gd name="connsiteX1" fmla="*/ 209550 w 419100"/>
                <a:gd name="connsiteY1" fmla="*/ 419100 h 419100"/>
                <a:gd name="connsiteX2" fmla="*/ 0 w 419100"/>
                <a:gd name="connsiteY2" fmla="*/ 209550 h 419100"/>
                <a:gd name="connsiteX3" fmla="*/ 209550 w 419100"/>
                <a:gd name="connsiteY3" fmla="*/ 0 h 419100"/>
                <a:gd name="connsiteX4" fmla="*/ 419100 w 419100"/>
                <a:gd name="connsiteY4" fmla="*/ 209550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9100" h="419100">
                  <a:moveTo>
                    <a:pt x="419100" y="209550"/>
                  </a:moveTo>
                  <a:cubicBezTo>
                    <a:pt x="419100" y="325281"/>
                    <a:pt x="325281" y="419100"/>
                    <a:pt x="209550" y="419100"/>
                  </a:cubicBezTo>
                  <a:cubicBezTo>
                    <a:pt x="93819" y="419100"/>
                    <a:pt x="0" y="325281"/>
                    <a:pt x="0" y="209550"/>
                  </a:cubicBezTo>
                  <a:cubicBezTo>
                    <a:pt x="0" y="93819"/>
                    <a:pt x="93819" y="0"/>
                    <a:pt x="209550" y="0"/>
                  </a:cubicBezTo>
                  <a:cubicBezTo>
                    <a:pt x="325281" y="0"/>
                    <a:pt x="419100" y="93819"/>
                    <a:pt x="419100" y="209550"/>
                  </a:cubicBezTo>
                  <a:close/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sz="2536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823" name="Рисунок 4">
              <a:extLst>
                <a:ext uri="{FF2B5EF4-FFF2-40B4-BE49-F238E27FC236}">
                  <a16:creationId xmlns:a16="http://schemas.microsoft.com/office/drawing/2014/main" id="{1AB868B8-3ED4-490F-BDC6-C75DF68BE34D}"/>
                </a:ext>
              </a:extLst>
            </p:cNvPr>
            <p:cNvSpPr/>
            <p:nvPr/>
          </p:nvSpPr>
          <p:spPr>
            <a:xfrm>
              <a:off x="1176710" y="6342395"/>
              <a:ext cx="9525" cy="175260"/>
            </a:xfrm>
            <a:custGeom>
              <a:avLst/>
              <a:gdLst>
                <a:gd name="connsiteX0" fmla="*/ 0 w 9525"/>
                <a:gd name="connsiteY0" fmla="*/ 0 h 175260"/>
                <a:gd name="connsiteX1" fmla="*/ 0 w 9525"/>
                <a:gd name="connsiteY1" fmla="*/ 175260 h 17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75260">
                  <a:moveTo>
                    <a:pt x="0" y="0"/>
                  </a:moveTo>
                  <a:lnTo>
                    <a:pt x="0" y="175260"/>
                  </a:lnTo>
                </a:path>
              </a:pathLst>
            </a:custGeom>
            <a:ln w="1905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sz="2536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824" name="Рисунок 4">
              <a:extLst>
                <a:ext uri="{FF2B5EF4-FFF2-40B4-BE49-F238E27FC236}">
                  <a16:creationId xmlns:a16="http://schemas.microsoft.com/office/drawing/2014/main" id="{B185C8F4-0F2A-479B-BA2B-BCF273EC9405}"/>
                </a:ext>
              </a:extLst>
            </p:cNvPr>
            <p:cNvSpPr/>
            <p:nvPr/>
          </p:nvSpPr>
          <p:spPr>
            <a:xfrm>
              <a:off x="1176710" y="6570043"/>
              <a:ext cx="9525" cy="48577"/>
            </a:xfrm>
            <a:custGeom>
              <a:avLst/>
              <a:gdLst>
                <a:gd name="connsiteX0" fmla="*/ 0 w 9525"/>
                <a:gd name="connsiteY0" fmla="*/ 0 h 48577"/>
                <a:gd name="connsiteX1" fmla="*/ 0 w 9525"/>
                <a:gd name="connsiteY1" fmla="*/ 48577 h 48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48577">
                  <a:moveTo>
                    <a:pt x="0" y="0"/>
                  </a:moveTo>
                  <a:lnTo>
                    <a:pt x="0" y="48577"/>
                  </a:lnTo>
                </a:path>
              </a:pathLst>
            </a:custGeom>
            <a:ln w="1905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sz="2536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</p:grpSp>
      <p:graphicFrame>
        <p:nvGraphicFramePr>
          <p:cNvPr id="28" name="Таблица 27">
            <a:extLst>
              <a:ext uri="{FF2B5EF4-FFF2-40B4-BE49-F238E27FC236}">
                <a16:creationId xmlns:a16="http://schemas.microsoft.com/office/drawing/2014/main" id="{B9C7DC79-75CD-442F-8FDC-DCE5D1630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098154"/>
              </p:ext>
            </p:extLst>
          </p:nvPr>
        </p:nvGraphicFramePr>
        <p:xfrm>
          <a:off x="548457" y="4322309"/>
          <a:ext cx="12219181" cy="1731877"/>
        </p:xfrm>
        <a:graphic>
          <a:graphicData uri="http://schemas.openxmlformats.org/drawingml/2006/table">
            <a:tbl>
              <a:tblPr/>
              <a:tblGrid>
                <a:gridCol w="4017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0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6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8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53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3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53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7411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 dirty="0"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Показатель</a:t>
                      </a:r>
                      <a:endParaRPr lang="ru-RU" sz="1000" b="1" i="0" u="none" strike="noStrike" dirty="0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0408" marR="50408" marT="39692" marB="39692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Заголовок 1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Заголовок 2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41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План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Факт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% исп.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План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Факт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% исп.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411">
                <a:tc>
                  <a:txBody>
                    <a:bodyPr/>
                    <a:lstStyle/>
                    <a:p>
                      <a:pPr marL="0" marR="0" lvl="0" indent="0" algn="l" defTabSz="104299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Наименование параметра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1,9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1,0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50,7%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3,6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3,3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90,0%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411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Наименование параметра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1,9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1,0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50,7%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3,6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3,3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90,0%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411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Наименование параметра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7,5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7,0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93,1%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8,7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8,1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9</a:t>
                      </a:r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3,4%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411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Наименование параметра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0,8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0,0%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7,3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77865"/>
                  </a:ext>
                </a:extLst>
              </a:tr>
              <a:tr h="247411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Наименование параметра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24,8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20,4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82,4%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32,7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37,8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115,6%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7729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370013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Слайд think-cell" r:id="rId6" imgW="216" imgH="216" progId="TCLayout.ActiveDocument.1">
                  <p:embed/>
                </p:oleObj>
              </mc:Choice>
              <mc:Fallback>
                <p:oleObj name="Слайд think-cell" r:id="rId6" imgW="216" imgH="216" progId="TCLayout.ActiveDocument.1">
                  <p:embed/>
                  <p:pic>
                    <p:nvPicPr>
                      <p:cNvPr id="3" name="Объект 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70013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Прямоугольник 26" hidden="1"/>
          <p:cNvSpPr/>
          <p:nvPr>
            <p:custDataLst>
              <p:tags r:id="rId3"/>
            </p:custDataLst>
          </p:nvPr>
        </p:nvSpPr>
        <p:spPr>
          <a:xfrm>
            <a:off x="1368425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ru-RU" sz="2150" dirty="0">
              <a:latin typeface="Calibri"/>
              <a:sym typeface="Calibri"/>
            </a:endParaRPr>
          </a:p>
        </p:txBody>
      </p:sp>
      <p:graphicFrame>
        <p:nvGraphicFramePr>
          <p:cNvPr id="56" name="Таблица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246969"/>
              </p:ext>
            </p:extLst>
          </p:nvPr>
        </p:nvGraphicFramePr>
        <p:xfrm>
          <a:off x="659069" y="4073496"/>
          <a:ext cx="12014165" cy="20242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3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7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7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76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6272">
                <a:tc>
                  <a:txBody>
                    <a:bodyPr/>
                    <a:lstStyle/>
                    <a:p>
                      <a:endParaRPr lang="ru-RU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088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r>
                        <a:rPr lang="ru-RU" sz="1200" b="1" dirty="0">
                          <a:solidFill>
                            <a:srgbClr val="F088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088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</a:t>
                      </a:r>
                      <a:endParaRPr lang="ru-RU" sz="1200" b="1" dirty="0">
                        <a:solidFill>
                          <a:srgbClr val="F088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088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2030</a:t>
                      </a:r>
                      <a:endParaRPr lang="ru-RU" sz="1200" b="1" dirty="0">
                        <a:solidFill>
                          <a:srgbClr val="F088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305">
                <a:tc>
                  <a:txBody>
                    <a:bodyPr/>
                    <a:lstStyle/>
                    <a:p>
                      <a:pPr marL="0" marR="0" lvl="0" indent="0" algn="l" defTabSz="104299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Наименование параметра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млрд руб.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142</a:t>
                      </a: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320</a:t>
                      </a: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305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Наименование параметра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104299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%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ato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~14</a:t>
                      </a: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≥1</a:t>
                      </a: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3%</a:t>
                      </a: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≥1</a:t>
                      </a: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4%</a:t>
                      </a: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305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Наименование параметра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104299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%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ato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&gt;18%</a:t>
                      </a:r>
                      <a:endParaRPr lang="ru-RU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20%</a:t>
                      </a: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305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Наименование параметра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104299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млрд </a:t>
                      </a:r>
                      <a:r>
                        <a:rPr lang="ru-RU" sz="12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кВтч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ato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20,9</a:t>
                      </a:r>
                      <a:endParaRPr lang="ru-RU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≥</a:t>
                      </a: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,2</a:t>
                      </a:r>
                      <a:endParaRPr lang="ru-RU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≥1</a:t>
                      </a: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,2</a:t>
                      </a:r>
                      <a:endParaRPr lang="ru-RU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217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Наименование параметра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104299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млрд руб.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23*</a:t>
                      </a: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</a:t>
                      </a:r>
                      <a:endParaRPr lang="ru-RU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1000</a:t>
                      </a: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305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Наименование параметра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94284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ru-RU" sz="12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≥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WACC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74029" marR="74029" marT="0" marB="0" anchor="ctr">
                    <a:lnL>
                      <a:noFill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94284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ru-RU" sz="12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≥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WACC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74029" marR="74029" marT="0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4284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ru-RU" sz="12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≥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WACC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74029" marR="74029" marT="0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253">
                <a:tc>
                  <a:txBody>
                    <a:bodyPr/>
                    <a:lstStyle/>
                    <a:p>
                      <a:pPr marL="0" marR="0" lvl="0" indent="0" algn="l" defTabSz="104299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Наименование параметра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9569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не менее</a:t>
                      </a:r>
                      <a:br>
                        <a:rPr lang="ru-RU" sz="1400" b="0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US" sz="1200" b="0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25%</a:t>
                      </a:r>
                      <a:endParaRPr lang="ru-RU" sz="1400" b="0" kern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74029" marR="74029" marT="0" marB="0" anchor="ctr">
                    <a:lnL>
                      <a:noFill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9569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не менее </a:t>
                      </a:r>
                      <a:br>
                        <a:rPr lang="ru-RU" sz="1000" b="0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25%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74029" marR="74029" marT="0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569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не менее </a:t>
                      </a:r>
                      <a:br>
                        <a:rPr lang="ru-RU" sz="1000" b="0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25%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74029" marR="74029" marT="0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6" name="กลุ่ม 42"/>
          <p:cNvGrpSpPr/>
          <p:nvPr/>
        </p:nvGrpSpPr>
        <p:grpSpPr>
          <a:xfrm>
            <a:off x="659069" y="2011994"/>
            <a:ext cx="3924646" cy="819583"/>
            <a:chOff x="9252355" y="5493743"/>
            <a:chExt cx="7799388" cy="1716926"/>
          </a:xfrm>
        </p:grpSpPr>
        <p:sp>
          <p:nvSpPr>
            <p:cNvPr id="28" name="Freeform 6"/>
            <p:cNvSpPr>
              <a:spLocks/>
            </p:cNvSpPr>
            <p:nvPr/>
          </p:nvSpPr>
          <p:spPr bwMode="auto">
            <a:xfrm>
              <a:off x="9252355" y="5493743"/>
              <a:ext cx="7799388" cy="1716926"/>
            </a:xfrm>
            <a:custGeom>
              <a:avLst/>
              <a:gdLst>
                <a:gd name="T0" fmla="*/ 403 w 459"/>
                <a:gd name="T1" fmla="*/ 0 h 114"/>
                <a:gd name="T2" fmla="*/ 57 w 459"/>
                <a:gd name="T3" fmla="*/ 0 h 114"/>
                <a:gd name="T4" fmla="*/ 0 w 459"/>
                <a:gd name="T5" fmla="*/ 57 h 114"/>
                <a:gd name="T6" fmla="*/ 57 w 459"/>
                <a:gd name="T7" fmla="*/ 114 h 114"/>
                <a:gd name="T8" fmla="*/ 403 w 459"/>
                <a:gd name="T9" fmla="*/ 114 h 114"/>
                <a:gd name="T10" fmla="*/ 459 w 459"/>
                <a:gd name="T11" fmla="*/ 57 h 114"/>
                <a:gd name="T12" fmla="*/ 403 w 459"/>
                <a:gd name="T1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9" h="114">
                  <a:moveTo>
                    <a:pt x="403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5" y="0"/>
                    <a:pt x="0" y="26"/>
                    <a:pt x="0" y="57"/>
                  </a:cubicBezTo>
                  <a:cubicBezTo>
                    <a:pt x="0" y="89"/>
                    <a:pt x="25" y="114"/>
                    <a:pt x="57" y="114"/>
                  </a:cubicBezTo>
                  <a:cubicBezTo>
                    <a:pt x="403" y="114"/>
                    <a:pt x="403" y="114"/>
                    <a:pt x="403" y="114"/>
                  </a:cubicBezTo>
                  <a:cubicBezTo>
                    <a:pt x="434" y="114"/>
                    <a:pt x="459" y="89"/>
                    <a:pt x="459" y="57"/>
                  </a:cubicBezTo>
                  <a:cubicBezTo>
                    <a:pt x="459" y="26"/>
                    <a:pt x="434" y="0"/>
                    <a:pt x="403" y="0"/>
                  </a:cubicBezTo>
                  <a:close/>
                </a:path>
              </a:pathLst>
            </a:custGeom>
            <a:solidFill>
              <a:srgbClr val="00407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h-TH" sz="400">
                <a:latin typeface="Liberation Sans" panose="020B0604020202020204" pitchFamily="34" charset="0"/>
                <a:ea typeface="Liberation Sans" panose="020B0604020202020204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 bwMode="auto">
            <a:xfrm>
              <a:off x="9804053" y="5504875"/>
              <a:ext cx="6819333" cy="1096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1828375">
                <a:defRPr/>
              </a:pPr>
              <a:r>
                <a:rPr lang="en-US" sz="2800" b="1" dirty="0">
                  <a:solidFill>
                    <a:schemeClr val="bg1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20</a:t>
              </a:r>
              <a:r>
                <a:rPr lang="ru-RU" sz="2800" b="1" dirty="0">
                  <a:solidFill>
                    <a:schemeClr val="bg1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20 – </a:t>
              </a:r>
              <a:r>
                <a:rPr lang="en-US" sz="2800" b="1" dirty="0">
                  <a:solidFill>
                    <a:schemeClr val="bg1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20</a:t>
              </a:r>
              <a:r>
                <a:rPr lang="ru-RU" sz="2800" b="1" dirty="0">
                  <a:solidFill>
                    <a:schemeClr val="bg1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30</a:t>
              </a:r>
              <a:endParaRPr lang="en-US" sz="2800" b="1" dirty="0">
                <a:solidFill>
                  <a:schemeClr val="bg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707604" y="6295195"/>
              <a:ext cx="7012223" cy="915474"/>
            </a:xfrm>
            <a:prstGeom prst="rect">
              <a:avLst/>
            </a:prstGeom>
            <a:noFill/>
          </p:spPr>
          <p:txBody>
            <a:bodyPr wrap="square" lIns="219419" tIns="109710" rIns="219419" bIns="109710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Описание или пояснение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6753952" y="1803452"/>
            <a:ext cx="5613138" cy="1672345"/>
          </a:xfrm>
          <a:prstGeom prst="rect">
            <a:avLst/>
          </a:prstGeom>
          <a:noFill/>
        </p:spPr>
        <p:txBody>
          <a:bodyPr wrap="square" lIns="219419" tIns="109710" rIns="219419" bIns="109710" rtlCol="0">
            <a:spAutoFit/>
          </a:bodyPr>
          <a:lstStyle/>
          <a:p>
            <a:pPr>
              <a:spcAft>
                <a:spcPts val="1323"/>
              </a:spcAft>
            </a:pPr>
            <a:r>
              <a:rPr lang="ru-RU" sz="1600" b="1" cap="all" dirty="0" err="1">
                <a:solidFill>
                  <a:schemeClr val="bg1">
                    <a:lumMod val="6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пОДЗАГОЛОВОК</a:t>
            </a:r>
            <a:endParaRPr lang="en-US" sz="1544" b="1" cap="all" dirty="0">
              <a:solidFill>
                <a:schemeClr val="bg1">
                  <a:lumMod val="6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171444" indent="-171444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  <a:r>
              <a:rPr lang="en-US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. </a:t>
            </a: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1444" indent="-171444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  <a:r>
              <a:rPr lang="en-US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. </a:t>
            </a: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  <a:endParaRPr lang="en-US" sz="1200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171444" indent="-171444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  <a:r>
              <a:rPr lang="en-US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. </a:t>
            </a: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1444" indent="-171444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  <a:r>
              <a:rPr lang="en-US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. </a:t>
            </a: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1444" indent="-171444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  <a:r>
              <a:rPr lang="en-US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. </a:t>
            </a: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</p:txBody>
      </p:sp>
      <p:sp>
        <p:nvSpPr>
          <p:cNvPr id="38" name="Прямоугольник 37"/>
          <p:cNvSpPr/>
          <p:nvPr/>
        </p:nvSpPr>
        <p:spPr>
          <a:xfrm>
            <a:off x="623268" y="1050669"/>
            <a:ext cx="100091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ЗАГОЛОВОК, ГЛАВНАЯ ТЕМА</a:t>
            </a:r>
            <a:br>
              <a:rPr lang="ru-RU" sz="16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ru-RU" sz="16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ИЛИ ВАЖНОЕ СООБЩЕНИЕ</a:t>
            </a:r>
          </a:p>
        </p:txBody>
      </p:sp>
      <p:grpSp>
        <p:nvGrpSpPr>
          <p:cNvPr id="41" name="Группа 40"/>
          <p:cNvGrpSpPr/>
          <p:nvPr/>
        </p:nvGrpSpPr>
        <p:grpSpPr>
          <a:xfrm>
            <a:off x="361232" y="3117153"/>
            <a:ext cx="2422276" cy="563142"/>
            <a:chOff x="260128" y="2839556"/>
            <a:chExt cx="2422276" cy="563141"/>
          </a:xfrm>
        </p:grpSpPr>
        <p:sp>
          <p:nvSpPr>
            <p:cNvPr id="42" name="Прямоугольник 41"/>
            <p:cNvSpPr/>
            <p:nvPr/>
          </p:nvSpPr>
          <p:spPr>
            <a:xfrm>
              <a:off x="260128" y="2876015"/>
              <a:ext cx="850036" cy="526682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2400" b="1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x</a:t>
              </a:r>
              <a:r>
                <a:rPr lang="ru-RU" sz="3528" b="1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2</a:t>
              </a:r>
              <a:endParaRPr lang="ru-RU" sz="24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43" name="Round Same Side Corner Rectangle 58"/>
            <p:cNvSpPr/>
            <p:nvPr/>
          </p:nvSpPr>
          <p:spPr>
            <a:xfrm rot="10800000" flipH="1">
              <a:off x="1089888" y="2916535"/>
              <a:ext cx="36000" cy="360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F18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419" tIns="109710" rIns="219419" bIns="109710" rtlCol="0" anchor="ctr"/>
            <a:lstStyle/>
            <a:p>
              <a:pPr algn="ctr"/>
              <a:endParaRPr lang="bg-BG" sz="18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44" name="Прямоугольник 43"/>
            <p:cNvSpPr/>
            <p:nvPr/>
          </p:nvSpPr>
          <p:spPr>
            <a:xfrm>
              <a:off x="1131416" y="2839556"/>
              <a:ext cx="1550988" cy="53553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6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EBITDA</a:t>
              </a:r>
            </a:p>
            <a:p>
              <a:pPr>
                <a:lnSpc>
                  <a:spcPct val="80000"/>
                </a:lnSpc>
              </a:pPr>
              <a:r>
                <a:rPr lang="en-US" sz="18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~</a:t>
              </a:r>
              <a:r>
                <a:rPr lang="ru-RU" sz="18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32</a:t>
              </a:r>
              <a:r>
                <a:rPr lang="en-US" sz="18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0</a:t>
              </a:r>
              <a:r>
                <a:rPr lang="en-US" sz="20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 </a:t>
              </a:r>
              <a:r>
                <a:rPr lang="ru-RU" sz="12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млрд руб</a:t>
              </a:r>
              <a:r>
                <a:rPr lang="ru-RU" sz="16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.</a:t>
              </a:r>
            </a:p>
          </p:txBody>
        </p:sp>
      </p:grpSp>
      <p:grpSp>
        <p:nvGrpSpPr>
          <p:cNvPr id="45" name="Группа 44"/>
          <p:cNvGrpSpPr/>
          <p:nvPr/>
        </p:nvGrpSpPr>
        <p:grpSpPr>
          <a:xfrm>
            <a:off x="2207444" y="3117148"/>
            <a:ext cx="2664297" cy="563147"/>
            <a:chOff x="18108" y="2839555"/>
            <a:chExt cx="2664296" cy="563148"/>
          </a:xfrm>
        </p:grpSpPr>
        <p:sp>
          <p:nvSpPr>
            <p:cNvPr id="46" name="Прямоугольник 45"/>
            <p:cNvSpPr/>
            <p:nvPr/>
          </p:nvSpPr>
          <p:spPr>
            <a:xfrm>
              <a:off x="18108" y="2876019"/>
              <a:ext cx="1092056" cy="526684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2400" b="1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x</a:t>
              </a:r>
              <a:r>
                <a:rPr lang="ru-RU" sz="3528" b="1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2</a:t>
              </a:r>
              <a:endParaRPr lang="ru-RU" sz="24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47" name="Round Same Side Corner Rectangle 58"/>
            <p:cNvSpPr/>
            <p:nvPr/>
          </p:nvSpPr>
          <p:spPr>
            <a:xfrm rot="10800000" flipH="1">
              <a:off x="1089888" y="2916535"/>
              <a:ext cx="36000" cy="360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F18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419" tIns="109710" rIns="219419" bIns="109710" rtlCol="0" anchor="ctr"/>
            <a:lstStyle/>
            <a:p>
              <a:pPr algn="ctr"/>
              <a:endParaRPr lang="bg-BG" sz="18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48" name="Прямоугольник 47"/>
            <p:cNvSpPr/>
            <p:nvPr/>
          </p:nvSpPr>
          <p:spPr>
            <a:xfrm>
              <a:off x="1131416" y="2839555"/>
              <a:ext cx="1550988" cy="535532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ru-RU" sz="16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Выручка</a:t>
              </a:r>
              <a:endParaRPr lang="en-US" sz="1600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  <a:p>
              <a:pPr>
                <a:lnSpc>
                  <a:spcPct val="80000"/>
                </a:lnSpc>
              </a:pPr>
              <a:r>
                <a:rPr lang="en-US" sz="18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&gt;</a:t>
              </a:r>
              <a:r>
                <a:rPr lang="ru-RU" sz="18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2</a:t>
              </a:r>
              <a:r>
                <a:rPr lang="en-US" sz="18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,</a:t>
              </a:r>
              <a:r>
                <a:rPr lang="ru-RU" sz="18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2</a:t>
              </a:r>
              <a:r>
                <a:rPr lang="en-US" sz="20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 </a:t>
              </a:r>
              <a:r>
                <a:rPr lang="ru-RU" sz="12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трлн руб</a:t>
              </a:r>
              <a:r>
                <a:rPr lang="ru-RU" sz="16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.</a:t>
              </a:r>
            </a:p>
          </p:txBody>
        </p:sp>
      </p:grpSp>
      <p:sp>
        <p:nvSpPr>
          <p:cNvPr id="2" name="Прямоугольник 1"/>
          <p:cNvSpPr/>
          <p:nvPr/>
        </p:nvSpPr>
        <p:spPr>
          <a:xfrm>
            <a:off x="623069" y="6575149"/>
            <a:ext cx="9901299" cy="363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Примечание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: </a:t>
            </a:r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примечания или сноски </a:t>
            </a:r>
          </a:p>
          <a:p>
            <a:pPr>
              <a:lnSpc>
                <a:spcPct val="80000"/>
              </a:lnSpc>
            </a:pPr>
            <a:endParaRPr lang="ru-RU" sz="1103" dirty="0">
              <a:solidFill>
                <a:schemeClr val="bg1">
                  <a:lumMod val="50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9564E7F1-D05B-40CE-B13A-6DDE139DCAE0}"/>
              </a:ext>
            </a:extLst>
          </p:cNvPr>
          <p:cNvSpPr txBox="1">
            <a:spLocks/>
          </p:cNvSpPr>
          <p:nvPr/>
        </p:nvSpPr>
        <p:spPr>
          <a:xfrm>
            <a:off x="548457" y="254782"/>
            <a:ext cx="11509530" cy="409868"/>
          </a:xfrm>
          <a:prstGeom prst="rect">
            <a:avLst/>
          </a:prstGeom>
        </p:spPr>
        <p:txBody>
          <a:bodyPr vert="horz" lIns="114300" tIns="57150" rIns="114300" bIns="57150" rtlCol="0" anchor="ctr">
            <a:noAutofit/>
          </a:bodyPr>
          <a:lstStyle>
            <a:lvl1pPr algn="l" defTabSz="11430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kern="1200" baseline="0">
                <a:solidFill>
                  <a:srgbClr val="003264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ru-RU" sz="24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слайда с цифрами и таблицей</a:t>
            </a:r>
          </a:p>
        </p:txBody>
      </p:sp>
    </p:spTree>
    <p:extLst>
      <p:ext uri="{BB962C8B-B14F-4D97-AF65-F5344CB8AC3E}">
        <p14:creationId xmlns:p14="http://schemas.microsoft.com/office/powerpoint/2010/main" val="1626395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Объект 1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370013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Слайд think-cell" r:id="rId5" imgW="216" imgH="216" progId="TCLayout.ActiveDocument.1">
                  <p:embed/>
                </p:oleObj>
              </mc:Choice>
              <mc:Fallback>
                <p:oleObj name="Слайд think-cell" r:id="rId5" imgW="216" imgH="216" progId="TCLayout.ActiveDocument.1">
                  <p:embed/>
                  <p:pic>
                    <p:nvPicPr>
                      <p:cNvPr id="15" name="Объект 1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70013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Прямоугольник 13" hidden="1"/>
          <p:cNvSpPr/>
          <p:nvPr>
            <p:custDataLst>
              <p:tags r:id="rId3"/>
            </p:custDataLst>
          </p:nvPr>
        </p:nvSpPr>
        <p:spPr>
          <a:xfrm>
            <a:off x="1368425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ru-RU" sz="2150" dirty="0">
              <a:latin typeface="Calibri"/>
              <a:ea typeface="Tahoma"/>
              <a:cs typeface="Tahoma"/>
              <a:sym typeface="Calibri"/>
            </a:endParaRPr>
          </a:p>
        </p:txBody>
      </p:sp>
      <p:sp>
        <p:nvSpPr>
          <p:cNvPr id="31" name="Овал 30"/>
          <p:cNvSpPr/>
          <p:nvPr/>
        </p:nvSpPr>
        <p:spPr>
          <a:xfrm>
            <a:off x="755129" y="1203188"/>
            <a:ext cx="1188000" cy="1188000"/>
          </a:xfrm>
          <a:prstGeom prst="ellipse">
            <a:avLst/>
          </a:prstGeom>
          <a:solidFill>
            <a:srgbClr val="F18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sz="24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слайда с иконками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326880" y="3588851"/>
            <a:ext cx="3746950" cy="98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4619" indent="-174619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текста.</a:t>
            </a:r>
          </a:p>
          <a:p>
            <a:pPr marL="174619" indent="-174619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текста.</a:t>
            </a:r>
          </a:p>
          <a:p>
            <a:pPr marL="174619" indent="-174619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текста.</a:t>
            </a:r>
          </a:p>
          <a:p>
            <a:pPr marL="174619" indent="-174619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текста.</a:t>
            </a:r>
          </a:p>
        </p:txBody>
      </p:sp>
      <p:grpSp>
        <p:nvGrpSpPr>
          <p:cNvPr id="5" name="Группа 4"/>
          <p:cNvGrpSpPr/>
          <p:nvPr/>
        </p:nvGrpSpPr>
        <p:grpSpPr>
          <a:xfrm>
            <a:off x="792412" y="3600743"/>
            <a:ext cx="1188000" cy="1188000"/>
            <a:chOff x="3978548" y="2448615"/>
            <a:chExt cx="1188000" cy="1188000"/>
          </a:xfrm>
        </p:grpSpPr>
        <p:sp>
          <p:nvSpPr>
            <p:cNvPr id="3" name="Овал 2"/>
            <p:cNvSpPr/>
            <p:nvPr/>
          </p:nvSpPr>
          <p:spPr>
            <a:xfrm>
              <a:off x="3978548" y="2448615"/>
              <a:ext cx="1188000" cy="1188000"/>
            </a:xfrm>
            <a:prstGeom prst="ellipse">
              <a:avLst/>
            </a:prstGeom>
            <a:noFill/>
            <a:ln w="63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pic>
          <p:nvPicPr>
            <p:cNvPr id="10" name="Рисунок 9"/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AFAFA"/>
                </a:clrFrom>
                <a:clrTo>
                  <a:srgbClr val="FAFAFA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050556" y="2520623"/>
              <a:ext cx="971177" cy="894054"/>
            </a:xfrm>
            <a:prstGeom prst="rect">
              <a:avLst/>
            </a:prstGeom>
          </p:spPr>
        </p:pic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B0928146-F516-4D32-A975-C31E35793148}"/>
              </a:ext>
            </a:extLst>
          </p:cNvPr>
          <p:cNvGrpSpPr/>
          <p:nvPr/>
        </p:nvGrpSpPr>
        <p:grpSpPr>
          <a:xfrm>
            <a:off x="6860552" y="5652839"/>
            <a:ext cx="1188000" cy="1188000"/>
            <a:chOff x="5492127" y="5587685"/>
            <a:chExt cx="1188000" cy="1188000"/>
          </a:xfrm>
        </p:grpSpPr>
        <p:sp>
          <p:nvSpPr>
            <p:cNvPr id="32" name="Овал 31"/>
            <p:cNvSpPr/>
            <p:nvPr/>
          </p:nvSpPr>
          <p:spPr>
            <a:xfrm>
              <a:off x="5492127" y="5587685"/>
              <a:ext cx="1188000" cy="1188000"/>
            </a:xfrm>
            <a:prstGeom prst="ellipse">
              <a:avLst/>
            </a:prstGeom>
            <a:noFill/>
            <a:ln w="63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pic>
          <p:nvPicPr>
            <p:cNvPr id="12" name="Рисунок 11"/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AFAFA"/>
                </a:clrFrom>
                <a:clrTo>
                  <a:srgbClr val="FAFAFA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706740" y="5845520"/>
              <a:ext cx="761106" cy="705416"/>
            </a:xfrm>
            <a:prstGeom prst="rect">
              <a:avLst/>
            </a:prstGeom>
          </p:spPr>
        </p:pic>
      </p:grpSp>
      <p:sp>
        <p:nvSpPr>
          <p:cNvPr id="17" name="Скругленный прямоугольник 16"/>
          <p:cNvSpPr/>
          <p:nvPr/>
        </p:nvSpPr>
        <p:spPr>
          <a:xfrm>
            <a:off x="2566612" y="2939427"/>
            <a:ext cx="3000628" cy="446530"/>
          </a:xfrm>
          <a:prstGeom prst="roundRect">
            <a:avLst>
              <a:gd name="adj" fmla="val 50000"/>
            </a:avLst>
          </a:prstGeom>
          <a:solidFill>
            <a:srgbClr val="0040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544" b="1" cap="all" dirty="0">
                <a:solidFill>
                  <a:schemeClr val="bg1">
                    <a:lumMod val="9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заголовка</a:t>
            </a:r>
          </a:p>
        </p:txBody>
      </p:sp>
      <p:sp>
        <p:nvSpPr>
          <p:cNvPr id="28" name="Скругленный прямоугольник 27"/>
          <p:cNvSpPr/>
          <p:nvPr/>
        </p:nvSpPr>
        <p:spPr>
          <a:xfrm>
            <a:off x="2566613" y="5186435"/>
            <a:ext cx="3000626" cy="466404"/>
          </a:xfrm>
          <a:prstGeom prst="roundRect">
            <a:avLst>
              <a:gd name="adj" fmla="val 50000"/>
            </a:avLst>
          </a:prstGeom>
          <a:solidFill>
            <a:srgbClr val="0040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544" b="1" cap="all" dirty="0">
                <a:solidFill>
                  <a:schemeClr val="bg1">
                    <a:lumMod val="9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заголовка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13EA289E-D1B2-4D9A-BB4C-E1DF34D4B8F3}"/>
              </a:ext>
            </a:extLst>
          </p:cNvPr>
          <p:cNvGrpSpPr/>
          <p:nvPr/>
        </p:nvGrpSpPr>
        <p:grpSpPr>
          <a:xfrm>
            <a:off x="792412" y="5652839"/>
            <a:ext cx="1188000" cy="1188000"/>
            <a:chOff x="307551" y="5575264"/>
            <a:chExt cx="1188000" cy="1188000"/>
          </a:xfrm>
        </p:grpSpPr>
        <p:sp>
          <p:nvSpPr>
            <p:cNvPr id="26" name="Овал 25"/>
            <p:cNvSpPr/>
            <p:nvPr/>
          </p:nvSpPr>
          <p:spPr>
            <a:xfrm>
              <a:off x="307551" y="5575264"/>
              <a:ext cx="1188000" cy="1188000"/>
            </a:xfrm>
            <a:prstGeom prst="ellipse">
              <a:avLst/>
            </a:prstGeom>
            <a:noFill/>
            <a:ln w="63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pic>
          <p:nvPicPr>
            <p:cNvPr id="29" name="Рисунок 28"/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AFAFA"/>
                </a:clrFrom>
                <a:clrTo>
                  <a:srgbClr val="FAFAFA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64184" y="5788730"/>
              <a:ext cx="850068" cy="785910"/>
            </a:xfrm>
            <a:prstGeom prst="rect">
              <a:avLst/>
            </a:prstGeom>
          </p:spPr>
        </p:pic>
      </p:grpSp>
      <p:sp>
        <p:nvSpPr>
          <p:cNvPr id="34" name="Скругленный прямоугольник 33"/>
          <p:cNvSpPr/>
          <p:nvPr/>
        </p:nvSpPr>
        <p:spPr>
          <a:xfrm>
            <a:off x="8395019" y="5186435"/>
            <a:ext cx="3000626" cy="466404"/>
          </a:xfrm>
          <a:prstGeom prst="roundRect">
            <a:avLst>
              <a:gd name="adj" fmla="val 50000"/>
            </a:avLst>
          </a:prstGeom>
          <a:solidFill>
            <a:srgbClr val="0040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0" rtlCol="0" anchor="ctr"/>
          <a:lstStyle/>
          <a:p>
            <a:pPr algn="ctr"/>
            <a:r>
              <a:rPr lang="ru-RU" sz="1544" b="1" cap="all" dirty="0">
                <a:solidFill>
                  <a:schemeClr val="bg1">
                    <a:lumMod val="9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заголовка</a:t>
            </a:r>
          </a:p>
        </p:txBody>
      </p:sp>
      <p:sp>
        <p:nvSpPr>
          <p:cNvPr id="25" name="Прямоугольник 24"/>
          <p:cNvSpPr/>
          <p:nvPr/>
        </p:nvSpPr>
        <p:spPr>
          <a:xfrm>
            <a:off x="2326879" y="1107448"/>
            <a:ext cx="8622893" cy="1379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tabLst>
                <a:tab pos="591172" algn="r"/>
                <a:tab pos="881572" algn="r"/>
              </a:tabLst>
            </a:pPr>
            <a:r>
              <a:rPr lang="ru-RU" sz="1600" b="1" dirty="0">
                <a:solidFill>
                  <a:srgbClr val="F088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ЗАГОЛОВОК БЛОКА</a:t>
            </a:r>
          </a:p>
          <a:p>
            <a:pPr marL="174619" indent="-174619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текста.</a:t>
            </a:r>
          </a:p>
          <a:p>
            <a:pPr marL="174619" indent="-174619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текста.</a:t>
            </a:r>
          </a:p>
          <a:p>
            <a:pPr marL="174619" indent="-174619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текста.</a:t>
            </a:r>
          </a:p>
          <a:p>
            <a:pPr marL="174619" indent="-174619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текста.</a:t>
            </a:r>
          </a:p>
        </p:txBody>
      </p:sp>
      <p:sp>
        <p:nvSpPr>
          <p:cNvPr id="41" name="Freeform 134"/>
          <p:cNvSpPr>
            <a:spLocks noEditPoints="1"/>
          </p:cNvSpPr>
          <p:nvPr/>
        </p:nvSpPr>
        <p:spPr bwMode="auto">
          <a:xfrm>
            <a:off x="953085" y="1401144"/>
            <a:ext cx="792088" cy="792088"/>
          </a:xfrm>
          <a:custGeom>
            <a:avLst/>
            <a:gdLst>
              <a:gd name="T0" fmla="*/ 64 w 64"/>
              <a:gd name="T1" fmla="*/ 32 h 64"/>
              <a:gd name="T2" fmla="*/ 5 w 64"/>
              <a:gd name="T3" fmla="*/ 15 h 64"/>
              <a:gd name="T4" fmla="*/ 0 w 64"/>
              <a:gd name="T5" fmla="*/ 32 h 64"/>
              <a:gd name="T6" fmla="*/ 0 w 64"/>
              <a:gd name="T7" fmla="*/ 32 h 64"/>
              <a:gd name="T8" fmla="*/ 5 w 64"/>
              <a:gd name="T9" fmla="*/ 49 h 64"/>
              <a:gd name="T10" fmla="*/ 32 w 64"/>
              <a:gd name="T11" fmla="*/ 64 h 64"/>
              <a:gd name="T12" fmla="*/ 64 w 64"/>
              <a:gd name="T13" fmla="*/ 32 h 64"/>
              <a:gd name="T14" fmla="*/ 48 w 64"/>
              <a:gd name="T15" fmla="*/ 46 h 64"/>
              <a:gd name="T16" fmla="*/ 60 w 64"/>
              <a:gd name="T17" fmla="*/ 33 h 64"/>
              <a:gd name="T18" fmla="*/ 3 w 64"/>
              <a:gd name="T19" fmla="*/ 33 h 64"/>
              <a:gd name="T20" fmla="*/ 16 w 64"/>
              <a:gd name="T21" fmla="*/ 46 h 64"/>
              <a:gd name="T22" fmla="*/ 3 w 64"/>
              <a:gd name="T23" fmla="*/ 33 h 64"/>
              <a:gd name="T24" fmla="*/ 16 w 64"/>
              <a:gd name="T25" fmla="*/ 17 h 64"/>
              <a:gd name="T26" fmla="*/ 3 w 64"/>
              <a:gd name="T27" fmla="*/ 30 h 64"/>
              <a:gd name="T28" fmla="*/ 34 w 64"/>
              <a:gd name="T29" fmla="*/ 14 h 64"/>
              <a:gd name="T30" fmla="*/ 34 w 64"/>
              <a:gd name="T31" fmla="*/ 4 h 64"/>
              <a:gd name="T32" fmla="*/ 43 w 64"/>
              <a:gd name="T33" fmla="*/ 14 h 64"/>
              <a:gd name="T34" fmla="*/ 44 w 64"/>
              <a:gd name="T35" fmla="*/ 17 h 64"/>
              <a:gd name="T36" fmla="*/ 34 w 64"/>
              <a:gd name="T37" fmla="*/ 30 h 64"/>
              <a:gd name="T38" fmla="*/ 44 w 64"/>
              <a:gd name="T39" fmla="*/ 17 h 64"/>
              <a:gd name="T40" fmla="*/ 29 w 64"/>
              <a:gd name="T41" fmla="*/ 4 h 64"/>
              <a:gd name="T42" fmla="*/ 30 w 64"/>
              <a:gd name="T43" fmla="*/ 3 h 64"/>
              <a:gd name="T44" fmla="*/ 21 w 64"/>
              <a:gd name="T45" fmla="*/ 14 h 64"/>
              <a:gd name="T46" fmla="*/ 30 w 64"/>
              <a:gd name="T47" fmla="*/ 17 h 64"/>
              <a:gd name="T48" fmla="*/ 17 w 64"/>
              <a:gd name="T49" fmla="*/ 30 h 64"/>
              <a:gd name="T50" fmla="*/ 30 w 64"/>
              <a:gd name="T51" fmla="*/ 17 h 64"/>
              <a:gd name="T52" fmla="*/ 30 w 64"/>
              <a:gd name="T53" fmla="*/ 33 h 64"/>
              <a:gd name="T54" fmla="*/ 20 w 64"/>
              <a:gd name="T55" fmla="*/ 46 h 64"/>
              <a:gd name="T56" fmla="*/ 30 w 64"/>
              <a:gd name="T57" fmla="*/ 50 h 64"/>
              <a:gd name="T58" fmla="*/ 28 w 64"/>
              <a:gd name="T59" fmla="*/ 60 h 64"/>
              <a:gd name="T60" fmla="*/ 30 w 64"/>
              <a:gd name="T61" fmla="*/ 50 h 64"/>
              <a:gd name="T62" fmla="*/ 34 w 64"/>
              <a:gd name="T63" fmla="*/ 60 h 64"/>
              <a:gd name="T64" fmla="*/ 34 w 64"/>
              <a:gd name="T65" fmla="*/ 50 h 64"/>
              <a:gd name="T66" fmla="*/ 36 w 64"/>
              <a:gd name="T67" fmla="*/ 60 h 64"/>
              <a:gd name="T68" fmla="*/ 34 w 64"/>
              <a:gd name="T69" fmla="*/ 33 h 64"/>
              <a:gd name="T70" fmla="*/ 44 w 64"/>
              <a:gd name="T71" fmla="*/ 46 h 64"/>
              <a:gd name="T72" fmla="*/ 50 w 64"/>
              <a:gd name="T73" fmla="*/ 30 h 64"/>
              <a:gd name="T74" fmla="*/ 57 w 64"/>
              <a:gd name="T75" fmla="*/ 17 h 64"/>
              <a:gd name="T76" fmla="*/ 50 w 64"/>
              <a:gd name="T77" fmla="*/ 30 h 64"/>
              <a:gd name="T78" fmla="*/ 47 w 64"/>
              <a:gd name="T79" fmla="*/ 14 h 64"/>
              <a:gd name="T80" fmla="*/ 54 w 64"/>
              <a:gd name="T81" fmla="*/ 14 h 64"/>
              <a:gd name="T82" fmla="*/ 17 w 64"/>
              <a:gd name="T83" fmla="*/ 14 h 64"/>
              <a:gd name="T84" fmla="*/ 23 w 64"/>
              <a:gd name="T85" fmla="*/ 5 h 64"/>
              <a:gd name="T86" fmla="*/ 17 w 64"/>
              <a:gd name="T87" fmla="*/ 50 h 64"/>
              <a:gd name="T88" fmla="*/ 10 w 64"/>
              <a:gd name="T89" fmla="*/ 50 h 64"/>
              <a:gd name="T90" fmla="*/ 47 w 64"/>
              <a:gd name="T91" fmla="*/ 50 h 64"/>
              <a:gd name="T92" fmla="*/ 41 w 64"/>
              <a:gd name="T93" fmla="*/ 59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64" h="64">
                <a:moveTo>
                  <a:pt x="64" y="32"/>
                </a:moveTo>
                <a:cubicBezTo>
                  <a:pt x="64" y="32"/>
                  <a:pt x="64" y="32"/>
                  <a:pt x="64" y="32"/>
                </a:cubicBezTo>
                <a:cubicBezTo>
                  <a:pt x="64" y="14"/>
                  <a:pt x="50" y="0"/>
                  <a:pt x="32" y="0"/>
                </a:cubicBezTo>
                <a:cubicBezTo>
                  <a:pt x="21" y="0"/>
                  <a:pt x="11" y="6"/>
                  <a:pt x="5" y="15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20"/>
                  <a:pt x="0" y="26"/>
                  <a:pt x="0" y="32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38"/>
                  <a:pt x="2" y="44"/>
                  <a:pt x="5" y="49"/>
                </a:cubicBezTo>
                <a:cubicBezTo>
                  <a:pt x="5" y="49"/>
                  <a:pt x="5" y="49"/>
                  <a:pt x="5" y="49"/>
                </a:cubicBezTo>
                <a:cubicBezTo>
                  <a:pt x="11" y="58"/>
                  <a:pt x="21" y="64"/>
                  <a:pt x="32" y="64"/>
                </a:cubicBezTo>
                <a:cubicBezTo>
                  <a:pt x="50" y="64"/>
                  <a:pt x="64" y="49"/>
                  <a:pt x="64" y="32"/>
                </a:cubicBezTo>
                <a:cubicBezTo>
                  <a:pt x="64" y="32"/>
                  <a:pt x="64" y="32"/>
                  <a:pt x="64" y="32"/>
                </a:cubicBezTo>
                <a:close/>
                <a:moveTo>
                  <a:pt x="57" y="46"/>
                </a:moveTo>
                <a:cubicBezTo>
                  <a:pt x="48" y="46"/>
                  <a:pt x="48" y="46"/>
                  <a:pt x="48" y="46"/>
                </a:cubicBezTo>
                <a:cubicBezTo>
                  <a:pt x="49" y="42"/>
                  <a:pt x="50" y="38"/>
                  <a:pt x="50" y="33"/>
                </a:cubicBezTo>
                <a:cubicBezTo>
                  <a:pt x="60" y="33"/>
                  <a:pt x="60" y="33"/>
                  <a:pt x="60" y="33"/>
                </a:cubicBezTo>
                <a:cubicBezTo>
                  <a:pt x="60" y="38"/>
                  <a:pt x="59" y="43"/>
                  <a:pt x="57" y="46"/>
                </a:cubicBezTo>
                <a:close/>
                <a:moveTo>
                  <a:pt x="3" y="33"/>
                </a:moveTo>
                <a:cubicBezTo>
                  <a:pt x="14" y="33"/>
                  <a:pt x="14" y="33"/>
                  <a:pt x="14" y="33"/>
                </a:cubicBezTo>
                <a:cubicBezTo>
                  <a:pt x="14" y="38"/>
                  <a:pt x="15" y="42"/>
                  <a:pt x="16" y="46"/>
                </a:cubicBezTo>
                <a:cubicBezTo>
                  <a:pt x="7" y="46"/>
                  <a:pt x="7" y="46"/>
                  <a:pt x="7" y="46"/>
                </a:cubicBezTo>
                <a:cubicBezTo>
                  <a:pt x="5" y="43"/>
                  <a:pt x="4" y="38"/>
                  <a:pt x="3" y="33"/>
                </a:cubicBezTo>
                <a:close/>
                <a:moveTo>
                  <a:pt x="7" y="17"/>
                </a:moveTo>
                <a:cubicBezTo>
                  <a:pt x="16" y="17"/>
                  <a:pt x="16" y="17"/>
                  <a:pt x="16" y="17"/>
                </a:cubicBezTo>
                <a:cubicBezTo>
                  <a:pt x="15" y="21"/>
                  <a:pt x="14" y="26"/>
                  <a:pt x="14" y="30"/>
                </a:cubicBezTo>
                <a:cubicBezTo>
                  <a:pt x="3" y="30"/>
                  <a:pt x="3" y="30"/>
                  <a:pt x="3" y="30"/>
                </a:cubicBezTo>
                <a:cubicBezTo>
                  <a:pt x="4" y="26"/>
                  <a:pt x="5" y="21"/>
                  <a:pt x="7" y="17"/>
                </a:cubicBezTo>
                <a:close/>
                <a:moveTo>
                  <a:pt x="34" y="14"/>
                </a:moveTo>
                <a:cubicBezTo>
                  <a:pt x="34" y="3"/>
                  <a:pt x="34" y="3"/>
                  <a:pt x="34" y="3"/>
                </a:cubicBezTo>
                <a:cubicBezTo>
                  <a:pt x="34" y="3"/>
                  <a:pt x="34" y="3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8" y="6"/>
                  <a:pt x="41" y="9"/>
                  <a:pt x="43" y="14"/>
                </a:cubicBezTo>
                <a:lnTo>
                  <a:pt x="34" y="14"/>
                </a:lnTo>
                <a:close/>
                <a:moveTo>
                  <a:pt x="44" y="17"/>
                </a:moveTo>
                <a:cubicBezTo>
                  <a:pt x="46" y="21"/>
                  <a:pt x="46" y="26"/>
                  <a:pt x="46" y="30"/>
                </a:cubicBezTo>
                <a:cubicBezTo>
                  <a:pt x="34" y="30"/>
                  <a:pt x="34" y="30"/>
                  <a:pt x="34" y="30"/>
                </a:cubicBezTo>
                <a:cubicBezTo>
                  <a:pt x="34" y="17"/>
                  <a:pt x="34" y="17"/>
                  <a:pt x="34" y="17"/>
                </a:cubicBezTo>
                <a:lnTo>
                  <a:pt x="44" y="17"/>
                </a:lnTo>
                <a:close/>
                <a:moveTo>
                  <a:pt x="29" y="4"/>
                </a:moveTo>
                <a:cubicBezTo>
                  <a:pt x="29" y="4"/>
                  <a:pt x="29" y="4"/>
                  <a:pt x="29" y="4"/>
                </a:cubicBezTo>
                <a:cubicBezTo>
                  <a:pt x="29" y="4"/>
                  <a:pt x="29" y="4"/>
                  <a:pt x="29" y="4"/>
                </a:cubicBezTo>
                <a:cubicBezTo>
                  <a:pt x="30" y="4"/>
                  <a:pt x="30" y="4"/>
                  <a:pt x="30" y="3"/>
                </a:cubicBezTo>
                <a:cubicBezTo>
                  <a:pt x="30" y="14"/>
                  <a:pt x="30" y="14"/>
                  <a:pt x="30" y="14"/>
                </a:cubicBezTo>
                <a:cubicBezTo>
                  <a:pt x="21" y="14"/>
                  <a:pt x="21" y="14"/>
                  <a:pt x="21" y="14"/>
                </a:cubicBezTo>
                <a:cubicBezTo>
                  <a:pt x="23" y="9"/>
                  <a:pt x="26" y="6"/>
                  <a:pt x="29" y="4"/>
                </a:cubicBezTo>
                <a:close/>
                <a:moveTo>
                  <a:pt x="30" y="17"/>
                </a:moveTo>
                <a:cubicBezTo>
                  <a:pt x="30" y="30"/>
                  <a:pt x="30" y="30"/>
                  <a:pt x="30" y="30"/>
                </a:cubicBezTo>
                <a:cubicBezTo>
                  <a:pt x="17" y="30"/>
                  <a:pt x="17" y="30"/>
                  <a:pt x="17" y="30"/>
                </a:cubicBezTo>
                <a:cubicBezTo>
                  <a:pt x="18" y="26"/>
                  <a:pt x="18" y="21"/>
                  <a:pt x="20" y="17"/>
                </a:cubicBezTo>
                <a:lnTo>
                  <a:pt x="30" y="17"/>
                </a:lnTo>
                <a:close/>
                <a:moveTo>
                  <a:pt x="17" y="33"/>
                </a:moveTo>
                <a:cubicBezTo>
                  <a:pt x="30" y="33"/>
                  <a:pt x="30" y="33"/>
                  <a:pt x="30" y="33"/>
                </a:cubicBezTo>
                <a:cubicBezTo>
                  <a:pt x="30" y="46"/>
                  <a:pt x="30" y="46"/>
                  <a:pt x="30" y="46"/>
                </a:cubicBezTo>
                <a:cubicBezTo>
                  <a:pt x="20" y="46"/>
                  <a:pt x="20" y="46"/>
                  <a:pt x="20" y="46"/>
                </a:cubicBezTo>
                <a:cubicBezTo>
                  <a:pt x="18" y="43"/>
                  <a:pt x="18" y="38"/>
                  <a:pt x="17" y="33"/>
                </a:cubicBezTo>
                <a:close/>
                <a:moveTo>
                  <a:pt x="30" y="50"/>
                </a:moveTo>
                <a:cubicBezTo>
                  <a:pt x="30" y="60"/>
                  <a:pt x="30" y="60"/>
                  <a:pt x="30" y="60"/>
                </a:cubicBezTo>
                <a:cubicBezTo>
                  <a:pt x="30" y="60"/>
                  <a:pt x="29" y="60"/>
                  <a:pt x="28" y="60"/>
                </a:cubicBezTo>
                <a:cubicBezTo>
                  <a:pt x="25" y="58"/>
                  <a:pt x="23" y="54"/>
                  <a:pt x="21" y="50"/>
                </a:cubicBezTo>
                <a:lnTo>
                  <a:pt x="30" y="50"/>
                </a:lnTo>
                <a:close/>
                <a:moveTo>
                  <a:pt x="36" y="60"/>
                </a:moveTo>
                <a:cubicBezTo>
                  <a:pt x="35" y="60"/>
                  <a:pt x="34" y="60"/>
                  <a:pt x="34" y="60"/>
                </a:cubicBezTo>
                <a:cubicBezTo>
                  <a:pt x="34" y="60"/>
                  <a:pt x="34" y="60"/>
                  <a:pt x="34" y="60"/>
                </a:cubicBezTo>
                <a:cubicBezTo>
                  <a:pt x="34" y="50"/>
                  <a:pt x="34" y="50"/>
                  <a:pt x="34" y="50"/>
                </a:cubicBezTo>
                <a:cubicBezTo>
                  <a:pt x="43" y="50"/>
                  <a:pt x="43" y="50"/>
                  <a:pt x="43" y="50"/>
                </a:cubicBezTo>
                <a:cubicBezTo>
                  <a:pt x="41" y="54"/>
                  <a:pt x="39" y="58"/>
                  <a:pt x="36" y="60"/>
                </a:cubicBezTo>
                <a:close/>
                <a:moveTo>
                  <a:pt x="34" y="46"/>
                </a:moveTo>
                <a:cubicBezTo>
                  <a:pt x="34" y="33"/>
                  <a:pt x="34" y="33"/>
                  <a:pt x="34" y="33"/>
                </a:cubicBezTo>
                <a:cubicBezTo>
                  <a:pt x="46" y="33"/>
                  <a:pt x="46" y="33"/>
                  <a:pt x="46" y="33"/>
                </a:cubicBezTo>
                <a:cubicBezTo>
                  <a:pt x="46" y="38"/>
                  <a:pt x="46" y="43"/>
                  <a:pt x="44" y="46"/>
                </a:cubicBezTo>
                <a:lnTo>
                  <a:pt x="34" y="46"/>
                </a:lnTo>
                <a:close/>
                <a:moveTo>
                  <a:pt x="50" y="30"/>
                </a:moveTo>
                <a:cubicBezTo>
                  <a:pt x="50" y="26"/>
                  <a:pt x="49" y="21"/>
                  <a:pt x="48" y="17"/>
                </a:cubicBezTo>
                <a:cubicBezTo>
                  <a:pt x="57" y="17"/>
                  <a:pt x="57" y="17"/>
                  <a:pt x="57" y="17"/>
                </a:cubicBezTo>
                <a:cubicBezTo>
                  <a:pt x="59" y="21"/>
                  <a:pt x="60" y="26"/>
                  <a:pt x="60" y="30"/>
                </a:cubicBezTo>
                <a:lnTo>
                  <a:pt x="50" y="30"/>
                </a:lnTo>
                <a:close/>
                <a:moveTo>
                  <a:pt x="54" y="14"/>
                </a:moveTo>
                <a:cubicBezTo>
                  <a:pt x="47" y="14"/>
                  <a:pt x="47" y="14"/>
                  <a:pt x="47" y="14"/>
                </a:cubicBezTo>
                <a:cubicBezTo>
                  <a:pt x="45" y="10"/>
                  <a:pt x="43" y="7"/>
                  <a:pt x="41" y="5"/>
                </a:cubicBezTo>
                <a:cubicBezTo>
                  <a:pt x="46" y="6"/>
                  <a:pt x="51" y="10"/>
                  <a:pt x="54" y="14"/>
                </a:cubicBezTo>
                <a:close/>
                <a:moveTo>
                  <a:pt x="23" y="5"/>
                </a:moveTo>
                <a:cubicBezTo>
                  <a:pt x="21" y="7"/>
                  <a:pt x="19" y="10"/>
                  <a:pt x="17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3" y="10"/>
                  <a:pt x="18" y="6"/>
                  <a:pt x="23" y="5"/>
                </a:cubicBezTo>
                <a:close/>
                <a:moveTo>
                  <a:pt x="10" y="50"/>
                </a:moveTo>
                <a:cubicBezTo>
                  <a:pt x="17" y="50"/>
                  <a:pt x="17" y="50"/>
                  <a:pt x="17" y="50"/>
                </a:cubicBezTo>
                <a:cubicBezTo>
                  <a:pt x="19" y="53"/>
                  <a:pt x="21" y="56"/>
                  <a:pt x="23" y="59"/>
                </a:cubicBezTo>
                <a:cubicBezTo>
                  <a:pt x="18" y="57"/>
                  <a:pt x="13" y="54"/>
                  <a:pt x="10" y="50"/>
                </a:cubicBezTo>
                <a:close/>
                <a:moveTo>
                  <a:pt x="41" y="59"/>
                </a:moveTo>
                <a:cubicBezTo>
                  <a:pt x="43" y="56"/>
                  <a:pt x="45" y="53"/>
                  <a:pt x="47" y="50"/>
                </a:cubicBezTo>
                <a:cubicBezTo>
                  <a:pt x="54" y="50"/>
                  <a:pt x="54" y="50"/>
                  <a:pt x="54" y="50"/>
                </a:cubicBezTo>
                <a:cubicBezTo>
                  <a:pt x="51" y="54"/>
                  <a:pt x="46" y="57"/>
                  <a:pt x="41" y="5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 sz="1800">
              <a:ln>
                <a:solidFill>
                  <a:sysClr val="windowText" lastClr="000000"/>
                </a:solidFill>
              </a:ln>
              <a:latin typeface="Liberation Sans" panose="020B0604020202020204" pitchFamily="34" charset="0"/>
              <a:ea typeface="Liberation Sans" panose="020B0604020202020204" pitchFamily="34" charset="0"/>
            </a:endParaRP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69D88505-0451-408A-A1F0-4C5A1F7727F2}"/>
              </a:ext>
            </a:extLst>
          </p:cNvPr>
          <p:cNvGrpSpPr/>
          <p:nvPr/>
        </p:nvGrpSpPr>
        <p:grpSpPr>
          <a:xfrm>
            <a:off x="6860552" y="3600743"/>
            <a:ext cx="1188000" cy="1188000"/>
            <a:chOff x="5492127" y="3508466"/>
            <a:chExt cx="1188000" cy="1188000"/>
          </a:xfrm>
        </p:grpSpPr>
        <p:sp>
          <p:nvSpPr>
            <p:cNvPr id="44" name="Овал 43"/>
            <p:cNvSpPr/>
            <p:nvPr/>
          </p:nvSpPr>
          <p:spPr>
            <a:xfrm>
              <a:off x="5492127" y="3508466"/>
              <a:ext cx="1188000" cy="1188000"/>
            </a:xfrm>
            <a:prstGeom prst="ellipse">
              <a:avLst/>
            </a:prstGeom>
            <a:noFill/>
            <a:ln w="63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pic>
          <p:nvPicPr>
            <p:cNvPr id="45" name="Рисунок 44"/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AFAFA"/>
                </a:clrFrom>
                <a:clrTo>
                  <a:srgbClr val="FAFAFA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667532" y="3785450"/>
              <a:ext cx="802024" cy="686990"/>
            </a:xfrm>
            <a:prstGeom prst="rect">
              <a:avLst/>
            </a:prstGeom>
          </p:spPr>
        </p:pic>
      </p:grpSp>
      <p:sp>
        <p:nvSpPr>
          <p:cNvPr id="50" name="Скругленный прямоугольник 49"/>
          <p:cNvSpPr/>
          <p:nvPr/>
        </p:nvSpPr>
        <p:spPr>
          <a:xfrm>
            <a:off x="8395019" y="2916535"/>
            <a:ext cx="3000626" cy="466404"/>
          </a:xfrm>
          <a:prstGeom prst="roundRect">
            <a:avLst>
              <a:gd name="adj" fmla="val 50000"/>
            </a:avLst>
          </a:prstGeom>
          <a:solidFill>
            <a:srgbClr val="0040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544" b="1" cap="all" dirty="0">
                <a:solidFill>
                  <a:schemeClr val="bg1">
                    <a:lumMod val="9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заголовка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43AB7D21-DD12-488D-9504-9BD44251A38B}"/>
              </a:ext>
            </a:extLst>
          </p:cNvPr>
          <p:cNvSpPr/>
          <p:nvPr/>
        </p:nvSpPr>
        <p:spPr>
          <a:xfrm>
            <a:off x="2326879" y="5821443"/>
            <a:ext cx="3746951" cy="98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4619" indent="-174619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текста.</a:t>
            </a:r>
          </a:p>
          <a:p>
            <a:pPr marL="174619" indent="-174619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текста.</a:t>
            </a:r>
          </a:p>
          <a:p>
            <a:pPr marL="174619" indent="-174619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текста.</a:t>
            </a:r>
          </a:p>
          <a:p>
            <a:pPr marL="174619" indent="-174619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текста.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52AF6F91-A4B7-4FFD-B1B3-EEC0BE1B4AAE}"/>
              </a:ext>
            </a:extLst>
          </p:cNvPr>
          <p:cNvSpPr/>
          <p:nvPr/>
        </p:nvSpPr>
        <p:spPr>
          <a:xfrm>
            <a:off x="8334170" y="3588851"/>
            <a:ext cx="3746951" cy="98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4619" indent="-174619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текста.</a:t>
            </a:r>
          </a:p>
          <a:p>
            <a:pPr marL="174619" indent="-174619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текста.</a:t>
            </a:r>
          </a:p>
          <a:p>
            <a:pPr marL="174619" indent="-174619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текста.</a:t>
            </a:r>
          </a:p>
          <a:p>
            <a:pPr marL="174619" indent="-174619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текста.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8149A70D-D205-423C-88FB-64C7620C5D57}"/>
              </a:ext>
            </a:extLst>
          </p:cNvPr>
          <p:cNvSpPr/>
          <p:nvPr/>
        </p:nvSpPr>
        <p:spPr>
          <a:xfrm>
            <a:off x="8334170" y="5821443"/>
            <a:ext cx="3746951" cy="98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4619" indent="-174619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текста.</a:t>
            </a:r>
          </a:p>
          <a:p>
            <a:pPr marL="174619" indent="-174619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текста.</a:t>
            </a:r>
          </a:p>
          <a:p>
            <a:pPr marL="174619" indent="-174619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текста.</a:t>
            </a:r>
          </a:p>
          <a:p>
            <a:pPr marL="174619" indent="-174619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текста.</a:t>
            </a:r>
          </a:p>
        </p:txBody>
      </p:sp>
    </p:spTree>
    <p:extLst>
      <p:ext uri="{BB962C8B-B14F-4D97-AF65-F5344CB8AC3E}">
        <p14:creationId xmlns:p14="http://schemas.microsoft.com/office/powerpoint/2010/main" val="2196562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370013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Слайд think-cell" r:id="rId5" imgW="216" imgH="216" progId="TCLayout.ActiveDocument.1">
                  <p:embed/>
                </p:oleObj>
              </mc:Choice>
              <mc:Fallback>
                <p:oleObj name="Слайд think-cell" r:id="rId5" imgW="216" imgH="216" progId="TCLayout.ActiveDocument.1">
                  <p:embed/>
                  <p:pic>
                    <p:nvPicPr>
                      <p:cNvPr id="3" name="Объект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70013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Прямоугольник 3" hidden="1"/>
          <p:cNvSpPr/>
          <p:nvPr>
            <p:custDataLst>
              <p:tags r:id="rId3"/>
            </p:custDataLst>
          </p:nvPr>
        </p:nvSpPr>
        <p:spPr>
          <a:xfrm>
            <a:off x="1368425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ru-RU" sz="2150" dirty="0">
              <a:latin typeface="Calibri"/>
              <a:sym typeface="Calibri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8457" y="240858"/>
            <a:ext cx="11509530" cy="43771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99" tIns="52150" rIns="104299" bIns="5215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4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слайда</a:t>
            </a:r>
          </a:p>
        </p:txBody>
      </p:sp>
      <p:sp>
        <p:nvSpPr>
          <p:cNvPr id="22" name="Скругленный прямоугольник 21"/>
          <p:cNvSpPr/>
          <p:nvPr/>
        </p:nvSpPr>
        <p:spPr>
          <a:xfrm>
            <a:off x="3897659" y="3128391"/>
            <a:ext cx="2370199" cy="580233"/>
          </a:xfrm>
          <a:prstGeom prst="roundRect">
            <a:avLst>
              <a:gd name="adj" fmla="val 50000"/>
            </a:avLst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ru-RU" sz="1544" b="1" cap="all" dirty="0">
                <a:solidFill>
                  <a:schemeClr val="bg1">
                    <a:lumMod val="9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заголовка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5812" y="3852640"/>
            <a:ext cx="1553214" cy="2199027"/>
          </a:xfrm>
          <a:prstGeom prst="rect">
            <a:avLst/>
          </a:prstGeom>
          <a:noFill/>
        </p:spPr>
        <p:txBody>
          <a:bodyPr wrap="square" lIns="72000" tIns="109710" rIns="72000" bIns="109710" rtlCol="0">
            <a:spAutoFit/>
          </a:bodyPr>
          <a:lstStyle/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</a:t>
            </a:r>
            <a:b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с буллитами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</p:txBody>
      </p:sp>
      <p:pic>
        <p:nvPicPr>
          <p:cNvPr id="32" name="Picture 32" descr="https://i.moscow/upload/media/default/0001/10/thumb_9140_default_big.png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39200"/>
              </a:clrFrom>
              <a:clrTo>
                <a:srgbClr val="F39200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9821" y="1645302"/>
            <a:ext cx="965199" cy="965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Овал 19">
            <a:extLst>
              <a:ext uri="{FF2B5EF4-FFF2-40B4-BE49-F238E27FC236}">
                <a16:creationId xmlns:a16="http://schemas.microsoft.com/office/drawing/2014/main" id="{74A8183E-F99B-4DCB-922A-EC0043BC88D1}"/>
              </a:ext>
            </a:extLst>
          </p:cNvPr>
          <p:cNvSpPr/>
          <p:nvPr/>
        </p:nvSpPr>
        <p:spPr>
          <a:xfrm>
            <a:off x="4398419" y="1512511"/>
            <a:ext cx="1188000" cy="1188000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664427" y="3128391"/>
            <a:ext cx="2445613" cy="580233"/>
          </a:xfrm>
          <a:prstGeom prst="roundRect">
            <a:avLst>
              <a:gd name="adj" fmla="val 50000"/>
            </a:avLst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ru-RU" sz="1544" b="1" cap="all" dirty="0">
                <a:solidFill>
                  <a:schemeClr val="bg1">
                    <a:lumMod val="9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заголовка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10B646DF-FB42-4B29-8907-10EEACE5F7E4}"/>
              </a:ext>
            </a:extLst>
          </p:cNvPr>
          <p:cNvGrpSpPr/>
          <p:nvPr/>
        </p:nvGrpSpPr>
        <p:grpSpPr>
          <a:xfrm>
            <a:off x="1237328" y="1512511"/>
            <a:ext cx="1188000" cy="1188000"/>
            <a:chOff x="698928" y="1674529"/>
            <a:chExt cx="1188000" cy="1188000"/>
          </a:xfrm>
        </p:grpSpPr>
        <p:pic>
          <p:nvPicPr>
            <p:cNvPr id="31" name="Picture 13" descr="https://i.ya-webdesign.com/images/graph-png-1.png"/>
            <p:cNvPicPr>
              <a:picLocks noChangeAspect="1" noChangeArrowheads="1"/>
            </p:cNvPicPr>
            <p:nvPr/>
          </p:nvPicPr>
          <p:blipFill>
            <a:blip r:embed="rId8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3204" y="1895411"/>
              <a:ext cx="792513" cy="697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095AD4C9-B3E4-42FF-9616-BAB91D21939C}"/>
                </a:ext>
              </a:extLst>
            </p:cNvPr>
            <p:cNvSpPr/>
            <p:nvPr/>
          </p:nvSpPr>
          <p:spPr>
            <a:xfrm>
              <a:off x="698928" y="1674529"/>
              <a:ext cx="1188000" cy="1188000"/>
            </a:xfrm>
            <a:prstGeom prst="ellipse">
              <a:avLst/>
            </a:prstGeom>
            <a:noFill/>
            <a:ln w="63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6CACE358-A65A-41FD-B959-85BBA38BD104}"/>
              </a:ext>
            </a:extLst>
          </p:cNvPr>
          <p:cNvSpPr txBox="1"/>
          <p:nvPr/>
        </p:nvSpPr>
        <p:spPr>
          <a:xfrm>
            <a:off x="1110626" y="3852640"/>
            <a:ext cx="1553214" cy="2199027"/>
          </a:xfrm>
          <a:prstGeom prst="rect">
            <a:avLst/>
          </a:prstGeom>
          <a:noFill/>
        </p:spPr>
        <p:txBody>
          <a:bodyPr wrap="square" lIns="72000" tIns="109710" rIns="72000" bIns="109710" rtlCol="0">
            <a:spAutoFit/>
          </a:bodyPr>
          <a:lstStyle/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</a:t>
            </a:r>
            <a:b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с буллитами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</p:txBody>
      </p:sp>
      <p:sp>
        <p:nvSpPr>
          <p:cNvPr id="23" name="Скругленный прямоугольник 22"/>
          <p:cNvSpPr/>
          <p:nvPr/>
        </p:nvSpPr>
        <p:spPr>
          <a:xfrm>
            <a:off x="7055477" y="3128391"/>
            <a:ext cx="2445613" cy="580233"/>
          </a:xfrm>
          <a:prstGeom prst="roundRect">
            <a:avLst>
              <a:gd name="adj" fmla="val 50000"/>
            </a:avLst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ru-RU" sz="1544" b="1" cap="all" dirty="0">
                <a:solidFill>
                  <a:schemeClr val="bg1">
                    <a:lumMod val="9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заголовка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2CD89E5B-37AC-494C-BF4E-D4CBA1E03D62}"/>
              </a:ext>
            </a:extLst>
          </p:cNvPr>
          <p:cNvGrpSpPr/>
          <p:nvPr/>
        </p:nvGrpSpPr>
        <p:grpSpPr>
          <a:xfrm>
            <a:off x="7650788" y="1512511"/>
            <a:ext cx="1188000" cy="1188000"/>
            <a:chOff x="5829749" y="1674529"/>
            <a:chExt cx="1188000" cy="1188000"/>
          </a:xfrm>
        </p:grpSpPr>
        <p:pic>
          <p:nvPicPr>
            <p:cNvPr id="33" name="Picture 19" descr="https://cdn.icon-icons.com/icons2/520/PNG/512/Arrow-big-three-ways_icon-icons.com_52288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4772" y="1842555"/>
              <a:ext cx="857955" cy="857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1C42C557-06F1-43EA-BF7F-3C987252203A}"/>
                </a:ext>
              </a:extLst>
            </p:cNvPr>
            <p:cNvSpPr/>
            <p:nvPr/>
          </p:nvSpPr>
          <p:spPr>
            <a:xfrm>
              <a:off x="5829749" y="1674529"/>
              <a:ext cx="1188000" cy="1188000"/>
            </a:xfrm>
            <a:prstGeom prst="ellipse">
              <a:avLst/>
            </a:prstGeom>
            <a:noFill/>
            <a:ln w="63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BF7AE536-1D2C-400F-8359-DA53CBAA8726}"/>
              </a:ext>
            </a:extLst>
          </p:cNvPr>
          <p:cNvSpPr txBox="1"/>
          <p:nvPr/>
        </p:nvSpPr>
        <p:spPr>
          <a:xfrm>
            <a:off x="7468181" y="3852640"/>
            <a:ext cx="1553214" cy="2199027"/>
          </a:xfrm>
          <a:prstGeom prst="rect">
            <a:avLst/>
          </a:prstGeom>
          <a:noFill/>
        </p:spPr>
        <p:txBody>
          <a:bodyPr wrap="square" lIns="72000" tIns="109710" rIns="72000" bIns="109710" rtlCol="0">
            <a:spAutoFit/>
          </a:bodyPr>
          <a:lstStyle/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</a:t>
            </a:r>
            <a:b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с буллитами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</p:txBody>
      </p:sp>
      <p:sp>
        <p:nvSpPr>
          <p:cNvPr id="30" name="Скругленный прямоугольник 29"/>
          <p:cNvSpPr/>
          <p:nvPr/>
        </p:nvSpPr>
        <p:spPr>
          <a:xfrm>
            <a:off x="10288709" y="3128391"/>
            <a:ext cx="2234495" cy="580233"/>
          </a:xfrm>
          <a:prstGeom prst="roundRect">
            <a:avLst>
              <a:gd name="adj" fmla="val 50000"/>
            </a:avLst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ru-RU" sz="1544" b="1" cap="all" dirty="0">
                <a:solidFill>
                  <a:schemeClr val="bg1">
                    <a:lumMod val="9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заголовка</a:t>
            </a: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E62C10F9-9A49-4419-BD43-0322BE220A0B}"/>
              </a:ext>
            </a:extLst>
          </p:cNvPr>
          <p:cNvGrpSpPr/>
          <p:nvPr/>
        </p:nvGrpSpPr>
        <p:grpSpPr>
          <a:xfrm>
            <a:off x="10903155" y="1512511"/>
            <a:ext cx="1188000" cy="1188000"/>
            <a:chOff x="8440423" y="1674529"/>
            <a:chExt cx="1188000" cy="1188000"/>
          </a:xfrm>
        </p:grpSpPr>
        <p:sp>
          <p:nvSpPr>
            <p:cNvPr id="34" name="Прямоугольник 33"/>
            <p:cNvSpPr/>
            <p:nvPr/>
          </p:nvSpPr>
          <p:spPr>
            <a:xfrm>
              <a:off x="8579897" y="2052439"/>
              <a:ext cx="94326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tx2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ESG</a:t>
              </a:r>
              <a:endParaRPr lang="ru-RU" sz="24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C08800D3-50FD-4226-83F5-8499EC8FDE34}"/>
                </a:ext>
              </a:extLst>
            </p:cNvPr>
            <p:cNvSpPr/>
            <p:nvPr/>
          </p:nvSpPr>
          <p:spPr>
            <a:xfrm>
              <a:off x="8440423" y="1674529"/>
              <a:ext cx="1188000" cy="1188000"/>
            </a:xfrm>
            <a:prstGeom prst="ellipse">
              <a:avLst/>
            </a:prstGeom>
            <a:noFill/>
            <a:ln w="63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AF868C3-30D4-4363-9EEF-4676D97F8B8A}"/>
              </a:ext>
            </a:extLst>
          </p:cNvPr>
          <p:cNvSpPr txBox="1"/>
          <p:nvPr/>
        </p:nvSpPr>
        <p:spPr>
          <a:xfrm>
            <a:off x="10537941" y="3852640"/>
            <a:ext cx="1553214" cy="2199027"/>
          </a:xfrm>
          <a:prstGeom prst="rect">
            <a:avLst/>
          </a:prstGeom>
          <a:noFill/>
        </p:spPr>
        <p:txBody>
          <a:bodyPr wrap="square" lIns="72000" tIns="109710" rIns="72000" bIns="109710" rtlCol="0">
            <a:spAutoFit/>
          </a:bodyPr>
          <a:lstStyle/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</a:t>
            </a:r>
            <a:b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с буллитами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</p:txBody>
      </p:sp>
    </p:spTree>
    <p:extLst>
      <p:ext uri="{BB962C8B-B14F-4D97-AF65-F5344CB8AC3E}">
        <p14:creationId xmlns:p14="http://schemas.microsoft.com/office/powerpoint/2010/main" val="1291052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Объект 5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370013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Слайд think-cell" r:id="rId13" imgW="270" imgH="270" progId="TCLayout.ActiveDocument.1">
                  <p:embed/>
                </p:oleObj>
              </mc:Choice>
              <mc:Fallback>
                <p:oleObj name="Слайд think-cell" r:id="rId13" imgW="270" imgH="270" progId="TCLayout.ActiveDocument.1">
                  <p:embed/>
                  <p:pic>
                    <p:nvPicPr>
                      <p:cNvPr id="6" name="Объект 5" hidden="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70013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Прямоугольник 4" hidden="1"/>
          <p:cNvSpPr/>
          <p:nvPr>
            <p:custDataLst>
              <p:tags r:id="rId3"/>
            </p:custDataLst>
          </p:nvPr>
        </p:nvSpPr>
        <p:spPr>
          <a:xfrm>
            <a:off x="1368425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ru-RU" sz="1200" dirty="0">
              <a:latin typeface="Arial Narrow" panose="020B0606020202030204" pitchFamily="34" charset="0"/>
              <a:sym typeface="Arial Narrow" panose="020B0606020202030204" pitchFamily="34" charset="0"/>
            </a:endParaRPr>
          </a:p>
        </p:txBody>
      </p:sp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548457" y="240858"/>
            <a:ext cx="11509530" cy="43771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99" tIns="52150" rIns="104299" bIns="5215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4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слайда</a:t>
            </a:r>
          </a:p>
        </p:txBody>
      </p:sp>
      <p:grpSp>
        <p:nvGrpSpPr>
          <p:cNvPr id="69" name="Группа 68"/>
          <p:cNvGrpSpPr/>
          <p:nvPr/>
        </p:nvGrpSpPr>
        <p:grpSpPr>
          <a:xfrm>
            <a:off x="2513911" y="3365252"/>
            <a:ext cx="2730500" cy="526683"/>
            <a:chOff x="-47859" y="2874868"/>
            <a:chExt cx="2730263" cy="528981"/>
          </a:xfrm>
        </p:grpSpPr>
        <p:sp>
          <p:nvSpPr>
            <p:cNvPr id="70" name="Прямоугольник 69"/>
            <p:cNvSpPr/>
            <p:nvPr/>
          </p:nvSpPr>
          <p:spPr>
            <a:xfrm>
              <a:off x="-47859" y="2874868"/>
              <a:ext cx="1158022" cy="52898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2400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x</a:t>
              </a:r>
              <a:r>
                <a:rPr lang="ru-RU" sz="3528" b="1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2</a:t>
              </a:r>
              <a:r>
                <a:rPr lang="en-US" sz="3528" b="1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,</a:t>
              </a:r>
              <a:r>
                <a:rPr lang="ru-RU" sz="3528" b="1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8</a:t>
              </a:r>
              <a:endParaRPr lang="ru-RU" sz="24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71" name="Round Same Side Corner Rectangle 58"/>
            <p:cNvSpPr/>
            <p:nvPr/>
          </p:nvSpPr>
          <p:spPr>
            <a:xfrm rot="10800000" flipH="1">
              <a:off x="1089888" y="2916535"/>
              <a:ext cx="36000" cy="360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F18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419" tIns="109710" rIns="219419" bIns="109710" rtlCol="0" anchor="ctr"/>
            <a:lstStyle/>
            <a:p>
              <a:pPr algn="ctr"/>
              <a:endParaRPr lang="bg-BG" sz="1800" dirty="0">
                <a:solidFill>
                  <a:schemeClr val="accent6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78" name="Прямоугольник 77"/>
            <p:cNvSpPr/>
            <p:nvPr/>
          </p:nvSpPr>
          <p:spPr>
            <a:xfrm>
              <a:off x="1131416" y="2877702"/>
              <a:ext cx="1550988" cy="459236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764" b="1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EBITDA</a:t>
              </a:r>
              <a:r>
                <a:rPr lang="ru-RU" sz="16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*</a:t>
              </a:r>
            </a:p>
            <a:p>
              <a:pPr>
                <a:lnSpc>
                  <a:spcPct val="80000"/>
                </a:lnSpc>
              </a:pPr>
              <a:r>
                <a:rPr lang="ru-RU" sz="12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млрд руб.</a:t>
              </a:r>
              <a:endParaRPr lang="en-US" sz="1200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</p:grpSp>
      <p:grpSp>
        <p:nvGrpSpPr>
          <p:cNvPr id="123" name="Группа 122"/>
          <p:cNvGrpSpPr/>
          <p:nvPr/>
        </p:nvGrpSpPr>
        <p:grpSpPr>
          <a:xfrm>
            <a:off x="7871055" y="3365254"/>
            <a:ext cx="2568575" cy="526683"/>
            <a:chOff x="114474" y="2874844"/>
            <a:chExt cx="2567930" cy="529040"/>
          </a:xfrm>
        </p:grpSpPr>
        <p:sp>
          <p:nvSpPr>
            <p:cNvPr id="124" name="Прямоугольник 123"/>
            <p:cNvSpPr/>
            <p:nvPr/>
          </p:nvSpPr>
          <p:spPr>
            <a:xfrm>
              <a:off x="114474" y="2874844"/>
              <a:ext cx="995690" cy="52904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2400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x</a:t>
              </a:r>
              <a:r>
                <a:rPr lang="ru-RU" sz="3528" b="1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2,9</a:t>
              </a:r>
              <a:endParaRPr lang="ru-RU" sz="24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125" name="Round Same Side Corner Rectangle 58"/>
            <p:cNvSpPr/>
            <p:nvPr/>
          </p:nvSpPr>
          <p:spPr>
            <a:xfrm rot="10800000" flipH="1">
              <a:off x="1089888" y="2916535"/>
              <a:ext cx="36000" cy="360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F18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419" tIns="109710" rIns="219419" bIns="109710" rtlCol="0" anchor="ctr"/>
            <a:lstStyle/>
            <a:p>
              <a:pPr algn="ctr"/>
              <a:endParaRPr lang="bg-BG" sz="1800" dirty="0">
                <a:solidFill>
                  <a:schemeClr val="accent6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126" name="Прямоугольник 125"/>
            <p:cNvSpPr/>
            <p:nvPr/>
          </p:nvSpPr>
          <p:spPr>
            <a:xfrm>
              <a:off x="1131416" y="2877680"/>
              <a:ext cx="1550988" cy="459287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ru-RU" sz="1764" b="1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Выручка</a:t>
              </a:r>
              <a:r>
                <a:rPr lang="ru-RU" sz="16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*</a:t>
              </a:r>
            </a:p>
            <a:p>
              <a:pPr>
                <a:lnSpc>
                  <a:spcPct val="80000"/>
                </a:lnSpc>
              </a:pPr>
              <a:r>
                <a:rPr lang="ru-RU" sz="12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млрд руб.</a:t>
              </a:r>
              <a:endParaRPr lang="en-US" sz="1200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</p:grpSp>
      <p:sp>
        <p:nvSpPr>
          <p:cNvPr id="38" name="Текст 2">
            <a:extLst>
              <a:ext uri="{FF2B5EF4-FFF2-40B4-BE49-F238E27FC236}">
                <a16:creationId xmlns:a16="http://schemas.microsoft.com/office/drawing/2014/main" id="{E584B5A8-2C4D-454B-99E3-875C2E1CAE2B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3494592" y="5872930"/>
            <a:ext cx="2794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0" tIns="0" rIns="0" bIns="0" numCol="1" spcCol="0" anchor="t" anchorCtr="0" compatLnSpc="1">
            <a:prstTxWarp prst="textNoShape">
              <a:avLst/>
            </a:prstTxWarp>
            <a:noAutofit/>
          </a:bodyPr>
          <a:lstStyle>
            <a:lvl1pPr marL="388942" indent="-38894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5300" indent="-32498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1658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3704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5750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8222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71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1213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70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</a:pPr>
            <a:fld id="{B4486FB6-C2AA-4D06-BF8E-93883936FB50}" type="datetime'2''''''''''''''''''''''''''''''''02''5'''''''">
              <a:rPr lang="ru-RU" altLang="en-US" sz="1103">
                <a:solidFill>
                  <a:srgbClr val="80808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Arial Narrow" panose="020B0606020202030204" pitchFamily="34" charset="0"/>
              </a:rPr>
              <a:pPr marL="0" indent="0" algn="ctr">
                <a:spcBef>
                  <a:spcPct val="0"/>
                </a:spcBef>
                <a:buNone/>
              </a:pPr>
              <a:t>2025</a:t>
            </a:fld>
            <a:endParaRPr lang="ru-RU" altLang="ru-RU" sz="1103" dirty="0">
              <a:solidFill>
                <a:srgbClr val="80808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Arial Narrow" panose="020B0606020202030204" pitchFamily="34" charset="0"/>
            </a:endParaRPr>
          </a:p>
        </p:txBody>
      </p:sp>
      <p:sp>
        <p:nvSpPr>
          <p:cNvPr id="37" name="Текст 2">
            <a:extLst>
              <a:ext uri="{FF2B5EF4-FFF2-40B4-BE49-F238E27FC236}">
                <a16:creationId xmlns:a16="http://schemas.microsoft.com/office/drawing/2014/main" id="{0BA20872-4E40-45A1-A87F-8267E79F7A8F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2223004" y="5872930"/>
            <a:ext cx="2794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0" tIns="0" rIns="0" bIns="0" numCol="1" spcCol="0" anchor="t" anchorCtr="0" compatLnSpc="1">
            <a:prstTxWarp prst="textNoShape">
              <a:avLst/>
            </a:prstTxWarp>
            <a:noAutofit/>
          </a:bodyPr>
          <a:lstStyle>
            <a:lvl1pPr marL="388942" indent="-38894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5300" indent="-32498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1658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3704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5750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8222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71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1213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70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</a:pPr>
            <a:r>
              <a:rPr lang="en-US" altLang="en-US" sz="1103" dirty="0">
                <a:solidFill>
                  <a:srgbClr val="80808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Arial Narrow" panose="020B0606020202030204" pitchFamily="34" charset="0"/>
              </a:rPr>
              <a:t>2019</a:t>
            </a:r>
            <a:endParaRPr lang="ru-RU" altLang="ru-RU" sz="1103" dirty="0">
              <a:solidFill>
                <a:srgbClr val="80808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Arial Narrow" panose="020B0606020202030204" pitchFamily="34" charset="0"/>
            </a:endParaRPr>
          </a:p>
        </p:txBody>
      </p:sp>
      <p:sp>
        <p:nvSpPr>
          <p:cNvPr id="39" name="Текст 2">
            <a:extLst>
              <a:ext uri="{FF2B5EF4-FFF2-40B4-BE49-F238E27FC236}">
                <a16:creationId xmlns:a16="http://schemas.microsoft.com/office/drawing/2014/main" id="{EEE0794B-AF43-4CB5-97D6-CA08FE063DD9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gray">
          <a:xfrm>
            <a:off x="4766179" y="5872930"/>
            <a:ext cx="2794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0" tIns="0" rIns="0" bIns="0" numCol="1" spcCol="0" anchor="t" anchorCtr="0" compatLnSpc="1">
            <a:prstTxWarp prst="textNoShape">
              <a:avLst/>
            </a:prstTxWarp>
            <a:noAutofit/>
          </a:bodyPr>
          <a:lstStyle>
            <a:lvl1pPr marL="388942" indent="-38894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5300" indent="-32498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1658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3704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5750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8222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71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1213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70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</a:pPr>
            <a:fld id="{D28F3C66-C636-4A9B-B2F8-DA29396CF891}" type="datetime'''''''''2''''0''''''''''''''''''3''''''''''0'''''''''''">
              <a:rPr lang="ru-RU" altLang="en-US" sz="1103">
                <a:solidFill>
                  <a:srgbClr val="80808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Arial Narrow" panose="020B0606020202030204" pitchFamily="34" charset="0"/>
              </a:rPr>
              <a:pPr marL="0" indent="0" algn="ctr">
                <a:spcBef>
                  <a:spcPct val="0"/>
                </a:spcBef>
                <a:buNone/>
              </a:pPr>
              <a:t>2030</a:t>
            </a:fld>
            <a:endParaRPr lang="ru-RU" altLang="ru-RU" sz="1103" dirty="0">
              <a:solidFill>
                <a:srgbClr val="80808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Arial Narrow" panose="020B0606020202030204" pitchFamily="34" charset="0"/>
            </a:endParaRPr>
          </a:p>
        </p:txBody>
      </p:sp>
      <p:sp>
        <p:nvSpPr>
          <p:cNvPr id="48" name="Текст 2">
            <a:extLst>
              <a:ext uri="{FF2B5EF4-FFF2-40B4-BE49-F238E27FC236}">
                <a16:creationId xmlns:a16="http://schemas.microsoft.com/office/drawing/2014/main" id="{9C3FF61D-ACB1-4684-9C58-187705B6D792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gray">
          <a:xfrm>
            <a:off x="7521650" y="5872930"/>
            <a:ext cx="2794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0" tIns="0" rIns="0" bIns="0" numCol="1" spcCol="0" anchor="t" anchorCtr="0" compatLnSpc="1">
            <a:prstTxWarp prst="textNoShape">
              <a:avLst/>
            </a:prstTxWarp>
            <a:noAutofit/>
          </a:bodyPr>
          <a:lstStyle>
            <a:lvl1pPr marL="388942" indent="-38894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5300" indent="-32498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1658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3704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5750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8222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71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1213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70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</a:pPr>
            <a:r>
              <a:rPr lang="en-US" altLang="en-US" sz="1103" dirty="0">
                <a:solidFill>
                  <a:srgbClr val="80808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Arial Narrow" panose="020B0606020202030204" pitchFamily="34" charset="0"/>
              </a:rPr>
              <a:t>2019</a:t>
            </a:r>
            <a:endParaRPr lang="ru-RU" altLang="ru-RU" sz="1103" dirty="0">
              <a:solidFill>
                <a:srgbClr val="80808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Arial Narrow" panose="020B0606020202030204" pitchFamily="34" charset="0"/>
            </a:endParaRPr>
          </a:p>
        </p:txBody>
      </p:sp>
      <p:sp>
        <p:nvSpPr>
          <p:cNvPr id="49" name="Текст 2">
            <a:extLst>
              <a:ext uri="{FF2B5EF4-FFF2-40B4-BE49-F238E27FC236}">
                <a16:creationId xmlns:a16="http://schemas.microsoft.com/office/drawing/2014/main" id="{1E88A993-2407-4E26-BB65-E88D7A7CAC8D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gray">
          <a:xfrm>
            <a:off x="8956005" y="5872930"/>
            <a:ext cx="2794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0" tIns="0" rIns="0" bIns="0" numCol="1" spcCol="0" anchor="t" anchorCtr="0" compatLnSpc="1">
            <a:prstTxWarp prst="textNoShape">
              <a:avLst/>
            </a:prstTxWarp>
            <a:noAutofit/>
          </a:bodyPr>
          <a:lstStyle>
            <a:lvl1pPr marL="388942" indent="-38894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5300" indent="-32498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1658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3704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5750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8222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71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1213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70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</a:pPr>
            <a:fld id="{E06AFC2A-A53F-4082-BC47-003D4AEE79DD}" type="datetime'''2''''''''''''025'''''''">
              <a:rPr lang="ru-RU" altLang="en-US" sz="1103">
                <a:solidFill>
                  <a:srgbClr val="80808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Arial Narrow" panose="020B0606020202030204" pitchFamily="34" charset="0"/>
              </a:rPr>
              <a:pPr marL="0" indent="0" algn="ctr">
                <a:spcBef>
                  <a:spcPct val="0"/>
                </a:spcBef>
                <a:buNone/>
              </a:pPr>
              <a:t>2025</a:t>
            </a:fld>
            <a:endParaRPr lang="ru-RU" altLang="ru-RU" sz="1103" dirty="0">
              <a:solidFill>
                <a:srgbClr val="80808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Arial Narrow" panose="020B0606020202030204" pitchFamily="34" charset="0"/>
            </a:endParaRPr>
          </a:p>
        </p:txBody>
      </p:sp>
      <p:sp>
        <p:nvSpPr>
          <p:cNvPr id="50" name="Текст 2">
            <a:extLst>
              <a:ext uri="{FF2B5EF4-FFF2-40B4-BE49-F238E27FC236}">
                <a16:creationId xmlns:a16="http://schemas.microsoft.com/office/drawing/2014/main" id="{07552844-EEF5-4E21-9116-3328B358AF05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gray">
          <a:xfrm>
            <a:off x="10252150" y="5872930"/>
            <a:ext cx="2794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0" tIns="0" rIns="0" bIns="0" numCol="1" spcCol="0" anchor="t" anchorCtr="0" compatLnSpc="1">
            <a:prstTxWarp prst="textNoShape">
              <a:avLst/>
            </a:prstTxWarp>
            <a:noAutofit/>
          </a:bodyPr>
          <a:lstStyle>
            <a:lvl1pPr marL="388942" indent="-38894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5300" indent="-32498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1658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3704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5750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8222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71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1213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70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</a:pPr>
            <a:fld id="{6A83A210-DD2A-45FA-A04C-1F59F2C66191}" type="datetime'''''''''''''''''''''''''''''''''20''''''''3''''0'''">
              <a:rPr lang="ru-RU" altLang="en-US" sz="1103">
                <a:solidFill>
                  <a:srgbClr val="80808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Arial Narrow" panose="020B0606020202030204" pitchFamily="34" charset="0"/>
              </a:rPr>
              <a:pPr marL="0" indent="0" algn="ctr">
                <a:spcBef>
                  <a:spcPct val="0"/>
                </a:spcBef>
                <a:buNone/>
              </a:pPr>
              <a:t>2030</a:t>
            </a:fld>
            <a:endParaRPr lang="ru-RU" altLang="ru-RU" sz="1103" dirty="0">
              <a:solidFill>
                <a:srgbClr val="80808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Arial Narrow" panose="020B0606020202030204" pitchFamily="34" charset="0"/>
            </a:endParaRPr>
          </a:p>
        </p:txBody>
      </p:sp>
      <p:sp>
        <p:nvSpPr>
          <p:cNvPr id="131" name="Прямоугольник 130"/>
          <p:cNvSpPr/>
          <p:nvPr/>
        </p:nvSpPr>
        <p:spPr>
          <a:xfrm>
            <a:off x="548457" y="6597250"/>
            <a:ext cx="964907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ru-RU" sz="1000" dirty="0">
                <a:solidFill>
                  <a:schemeClr val="bg1">
                    <a:lumMod val="50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* </a:t>
            </a:r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Примечание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: </a:t>
            </a:r>
            <a:r>
              <a:rPr lang="ru-RU" sz="1000" dirty="0">
                <a:solidFill>
                  <a:schemeClr val="bg1">
                    <a:lumMod val="6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примечания или сноски </a:t>
            </a:r>
          </a:p>
        </p:txBody>
      </p:sp>
      <p:sp>
        <p:nvSpPr>
          <p:cNvPr id="27" name="Прямоугольник 26"/>
          <p:cNvSpPr/>
          <p:nvPr/>
        </p:nvSpPr>
        <p:spPr>
          <a:xfrm>
            <a:off x="2223004" y="1262003"/>
            <a:ext cx="7837335" cy="1682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с буллитами.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с буллитами.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с буллитами.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с буллитами.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endParaRPr lang="ru-RU" sz="1200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" name="Прямоугольник 1" hidden="1">
            <a:extLst>
              <a:ext uri="{FF2B5EF4-FFF2-40B4-BE49-F238E27FC236}">
                <a16:creationId xmlns:a16="http://schemas.microsoft.com/office/drawing/2014/main" id="{52B1315A-CF58-4971-BC47-95BD08AB78E8}"/>
              </a:ext>
            </a:extLst>
          </p:cNvPr>
          <p:cNvSpPr/>
          <p:nvPr/>
        </p:nvSpPr>
        <p:spPr>
          <a:xfrm>
            <a:off x="1368425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ru-RU" sz="1200" dirty="0">
              <a:latin typeface="Arial Narrow" panose="020B0606020202030204" pitchFamily="34" charset="0"/>
              <a:sym typeface="Arial Narrow" panose="020B0606020202030204" pitchFamily="34" charset="0"/>
            </a:endParaRPr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93ED4783-27A8-4FE5-BE7F-25A767D3B966}"/>
              </a:ext>
            </a:extLst>
          </p:cNvPr>
          <p:cNvGrpSpPr/>
          <p:nvPr/>
        </p:nvGrpSpPr>
        <p:grpSpPr>
          <a:xfrm>
            <a:off x="782931" y="1332359"/>
            <a:ext cx="1188000" cy="1188000"/>
            <a:chOff x="3978548" y="2448615"/>
            <a:chExt cx="1188000" cy="1188000"/>
          </a:xfrm>
        </p:grpSpPr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79B72240-3D50-4F22-8C1A-4A551FFF9309}"/>
                </a:ext>
              </a:extLst>
            </p:cNvPr>
            <p:cNvSpPr/>
            <p:nvPr/>
          </p:nvSpPr>
          <p:spPr>
            <a:xfrm>
              <a:off x="3978548" y="2448615"/>
              <a:ext cx="1188000" cy="1188000"/>
            </a:xfrm>
            <a:prstGeom prst="ellipse">
              <a:avLst/>
            </a:prstGeom>
            <a:noFill/>
            <a:ln w="63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pic>
          <p:nvPicPr>
            <p:cNvPr id="30" name="Рисунок 29">
              <a:extLst>
                <a:ext uri="{FF2B5EF4-FFF2-40B4-BE49-F238E27FC236}">
                  <a16:creationId xmlns:a16="http://schemas.microsoft.com/office/drawing/2014/main" id="{9D2A734E-D7E0-4F27-A5EC-6A1101DB8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clrChange>
                <a:clrFrom>
                  <a:srgbClr val="FAFAFA"/>
                </a:clrFrom>
                <a:clrTo>
                  <a:srgbClr val="FAFAFA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050556" y="2520623"/>
              <a:ext cx="971177" cy="894054"/>
            </a:xfrm>
            <a:prstGeom prst="rect">
              <a:avLst/>
            </a:prstGeom>
          </p:spPr>
        </p:pic>
      </p:grp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6CD483C3-A10D-41F1-AE67-D48ED2D1F9A7}"/>
              </a:ext>
            </a:extLst>
          </p:cNvPr>
          <p:cNvCxnSpPr>
            <a:cxnSpLocks/>
          </p:cNvCxnSpPr>
          <p:nvPr/>
        </p:nvCxnSpPr>
        <p:spPr>
          <a:xfrm>
            <a:off x="3629678" y="5143001"/>
            <a:ext cx="0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D7C4C30C-7A79-458B-947B-65EE4834C9D4}"/>
              </a:ext>
            </a:extLst>
          </p:cNvPr>
          <p:cNvCxnSpPr>
            <a:cxnSpLocks/>
          </p:cNvCxnSpPr>
          <p:nvPr/>
        </p:nvCxnSpPr>
        <p:spPr>
          <a:xfrm>
            <a:off x="4896005" y="4350913"/>
            <a:ext cx="0" cy="144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8E3E9CBB-CAE0-41CE-8F45-E298912DC509}"/>
              </a:ext>
            </a:extLst>
          </p:cNvPr>
          <p:cNvCxnSpPr>
            <a:cxnSpLocks/>
          </p:cNvCxnSpPr>
          <p:nvPr/>
        </p:nvCxnSpPr>
        <p:spPr>
          <a:xfrm>
            <a:off x="7723237" y="5503041"/>
            <a:ext cx="0" cy="2880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CE260104-2619-42AA-93DF-BB340456CC54}"/>
              </a:ext>
            </a:extLst>
          </p:cNvPr>
          <p:cNvCxnSpPr>
            <a:cxnSpLocks/>
          </p:cNvCxnSpPr>
          <p:nvPr/>
        </p:nvCxnSpPr>
        <p:spPr>
          <a:xfrm>
            <a:off x="9091389" y="5143001"/>
            <a:ext cx="0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553A4AFC-D0E0-46A4-B361-0EA7B58A5A78}"/>
              </a:ext>
            </a:extLst>
          </p:cNvPr>
          <p:cNvCxnSpPr>
            <a:cxnSpLocks/>
          </p:cNvCxnSpPr>
          <p:nvPr/>
        </p:nvCxnSpPr>
        <p:spPr>
          <a:xfrm>
            <a:off x="10439629" y="4350913"/>
            <a:ext cx="0" cy="144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5302F4E9-46AF-4AEA-BB69-155CF51B90A4}"/>
              </a:ext>
            </a:extLst>
          </p:cNvPr>
          <p:cNvCxnSpPr>
            <a:cxnSpLocks/>
          </p:cNvCxnSpPr>
          <p:nvPr/>
        </p:nvCxnSpPr>
        <p:spPr>
          <a:xfrm>
            <a:off x="2360404" y="5503041"/>
            <a:ext cx="0" cy="2880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3" name="Chart 3">
            <a:extLst>
              <a:ext uri="{FF2B5EF4-FFF2-40B4-BE49-F238E27FC236}">
                <a16:creationId xmlns:a16="http://schemas.microsoft.com/office/drawing/2014/main" id="{8206D2B8-1A14-4BB4-A09D-F2B2B906B248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34117562"/>
              </p:ext>
            </p:extLst>
          </p:nvPr>
        </p:nvGraphicFramePr>
        <p:xfrm>
          <a:off x="2246817" y="3943223"/>
          <a:ext cx="2809875" cy="1847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graphicFrame>
        <p:nvGraphicFramePr>
          <p:cNvPr id="75" name="Chart 3">
            <a:extLst>
              <a:ext uri="{FF2B5EF4-FFF2-40B4-BE49-F238E27FC236}">
                <a16:creationId xmlns:a16="http://schemas.microsoft.com/office/drawing/2014/main" id="{239B1545-1C50-49BA-A303-FD430C73396F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612182682"/>
              </p:ext>
            </p:extLst>
          </p:nvPr>
        </p:nvGraphicFramePr>
        <p:xfrm>
          <a:off x="7558318" y="3943223"/>
          <a:ext cx="3032125" cy="1847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</p:spTree>
    <p:extLst>
      <p:ext uri="{BB962C8B-B14F-4D97-AF65-F5344CB8AC3E}">
        <p14:creationId xmlns:p14="http://schemas.microsoft.com/office/powerpoint/2010/main" val="2793520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97A70EB8-D02A-4C3D-9B60-3B1C99EAEB30}"/>
              </a:ext>
            </a:extLst>
          </p:cNvPr>
          <p:cNvGrpSpPr/>
          <p:nvPr/>
        </p:nvGrpSpPr>
        <p:grpSpPr>
          <a:xfrm>
            <a:off x="782931" y="1332359"/>
            <a:ext cx="1188000" cy="1188000"/>
            <a:chOff x="1818382" y="1332359"/>
            <a:chExt cx="1188000" cy="1188000"/>
          </a:xfrm>
        </p:grpSpPr>
        <p:pic>
          <p:nvPicPr>
            <p:cNvPr id="48" name="Рисунок 47">
              <a:extLst>
                <a:ext uri="{FF2B5EF4-FFF2-40B4-BE49-F238E27FC236}">
                  <a16:creationId xmlns:a16="http://schemas.microsoft.com/office/drawing/2014/main" id="{C22F9487-D3DE-4C88-8EF2-F8C8A46C0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FAFAFA"/>
                </a:clrFrom>
                <a:clrTo>
                  <a:srgbClr val="FAFAFA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979674" y="1545825"/>
              <a:ext cx="850068" cy="785910"/>
            </a:xfrm>
            <a:prstGeom prst="rect">
              <a:avLst/>
            </a:prstGeom>
          </p:spPr>
        </p:pic>
        <p:sp>
          <p:nvSpPr>
            <p:cNvPr id="62" name="Овал 61">
              <a:extLst>
                <a:ext uri="{FF2B5EF4-FFF2-40B4-BE49-F238E27FC236}">
                  <a16:creationId xmlns:a16="http://schemas.microsoft.com/office/drawing/2014/main" id="{549603D5-F7EA-4E55-9F5C-E9BB2942AC67}"/>
                </a:ext>
              </a:extLst>
            </p:cNvPr>
            <p:cNvSpPr/>
            <p:nvPr/>
          </p:nvSpPr>
          <p:spPr>
            <a:xfrm>
              <a:off x="1818382" y="1332359"/>
              <a:ext cx="1188000" cy="1188000"/>
            </a:xfrm>
            <a:prstGeom prst="ellipse">
              <a:avLst/>
            </a:prstGeom>
            <a:noFill/>
            <a:ln w="63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</p:grpSp>
      <p:graphicFrame>
        <p:nvGraphicFramePr>
          <p:cNvPr id="6" name="Объект 5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370013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Слайд think-cell" r:id="rId14" imgW="270" imgH="270" progId="TCLayout.ActiveDocument.1">
                  <p:embed/>
                </p:oleObj>
              </mc:Choice>
              <mc:Fallback>
                <p:oleObj name="Слайд think-cell" r:id="rId14" imgW="270" imgH="270" progId="TCLayout.ActiveDocument.1">
                  <p:embed/>
                  <p:pic>
                    <p:nvPicPr>
                      <p:cNvPr id="6" name="Объект 5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370013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Прямоугольник 4" hidden="1"/>
          <p:cNvSpPr/>
          <p:nvPr>
            <p:custDataLst>
              <p:tags r:id="rId3"/>
            </p:custDataLst>
          </p:nvPr>
        </p:nvSpPr>
        <p:spPr>
          <a:xfrm>
            <a:off x="1368425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ru-RU" sz="1200" dirty="0">
              <a:latin typeface="Arial Narrow" panose="020B0606020202030204" pitchFamily="34" charset="0"/>
              <a:sym typeface="Arial Narrow" panose="020B0606020202030204" pitchFamily="34" charset="0"/>
            </a:endParaRPr>
          </a:p>
        </p:txBody>
      </p:sp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548457" y="240858"/>
            <a:ext cx="11509530" cy="43771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99" tIns="52150" rIns="104299" bIns="5215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4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слайда</a:t>
            </a:r>
          </a:p>
        </p:txBody>
      </p:sp>
      <p:grpSp>
        <p:nvGrpSpPr>
          <p:cNvPr id="27" name="Группа 26"/>
          <p:cNvGrpSpPr/>
          <p:nvPr/>
        </p:nvGrpSpPr>
        <p:grpSpPr>
          <a:xfrm>
            <a:off x="2034475" y="4257628"/>
            <a:ext cx="2857500" cy="526682"/>
            <a:chOff x="-173756" y="2876101"/>
            <a:chExt cx="2856160" cy="526516"/>
          </a:xfrm>
        </p:grpSpPr>
        <p:sp>
          <p:nvSpPr>
            <p:cNvPr id="28" name="Прямоугольник 27"/>
            <p:cNvSpPr/>
            <p:nvPr/>
          </p:nvSpPr>
          <p:spPr>
            <a:xfrm>
              <a:off x="-173756" y="2876101"/>
              <a:ext cx="1283920" cy="526516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2400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x</a:t>
              </a:r>
              <a:r>
                <a:rPr lang="en-US" sz="3528" b="1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1,6</a:t>
              </a:r>
              <a:endParaRPr lang="ru-RU" sz="24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29" name="Round Same Side Corner Rectangle 58"/>
            <p:cNvSpPr/>
            <p:nvPr/>
          </p:nvSpPr>
          <p:spPr>
            <a:xfrm rot="10800000" flipH="1">
              <a:off x="1089888" y="2916535"/>
              <a:ext cx="36000" cy="360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F18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419" tIns="109710" rIns="219419" bIns="109710" rtlCol="0" anchor="ctr"/>
            <a:lstStyle/>
            <a:p>
              <a:pPr algn="ctr"/>
              <a:endParaRPr lang="bg-BG" sz="1800" dirty="0">
                <a:solidFill>
                  <a:schemeClr val="accent6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30" name="Прямоугольник 29"/>
            <p:cNvSpPr/>
            <p:nvPr/>
          </p:nvSpPr>
          <p:spPr>
            <a:xfrm>
              <a:off x="1131416" y="2888870"/>
              <a:ext cx="1550988" cy="43690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600" b="1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EBITDA</a:t>
              </a:r>
              <a:endParaRPr lang="ru-RU" sz="1600" b="1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  <a:p>
              <a:pPr>
                <a:lnSpc>
                  <a:spcPct val="80000"/>
                </a:lnSpc>
              </a:pPr>
              <a:r>
                <a:rPr lang="ru-RU" sz="12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млрд руб.</a:t>
              </a:r>
              <a:endParaRPr lang="en-US" sz="1200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</p:grpSp>
      <p:sp>
        <p:nvSpPr>
          <p:cNvPr id="38" name="Текст 2">
            <a:extLst>
              <a:ext uri="{FF2B5EF4-FFF2-40B4-BE49-F238E27FC236}">
                <a16:creationId xmlns:a16="http://schemas.microsoft.com/office/drawing/2014/main" id="{31F211B0-D93F-423E-958B-335AB69B6A61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2417063" y="6550398"/>
            <a:ext cx="2794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0" tIns="0" rIns="0" bIns="0" numCol="1" spcCol="0" anchor="t" anchorCtr="0" compatLnSpc="1">
            <a:prstTxWarp prst="textNoShape">
              <a:avLst/>
            </a:prstTxWarp>
            <a:noAutofit/>
          </a:bodyPr>
          <a:lstStyle>
            <a:lvl1pPr marL="388942" indent="-38894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5300" indent="-32498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1658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3704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5750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8222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71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1213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70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</a:pPr>
            <a:r>
              <a:rPr lang="en-US" altLang="en-US" sz="1103" dirty="0">
                <a:solidFill>
                  <a:srgbClr val="80808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Arial Narrow" panose="020B0606020202030204" pitchFamily="34" charset="0"/>
              </a:rPr>
              <a:t>2019</a:t>
            </a:r>
            <a:endParaRPr lang="ru-RU" altLang="ru-RU" sz="1103" dirty="0">
              <a:solidFill>
                <a:srgbClr val="80808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Arial Narrow" panose="020B0606020202030204" pitchFamily="34" charset="0"/>
            </a:endParaRPr>
          </a:p>
        </p:txBody>
      </p:sp>
      <p:sp>
        <p:nvSpPr>
          <p:cNvPr id="39" name="Текст 2">
            <a:extLst>
              <a:ext uri="{FF2B5EF4-FFF2-40B4-BE49-F238E27FC236}">
                <a16:creationId xmlns:a16="http://schemas.microsoft.com/office/drawing/2014/main" id="{CC3099F3-B3BF-4F02-B801-E550E1FC1E90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3128262" y="6550398"/>
            <a:ext cx="2794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0" tIns="0" rIns="0" bIns="0" numCol="1" spcCol="0" anchor="t" anchorCtr="0" compatLnSpc="1">
            <a:prstTxWarp prst="textNoShape">
              <a:avLst/>
            </a:prstTxWarp>
            <a:noAutofit/>
          </a:bodyPr>
          <a:lstStyle>
            <a:lvl1pPr marL="388942" indent="-38894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5300" indent="-32498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1658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3704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5750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8222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71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1213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70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</a:pPr>
            <a:fld id="{E5ED038B-FD84-4A8C-8552-CE7DCF846C2C}" type="datetime'''''2''''''''''''''''''0''''''''''''''2''5'''''''''''''''''">
              <a:rPr lang="ru-RU" altLang="en-US" sz="1103">
                <a:solidFill>
                  <a:srgbClr val="80808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Arial Narrow" panose="020B0606020202030204" pitchFamily="34" charset="0"/>
              </a:rPr>
              <a:pPr marL="0" indent="0" algn="ctr">
                <a:spcBef>
                  <a:spcPct val="0"/>
                </a:spcBef>
                <a:buNone/>
              </a:pPr>
              <a:t>2025</a:t>
            </a:fld>
            <a:endParaRPr lang="ru-RU" altLang="ru-RU" sz="1103" dirty="0">
              <a:solidFill>
                <a:srgbClr val="80808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Arial Narrow" panose="020B0606020202030204" pitchFamily="34" charset="0"/>
            </a:endParaRPr>
          </a:p>
        </p:txBody>
      </p:sp>
      <p:sp>
        <p:nvSpPr>
          <p:cNvPr id="40" name="Текст 2">
            <a:extLst>
              <a:ext uri="{FF2B5EF4-FFF2-40B4-BE49-F238E27FC236}">
                <a16:creationId xmlns:a16="http://schemas.microsoft.com/office/drawing/2014/main" id="{3A0C0707-7882-4EB7-AEFA-6417F59F60A2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gray">
          <a:xfrm>
            <a:off x="3839463" y="6550398"/>
            <a:ext cx="2794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0" tIns="0" rIns="0" bIns="0" numCol="1" spcCol="0" anchor="t" anchorCtr="0" compatLnSpc="1">
            <a:prstTxWarp prst="textNoShape">
              <a:avLst/>
            </a:prstTxWarp>
            <a:noAutofit/>
          </a:bodyPr>
          <a:lstStyle>
            <a:lvl1pPr marL="388942" indent="-38894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5300" indent="-32498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1658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3704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5750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8222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71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1213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70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</a:pPr>
            <a:fld id="{4B00E8D9-ABBC-4CB6-970E-47AA38D69AC8}" type="datetime'''''''''2''''''''''''03''''''''''''''''''''0'''">
              <a:rPr lang="ru-RU" altLang="en-US" sz="1103">
                <a:solidFill>
                  <a:srgbClr val="80808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Arial Narrow" panose="020B0606020202030204" pitchFamily="34" charset="0"/>
              </a:rPr>
              <a:pPr marL="0" indent="0" algn="ctr">
                <a:spcBef>
                  <a:spcPct val="0"/>
                </a:spcBef>
                <a:buNone/>
              </a:pPr>
              <a:t>2030</a:t>
            </a:fld>
            <a:endParaRPr lang="ru-RU" altLang="ru-RU" sz="1103" dirty="0">
              <a:solidFill>
                <a:srgbClr val="80808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Arial Narrow" panose="020B0606020202030204" pitchFamily="34" charset="0"/>
            </a:endParaRPr>
          </a:p>
        </p:txBody>
      </p:sp>
      <p:grpSp>
        <p:nvGrpSpPr>
          <p:cNvPr id="33" name="Группа 32"/>
          <p:cNvGrpSpPr/>
          <p:nvPr/>
        </p:nvGrpSpPr>
        <p:grpSpPr>
          <a:xfrm>
            <a:off x="5631207" y="4243334"/>
            <a:ext cx="2711450" cy="526683"/>
            <a:chOff x="-29529" y="2876085"/>
            <a:chExt cx="2711933" cy="526560"/>
          </a:xfrm>
        </p:grpSpPr>
        <p:sp>
          <p:nvSpPr>
            <p:cNvPr id="34" name="Прямоугольник 33"/>
            <p:cNvSpPr/>
            <p:nvPr/>
          </p:nvSpPr>
          <p:spPr>
            <a:xfrm>
              <a:off x="-29529" y="2876085"/>
              <a:ext cx="1139694" cy="52656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2400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x</a:t>
              </a:r>
              <a:r>
                <a:rPr lang="en-US" sz="3528" b="1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1,7</a:t>
              </a:r>
              <a:endParaRPr lang="ru-RU" sz="24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36" name="Round Same Side Corner Rectangle 58"/>
            <p:cNvSpPr/>
            <p:nvPr/>
          </p:nvSpPr>
          <p:spPr>
            <a:xfrm rot="10800000" flipH="1">
              <a:off x="1089888" y="2916535"/>
              <a:ext cx="36000" cy="360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F18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419" tIns="109710" rIns="219419" bIns="109710" rtlCol="0" anchor="ctr"/>
            <a:lstStyle/>
            <a:p>
              <a:pPr algn="ctr"/>
              <a:endParaRPr lang="bg-BG" sz="1800" dirty="0">
                <a:solidFill>
                  <a:schemeClr val="accent6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41" name="Прямоугольник 40"/>
            <p:cNvSpPr/>
            <p:nvPr/>
          </p:nvSpPr>
          <p:spPr>
            <a:xfrm>
              <a:off x="1131416" y="2888859"/>
              <a:ext cx="1550988" cy="43694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ru-RU" sz="1600" b="1" dirty="0">
                  <a:solidFill>
                    <a:schemeClr val="tx2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Выручка</a:t>
              </a:r>
            </a:p>
            <a:p>
              <a:pPr>
                <a:lnSpc>
                  <a:spcPct val="80000"/>
                </a:lnSpc>
              </a:pPr>
              <a:r>
                <a:rPr lang="ru-RU" sz="1200" dirty="0">
                  <a:solidFill>
                    <a:schemeClr val="tx2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млрд руб.</a:t>
              </a:r>
              <a:endParaRPr lang="en-US" sz="1200" dirty="0">
                <a:solidFill>
                  <a:schemeClr val="tx2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</p:grpSp>
      <p:sp>
        <p:nvSpPr>
          <p:cNvPr id="45" name="Текст 2">
            <a:extLst>
              <a:ext uri="{FF2B5EF4-FFF2-40B4-BE49-F238E27FC236}">
                <a16:creationId xmlns:a16="http://schemas.microsoft.com/office/drawing/2014/main" id="{E651A9AF-B50F-4AA6-86C8-3FF65CC26D3F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gray">
          <a:xfrm>
            <a:off x="6059834" y="6517059"/>
            <a:ext cx="2794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0" tIns="0" rIns="0" bIns="0" numCol="1" spcCol="0" anchor="t" anchorCtr="0" compatLnSpc="1">
            <a:prstTxWarp prst="textNoShape">
              <a:avLst/>
            </a:prstTxWarp>
            <a:noAutofit/>
          </a:bodyPr>
          <a:lstStyle>
            <a:lvl1pPr marL="388942" indent="-38894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5300" indent="-32498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1658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3704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5750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8222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71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1213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70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</a:pPr>
            <a:r>
              <a:rPr lang="en-US" altLang="en-US" sz="1103" dirty="0">
                <a:solidFill>
                  <a:srgbClr val="80808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Arial Narrow" panose="020B0606020202030204" pitchFamily="34" charset="0"/>
              </a:rPr>
              <a:t>2019</a:t>
            </a:r>
            <a:endParaRPr lang="ru-RU" altLang="ru-RU" sz="1103" dirty="0">
              <a:solidFill>
                <a:srgbClr val="80808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Arial Narrow" panose="020B0606020202030204" pitchFamily="34" charset="0"/>
            </a:endParaRPr>
          </a:p>
        </p:txBody>
      </p:sp>
      <p:sp>
        <p:nvSpPr>
          <p:cNvPr id="46" name="Текст 2">
            <a:extLst>
              <a:ext uri="{FF2B5EF4-FFF2-40B4-BE49-F238E27FC236}">
                <a16:creationId xmlns:a16="http://schemas.microsoft.com/office/drawing/2014/main" id="{4AD1A2CD-F762-42C4-8B40-2254BB22E369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gray">
          <a:xfrm>
            <a:off x="6771033" y="6517059"/>
            <a:ext cx="2794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0" tIns="0" rIns="0" bIns="0" numCol="1" spcCol="0" anchor="t" anchorCtr="0" compatLnSpc="1">
            <a:prstTxWarp prst="textNoShape">
              <a:avLst/>
            </a:prstTxWarp>
            <a:noAutofit/>
          </a:bodyPr>
          <a:lstStyle>
            <a:lvl1pPr marL="388942" indent="-38894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5300" indent="-32498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1658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3704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5750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8222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71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1213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70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</a:pPr>
            <a:fld id="{EF532D78-9F6B-4ED8-9314-E353F6CDB10C}" type="datetime'''''2''''0''''''''''''''''''''''''''''2''''''''5'''''''''">
              <a:rPr lang="ru-RU" altLang="en-US" sz="1103">
                <a:solidFill>
                  <a:srgbClr val="80808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Arial Narrow" panose="020B0606020202030204" pitchFamily="34" charset="0"/>
              </a:rPr>
              <a:pPr marL="0" indent="0" algn="ctr">
                <a:spcBef>
                  <a:spcPct val="0"/>
                </a:spcBef>
                <a:buNone/>
              </a:pPr>
              <a:t>2025</a:t>
            </a:fld>
            <a:endParaRPr lang="ru-RU" altLang="ru-RU" sz="1103" dirty="0">
              <a:solidFill>
                <a:srgbClr val="80808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Arial Narrow" panose="020B0606020202030204" pitchFamily="34" charset="0"/>
            </a:endParaRPr>
          </a:p>
        </p:txBody>
      </p:sp>
      <p:sp>
        <p:nvSpPr>
          <p:cNvPr id="47" name="Текст 2">
            <a:extLst>
              <a:ext uri="{FF2B5EF4-FFF2-40B4-BE49-F238E27FC236}">
                <a16:creationId xmlns:a16="http://schemas.microsoft.com/office/drawing/2014/main" id="{A30BA35A-D362-4D1B-AB9F-530BCAA594E4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gray">
          <a:xfrm>
            <a:off x="7482233" y="6507322"/>
            <a:ext cx="2794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0" tIns="0" rIns="0" bIns="0" numCol="1" spcCol="0" anchor="t" anchorCtr="0" compatLnSpc="1">
            <a:prstTxWarp prst="textNoShape">
              <a:avLst/>
            </a:prstTxWarp>
            <a:noAutofit/>
          </a:bodyPr>
          <a:lstStyle>
            <a:lvl1pPr marL="388942" indent="-38894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5300" indent="-32498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1658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3704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5750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8222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71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1213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70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</a:pPr>
            <a:fld id="{14BD9784-16C6-410C-9572-05E30D1E1B58}" type="datetime'''''''2''''0''''''''''30'''''''''''''''''''''''''''''''">
              <a:rPr lang="ru-RU" altLang="en-US" sz="1103">
                <a:solidFill>
                  <a:srgbClr val="80808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Arial Narrow" panose="020B0606020202030204" pitchFamily="34" charset="0"/>
              </a:rPr>
              <a:pPr marL="0" indent="0" algn="ctr">
                <a:spcBef>
                  <a:spcPct val="0"/>
                </a:spcBef>
                <a:buNone/>
              </a:pPr>
              <a:t>2030</a:t>
            </a:fld>
            <a:endParaRPr lang="ru-RU" altLang="ru-RU" sz="1103" dirty="0">
              <a:solidFill>
                <a:srgbClr val="80808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Arial Narrow" panose="020B0606020202030204" pitchFamily="34" charset="0"/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2234298" y="1216475"/>
            <a:ext cx="8568952" cy="2033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</p:txBody>
      </p:sp>
      <p:grpSp>
        <p:nvGrpSpPr>
          <p:cNvPr id="84" name="Группа 83"/>
          <p:cNvGrpSpPr/>
          <p:nvPr/>
        </p:nvGrpSpPr>
        <p:grpSpPr>
          <a:xfrm>
            <a:off x="8938498" y="4442678"/>
            <a:ext cx="3687049" cy="683264"/>
            <a:chOff x="-101496" y="2839538"/>
            <a:chExt cx="3686125" cy="684408"/>
          </a:xfrm>
        </p:grpSpPr>
        <p:sp>
          <p:nvSpPr>
            <p:cNvPr id="85" name="Прямоугольник 84"/>
            <p:cNvSpPr/>
            <p:nvPr/>
          </p:nvSpPr>
          <p:spPr>
            <a:xfrm>
              <a:off x="-101496" y="2910251"/>
              <a:ext cx="1211660" cy="527564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2400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~</a:t>
              </a:r>
              <a:r>
                <a:rPr lang="ru-RU" sz="3528" b="1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20</a:t>
              </a:r>
              <a:r>
                <a:rPr lang="ru-RU" sz="2400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%</a:t>
              </a:r>
              <a:endParaRPr lang="ru-RU" sz="1400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86" name="Round Same Side Corner Rectangle 58"/>
            <p:cNvSpPr/>
            <p:nvPr/>
          </p:nvSpPr>
          <p:spPr>
            <a:xfrm rot="10800000" flipH="1">
              <a:off x="1089888" y="2887761"/>
              <a:ext cx="36000" cy="360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F18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419" tIns="109710" rIns="219419" bIns="109710" rtlCol="0" anchor="ctr"/>
            <a:lstStyle/>
            <a:p>
              <a:pPr algn="ctr"/>
              <a:endParaRPr lang="bg-BG" sz="1800" dirty="0">
                <a:solidFill>
                  <a:schemeClr val="accent6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87" name="Прямоугольник 86"/>
            <p:cNvSpPr/>
            <p:nvPr/>
          </p:nvSpPr>
          <p:spPr>
            <a:xfrm>
              <a:off x="1131415" y="2839538"/>
              <a:ext cx="2453214" cy="684408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ru-RU" sz="16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Доля на российском розничном рынке </a:t>
              </a:r>
              <a:br>
                <a:rPr lang="en-US" sz="16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</a:br>
              <a:r>
                <a:rPr lang="ru-RU" sz="16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в 2030 г.</a:t>
              </a:r>
            </a:p>
          </p:txBody>
        </p:sp>
        <p:sp>
          <p:nvSpPr>
            <p:cNvPr id="43" name="Round Same Side Corner Rectangle 58">
              <a:extLst>
                <a:ext uri="{FF2B5EF4-FFF2-40B4-BE49-F238E27FC236}">
                  <a16:creationId xmlns:a16="http://schemas.microsoft.com/office/drawing/2014/main" id="{9EEA4EEC-3E29-4E84-9FDC-2424CE2372BA}"/>
                </a:ext>
              </a:extLst>
            </p:cNvPr>
            <p:cNvSpPr/>
            <p:nvPr/>
          </p:nvSpPr>
          <p:spPr>
            <a:xfrm rot="10800000" flipH="1">
              <a:off x="1089888" y="3134275"/>
              <a:ext cx="36000" cy="360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F18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419" tIns="109710" rIns="219419" bIns="109710" rtlCol="0" anchor="ctr"/>
            <a:lstStyle/>
            <a:p>
              <a:pPr algn="ctr"/>
              <a:endParaRPr lang="bg-BG" sz="1800" dirty="0">
                <a:solidFill>
                  <a:schemeClr val="accent6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</p:grpSp>
      <p:grpSp>
        <p:nvGrpSpPr>
          <p:cNvPr id="88" name="Группа 87"/>
          <p:cNvGrpSpPr/>
          <p:nvPr/>
        </p:nvGrpSpPr>
        <p:grpSpPr>
          <a:xfrm>
            <a:off x="8938498" y="5518870"/>
            <a:ext cx="3441400" cy="717375"/>
            <a:chOff x="-101496" y="2719240"/>
            <a:chExt cx="3440536" cy="718575"/>
          </a:xfrm>
        </p:grpSpPr>
        <p:sp>
          <p:nvSpPr>
            <p:cNvPr id="89" name="Прямоугольник 88"/>
            <p:cNvSpPr/>
            <p:nvPr/>
          </p:nvSpPr>
          <p:spPr>
            <a:xfrm>
              <a:off x="-101496" y="2910251"/>
              <a:ext cx="1211660" cy="527564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2400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≥</a:t>
              </a:r>
              <a:r>
                <a:rPr lang="ru-RU" sz="3528" b="1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10</a:t>
              </a:r>
              <a:r>
                <a:rPr lang="ru-RU" sz="2400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%</a:t>
              </a:r>
              <a:endParaRPr lang="ru-RU" sz="1400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90" name="Round Same Side Corner Rectangle 58"/>
            <p:cNvSpPr/>
            <p:nvPr/>
          </p:nvSpPr>
          <p:spPr>
            <a:xfrm rot="10800000" flipH="1">
              <a:off x="1089888" y="2777224"/>
              <a:ext cx="36000" cy="360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F18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419" tIns="109710" rIns="219419" bIns="109710" rtlCol="0" anchor="ctr"/>
            <a:lstStyle/>
            <a:p>
              <a:pPr algn="ctr"/>
              <a:endParaRPr lang="bg-BG" sz="1800" dirty="0">
                <a:solidFill>
                  <a:schemeClr val="accent6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91" name="Прямоугольник 90"/>
            <p:cNvSpPr/>
            <p:nvPr/>
          </p:nvSpPr>
          <p:spPr>
            <a:xfrm>
              <a:off x="1131416" y="2719240"/>
              <a:ext cx="2207624" cy="684407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ru-RU" sz="16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Доля ДПС </a:t>
              </a:r>
              <a:br>
                <a:rPr lang="en-US" sz="16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</a:br>
              <a:r>
                <a:rPr lang="ru-RU" sz="16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в </a:t>
              </a:r>
              <a:r>
                <a:rPr lang="en-US" sz="16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EBITDA</a:t>
              </a:r>
              <a:r>
                <a:rPr lang="ru-RU" sz="16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 сегмента 2030 г.</a:t>
              </a:r>
            </a:p>
          </p:txBody>
        </p:sp>
        <p:sp>
          <p:nvSpPr>
            <p:cNvPr id="44" name="Round Same Side Corner Rectangle 58">
              <a:extLst>
                <a:ext uri="{FF2B5EF4-FFF2-40B4-BE49-F238E27FC236}">
                  <a16:creationId xmlns:a16="http://schemas.microsoft.com/office/drawing/2014/main" id="{F6000490-775A-4A63-8A25-2E2EB83609E7}"/>
                </a:ext>
              </a:extLst>
            </p:cNvPr>
            <p:cNvSpPr/>
            <p:nvPr/>
          </p:nvSpPr>
          <p:spPr>
            <a:xfrm rot="10800000" flipH="1">
              <a:off x="1089888" y="3036492"/>
              <a:ext cx="36000" cy="360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F18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419" tIns="109710" rIns="219419" bIns="109710" rtlCol="0" anchor="ctr"/>
            <a:lstStyle/>
            <a:p>
              <a:pPr algn="ctr"/>
              <a:endParaRPr lang="bg-BG" sz="1800" dirty="0">
                <a:solidFill>
                  <a:schemeClr val="accent6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</p:grpSp>
      <p:cxnSp>
        <p:nvCxnSpPr>
          <p:cNvPr id="53" name="Прямая соединительная линия 52">
            <a:extLst>
              <a:ext uri="{FF2B5EF4-FFF2-40B4-BE49-F238E27FC236}">
                <a16:creationId xmlns:a16="http://schemas.microsoft.com/office/drawing/2014/main" id="{2EA7F6EE-6671-4925-B18E-89FC16ACB2B9}"/>
              </a:ext>
            </a:extLst>
          </p:cNvPr>
          <p:cNvCxnSpPr>
            <a:cxnSpLocks/>
          </p:cNvCxnSpPr>
          <p:nvPr/>
        </p:nvCxnSpPr>
        <p:spPr>
          <a:xfrm>
            <a:off x="3266847" y="5751193"/>
            <a:ext cx="0" cy="7607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>
            <a:extLst>
              <a:ext uri="{FF2B5EF4-FFF2-40B4-BE49-F238E27FC236}">
                <a16:creationId xmlns:a16="http://schemas.microsoft.com/office/drawing/2014/main" id="{CE1EFBBA-E9C6-435F-84CD-E042A8DBD6E5}"/>
              </a:ext>
            </a:extLst>
          </p:cNvPr>
          <p:cNvCxnSpPr>
            <a:cxnSpLocks/>
          </p:cNvCxnSpPr>
          <p:nvPr/>
        </p:nvCxnSpPr>
        <p:spPr>
          <a:xfrm>
            <a:off x="2558661" y="6228904"/>
            <a:ext cx="0" cy="283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>
            <a:extLst>
              <a:ext uri="{FF2B5EF4-FFF2-40B4-BE49-F238E27FC236}">
                <a16:creationId xmlns:a16="http://schemas.microsoft.com/office/drawing/2014/main" id="{868077E1-082E-4D26-8BDC-EE06218571DC}"/>
              </a:ext>
            </a:extLst>
          </p:cNvPr>
          <p:cNvCxnSpPr>
            <a:cxnSpLocks/>
          </p:cNvCxnSpPr>
          <p:nvPr/>
        </p:nvCxnSpPr>
        <p:spPr>
          <a:xfrm>
            <a:off x="6194443" y="6084888"/>
            <a:ext cx="0" cy="4270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>
            <a:extLst>
              <a:ext uri="{FF2B5EF4-FFF2-40B4-BE49-F238E27FC236}">
                <a16:creationId xmlns:a16="http://schemas.microsoft.com/office/drawing/2014/main" id="{BA501CAE-FDBF-434E-92E7-FDA7F6129B2C}"/>
              </a:ext>
            </a:extLst>
          </p:cNvPr>
          <p:cNvCxnSpPr>
            <a:cxnSpLocks/>
          </p:cNvCxnSpPr>
          <p:nvPr/>
        </p:nvCxnSpPr>
        <p:spPr>
          <a:xfrm>
            <a:off x="6911291" y="5580832"/>
            <a:ext cx="0" cy="9310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9D4B4140-ABE1-419A-A26C-AE332AD4DCF2}"/>
              </a:ext>
            </a:extLst>
          </p:cNvPr>
          <p:cNvCxnSpPr>
            <a:cxnSpLocks/>
          </p:cNvCxnSpPr>
          <p:nvPr/>
        </p:nvCxnSpPr>
        <p:spPr>
          <a:xfrm>
            <a:off x="7620259" y="5292797"/>
            <a:ext cx="1116" cy="121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>
            <a:extLst>
              <a:ext uri="{FF2B5EF4-FFF2-40B4-BE49-F238E27FC236}">
                <a16:creationId xmlns:a16="http://schemas.microsoft.com/office/drawing/2014/main" id="{E40DF205-596C-43A9-B495-50DBFCC5A317}"/>
              </a:ext>
            </a:extLst>
          </p:cNvPr>
          <p:cNvCxnSpPr>
            <a:cxnSpLocks/>
          </p:cNvCxnSpPr>
          <p:nvPr/>
        </p:nvCxnSpPr>
        <p:spPr>
          <a:xfrm>
            <a:off x="3978046" y="5292797"/>
            <a:ext cx="1116" cy="121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Chart 3">
            <a:extLst>
              <a:ext uri="{FF2B5EF4-FFF2-40B4-BE49-F238E27FC236}">
                <a16:creationId xmlns:a16="http://schemas.microsoft.com/office/drawing/2014/main" id="{BC3268EF-33F9-49DA-A4D4-AC5D9DB74DAD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322517460"/>
              </p:ext>
            </p:extLst>
          </p:nvPr>
        </p:nvGraphicFramePr>
        <p:xfrm>
          <a:off x="2440876" y="4948238"/>
          <a:ext cx="1654174" cy="1362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graphicFrame>
        <p:nvGraphicFramePr>
          <p:cNvPr id="52" name="Chart 3">
            <a:extLst>
              <a:ext uri="{FF2B5EF4-FFF2-40B4-BE49-F238E27FC236}">
                <a16:creationId xmlns:a16="http://schemas.microsoft.com/office/drawing/2014/main" id="{15A720A5-912D-4296-97B2-9086788481B6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393745771"/>
              </p:ext>
            </p:extLst>
          </p:nvPr>
        </p:nvGraphicFramePr>
        <p:xfrm>
          <a:off x="5721696" y="4946651"/>
          <a:ext cx="2309812" cy="1330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EB902535-060E-4E5D-88E4-114DBA44135B}"/>
              </a:ext>
            </a:extLst>
          </p:cNvPr>
          <p:cNvSpPr/>
          <p:nvPr/>
        </p:nvSpPr>
        <p:spPr>
          <a:xfrm>
            <a:off x="7549405" y="1216475"/>
            <a:ext cx="3754807" cy="2033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</p:txBody>
      </p:sp>
    </p:spTree>
    <p:extLst>
      <p:ext uri="{BB962C8B-B14F-4D97-AF65-F5344CB8AC3E}">
        <p14:creationId xmlns:p14="http://schemas.microsoft.com/office/powerpoint/2010/main" val="2636798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C454C92-2046-44D1-859A-12FDB301A2D3}"/>
              </a:ext>
            </a:extLst>
          </p:cNvPr>
          <p:cNvGrpSpPr/>
          <p:nvPr/>
        </p:nvGrpSpPr>
        <p:grpSpPr>
          <a:xfrm>
            <a:off x="775257" y="1332359"/>
            <a:ext cx="1188000" cy="1188000"/>
            <a:chOff x="1818382" y="1332359"/>
            <a:chExt cx="1188000" cy="1188000"/>
          </a:xfrm>
        </p:grpSpPr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D07A15F2-922F-4326-A89C-88995736E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AFAFA"/>
                </a:clrFrom>
                <a:clrTo>
                  <a:srgbClr val="FAFAFA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033195" y="1609648"/>
              <a:ext cx="761106" cy="705416"/>
            </a:xfrm>
            <a:prstGeom prst="rect">
              <a:avLst/>
            </a:prstGeom>
          </p:spPr>
        </p:pic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id="{8D0D2523-9618-4030-91FF-222A14AB92C3}"/>
                </a:ext>
              </a:extLst>
            </p:cNvPr>
            <p:cNvSpPr/>
            <p:nvPr/>
          </p:nvSpPr>
          <p:spPr>
            <a:xfrm>
              <a:off x="1818382" y="1332359"/>
              <a:ext cx="1188000" cy="1188000"/>
            </a:xfrm>
            <a:prstGeom prst="ellipse">
              <a:avLst/>
            </a:prstGeom>
            <a:noFill/>
            <a:ln w="63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</p:grpSp>
      <p:graphicFrame>
        <p:nvGraphicFramePr>
          <p:cNvPr id="6" name="Объект 5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370013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Слайд think-cell" r:id="rId6" imgW="270" imgH="270" progId="TCLayout.ActiveDocument.1">
                  <p:embed/>
                </p:oleObj>
              </mc:Choice>
              <mc:Fallback>
                <p:oleObj name="Слайд think-cell" r:id="rId6" imgW="270" imgH="270" progId="TCLayout.ActiveDocument.1">
                  <p:embed/>
                  <p:pic>
                    <p:nvPicPr>
                      <p:cNvPr id="6" name="Объект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70013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Прямоугольник 4" hidden="1"/>
          <p:cNvSpPr/>
          <p:nvPr>
            <p:custDataLst>
              <p:tags r:id="rId3"/>
            </p:custDataLst>
          </p:nvPr>
        </p:nvSpPr>
        <p:spPr>
          <a:xfrm>
            <a:off x="1368425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ru-RU" sz="1200" dirty="0">
              <a:latin typeface="Arial Narrow"/>
              <a:sym typeface="Arial Narrow"/>
            </a:endParaRPr>
          </a:p>
        </p:txBody>
      </p:sp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548457" y="240858"/>
            <a:ext cx="11509530" cy="43771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99" tIns="52150" rIns="104299" bIns="5215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4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слайда</a:t>
            </a:r>
          </a:p>
        </p:txBody>
      </p:sp>
      <p:grpSp>
        <p:nvGrpSpPr>
          <p:cNvPr id="47" name="Группа 46"/>
          <p:cNvGrpSpPr/>
          <p:nvPr/>
        </p:nvGrpSpPr>
        <p:grpSpPr>
          <a:xfrm>
            <a:off x="2793335" y="4271469"/>
            <a:ext cx="3060336" cy="906915"/>
            <a:chOff x="2318420" y="2716033"/>
            <a:chExt cx="3059739" cy="906228"/>
          </a:xfrm>
        </p:grpSpPr>
        <p:sp>
          <p:nvSpPr>
            <p:cNvPr id="48" name="Прямоугольник 47"/>
            <p:cNvSpPr/>
            <p:nvPr/>
          </p:nvSpPr>
          <p:spPr>
            <a:xfrm>
              <a:off x="2318420" y="2716033"/>
              <a:ext cx="1100440" cy="90622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ru-RU" sz="2400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≥</a:t>
              </a:r>
              <a:r>
                <a:rPr lang="ru-RU" sz="3528" b="1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1</a:t>
              </a:r>
              <a:r>
                <a:rPr lang="en-US" sz="3528" b="1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0</a:t>
              </a:r>
              <a:br>
                <a:rPr lang="ru-RU" sz="3199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</a:br>
              <a:r>
                <a:rPr lang="ru-RU" sz="1544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млрд </a:t>
              </a:r>
              <a:r>
                <a:rPr lang="ru-RU" sz="1544" dirty="0" err="1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кВтч</a:t>
              </a:r>
              <a:endParaRPr lang="ru-RU" sz="1800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51" name="Round Same Side Corner Rectangle 58"/>
            <p:cNvSpPr/>
            <p:nvPr/>
          </p:nvSpPr>
          <p:spPr>
            <a:xfrm rot="10800000" flipH="1">
              <a:off x="3411652" y="2834820"/>
              <a:ext cx="36000" cy="611535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F18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419" tIns="109710" rIns="219419" bIns="109710" rtlCol="0" anchor="ctr"/>
            <a:lstStyle/>
            <a:p>
              <a:pPr algn="ctr"/>
              <a:endParaRPr lang="bg-BG" sz="18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52" name="Прямоугольник 51"/>
            <p:cNvSpPr/>
            <p:nvPr/>
          </p:nvSpPr>
          <p:spPr>
            <a:xfrm>
              <a:off x="3435671" y="2805279"/>
              <a:ext cx="1942488" cy="682746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ru-RU" sz="16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Объем внешнеторговых операций 2030 г.</a:t>
              </a:r>
            </a:p>
          </p:txBody>
        </p:sp>
      </p:grpSp>
      <p:grpSp>
        <p:nvGrpSpPr>
          <p:cNvPr id="91" name="Группа 90"/>
          <p:cNvGrpSpPr/>
          <p:nvPr/>
        </p:nvGrpSpPr>
        <p:grpSpPr>
          <a:xfrm>
            <a:off x="7041807" y="4271469"/>
            <a:ext cx="3186692" cy="906915"/>
            <a:chOff x="2318420" y="2716035"/>
            <a:chExt cx="3186070" cy="906228"/>
          </a:xfrm>
        </p:grpSpPr>
        <p:sp>
          <p:nvSpPr>
            <p:cNvPr id="92" name="Прямоугольник 91"/>
            <p:cNvSpPr/>
            <p:nvPr/>
          </p:nvSpPr>
          <p:spPr>
            <a:xfrm>
              <a:off x="2318420" y="2716035"/>
              <a:ext cx="1100440" cy="90622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ru-RU" sz="2400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≥</a:t>
              </a:r>
              <a:r>
                <a:rPr lang="en-US" sz="3528" b="1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7</a:t>
              </a:r>
              <a:br>
                <a:rPr lang="ru-RU" sz="3199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</a:br>
              <a:r>
                <a:rPr lang="ru-RU" sz="1544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млрд </a:t>
              </a:r>
              <a:br>
                <a:rPr lang="ru-RU" sz="1544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</a:br>
              <a:r>
                <a:rPr lang="ru-RU" sz="1544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руб.</a:t>
              </a:r>
              <a:endParaRPr lang="ru-RU" sz="1800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93" name="Round Same Side Corner Rectangle 58"/>
            <p:cNvSpPr/>
            <p:nvPr/>
          </p:nvSpPr>
          <p:spPr>
            <a:xfrm rot="10800000" flipH="1">
              <a:off x="3411652" y="2834820"/>
              <a:ext cx="36000" cy="611535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F18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419" tIns="109710" rIns="219419" bIns="109710" rtlCol="0" anchor="ctr"/>
            <a:lstStyle/>
            <a:p>
              <a:pPr algn="ctr"/>
              <a:endParaRPr lang="bg-BG" sz="18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94" name="Прямоугольник 93"/>
            <p:cNvSpPr/>
            <p:nvPr/>
          </p:nvSpPr>
          <p:spPr>
            <a:xfrm>
              <a:off x="3435671" y="2950790"/>
              <a:ext cx="2068819" cy="485919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ru-RU" sz="16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Маржинальная прибыль 2030 г.</a:t>
              </a:r>
            </a:p>
          </p:txBody>
        </p:sp>
      </p:grpSp>
      <p:grpSp>
        <p:nvGrpSpPr>
          <p:cNvPr id="95" name="Группа 94"/>
          <p:cNvGrpSpPr/>
          <p:nvPr/>
        </p:nvGrpSpPr>
        <p:grpSpPr>
          <a:xfrm>
            <a:off x="4817635" y="5834634"/>
            <a:ext cx="3587581" cy="683264"/>
            <a:chOff x="2318420" y="2827773"/>
            <a:chExt cx="3586881" cy="682745"/>
          </a:xfrm>
        </p:grpSpPr>
        <p:sp>
          <p:nvSpPr>
            <p:cNvPr id="96" name="Прямоугольник 95"/>
            <p:cNvSpPr/>
            <p:nvPr/>
          </p:nvSpPr>
          <p:spPr>
            <a:xfrm>
              <a:off x="2318420" y="2906005"/>
              <a:ext cx="1100440" cy="526283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2400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~</a:t>
              </a:r>
              <a:r>
                <a:rPr lang="en-US" sz="3528" b="1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9</a:t>
              </a:r>
              <a:r>
                <a:rPr lang="en-US" sz="2646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%</a:t>
              </a:r>
              <a:endParaRPr lang="ru-RU" sz="1800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97" name="Round Same Side Corner Rectangle 58"/>
            <p:cNvSpPr/>
            <p:nvPr/>
          </p:nvSpPr>
          <p:spPr>
            <a:xfrm rot="10800000" flipH="1">
              <a:off x="3411652" y="2834820"/>
              <a:ext cx="36000" cy="611535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F18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9419" tIns="109710" rIns="219419" bIns="109710" rtlCol="0" anchor="ctr"/>
            <a:lstStyle/>
            <a:p>
              <a:pPr algn="ctr"/>
              <a:endParaRPr lang="bg-BG" sz="18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98" name="Прямоугольник 97"/>
            <p:cNvSpPr/>
            <p:nvPr/>
          </p:nvSpPr>
          <p:spPr>
            <a:xfrm>
              <a:off x="3435671" y="2827773"/>
              <a:ext cx="2469630" cy="68274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ru-RU" sz="16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Рентабельность </a:t>
              </a:r>
              <a:br>
                <a:rPr lang="ru-RU" sz="16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</a:br>
              <a:r>
                <a:rPr lang="ru-RU" sz="16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по маржинальной прибыли 2030 г.</a:t>
              </a:r>
            </a:p>
          </p:txBody>
        </p:sp>
      </p:grp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956E94A-CF3F-433C-BD5E-860139A4B973}"/>
              </a:ext>
            </a:extLst>
          </p:cNvPr>
          <p:cNvSpPr/>
          <p:nvPr/>
        </p:nvSpPr>
        <p:spPr>
          <a:xfrm>
            <a:off x="2234298" y="1216475"/>
            <a:ext cx="8568952" cy="2033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C3AE6D3-696C-4B73-9EE9-4765DBCF8946}"/>
              </a:ext>
            </a:extLst>
          </p:cNvPr>
          <p:cNvSpPr/>
          <p:nvPr/>
        </p:nvSpPr>
        <p:spPr>
          <a:xfrm>
            <a:off x="7373360" y="1216475"/>
            <a:ext cx="4549089" cy="2033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</p:txBody>
      </p:sp>
    </p:spTree>
    <p:extLst>
      <p:ext uri="{BB962C8B-B14F-4D97-AF65-F5344CB8AC3E}">
        <p14:creationId xmlns:p14="http://schemas.microsoft.com/office/powerpoint/2010/main" val="1258099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2BED43F-E7CD-4428-A244-69A3EE2A91EE}"/>
              </a:ext>
            </a:extLst>
          </p:cNvPr>
          <p:cNvGrpSpPr/>
          <p:nvPr/>
        </p:nvGrpSpPr>
        <p:grpSpPr>
          <a:xfrm>
            <a:off x="775257" y="1332359"/>
            <a:ext cx="1188000" cy="1188000"/>
            <a:chOff x="1818382" y="1332359"/>
            <a:chExt cx="1188000" cy="1188000"/>
          </a:xfrm>
        </p:grpSpPr>
        <p:pic>
          <p:nvPicPr>
            <p:cNvPr id="20" name="Picture 13" descr="https://img2.freepng.ru/20180403/hlq/kisspng-computer-icons-laborer-construction-worker-industrial-worker-5ac4152a02a430.4379636115227999140108.jpg"/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3444" b="95111" l="4000" r="95667">
                          <a14:foregroundMark x1="46778" y1="23667" x2="46778" y2="23667"/>
                          <a14:foregroundMark x1="59444" y1="41111" x2="59444" y2="41111"/>
                          <a14:foregroundMark x1="77444" y1="54333" x2="77444" y2="54333"/>
                          <a14:backgroundMark x1="67444" y1="38556" x2="67444" y2="3855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6339" y="1484796"/>
              <a:ext cx="792088" cy="792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7FB895F4-E40D-4370-A032-0A1D2A4CF415}"/>
                </a:ext>
              </a:extLst>
            </p:cNvPr>
            <p:cNvSpPr/>
            <p:nvPr/>
          </p:nvSpPr>
          <p:spPr>
            <a:xfrm>
              <a:off x="1818382" y="1332359"/>
              <a:ext cx="1188000" cy="1188000"/>
            </a:xfrm>
            <a:prstGeom prst="ellipse">
              <a:avLst/>
            </a:prstGeom>
            <a:noFill/>
            <a:ln w="63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</p:grpSp>
      <p:sp>
        <p:nvSpPr>
          <p:cNvPr id="33" name="Round Same Side Corner Rectangle 58">
            <a:extLst>
              <a:ext uri="{FF2B5EF4-FFF2-40B4-BE49-F238E27FC236}">
                <a16:creationId xmlns:a16="http://schemas.microsoft.com/office/drawing/2014/main" id="{4E0E12F0-784D-4739-8973-36CFAED0DF8F}"/>
              </a:ext>
            </a:extLst>
          </p:cNvPr>
          <p:cNvSpPr/>
          <p:nvPr/>
        </p:nvSpPr>
        <p:spPr>
          <a:xfrm rot="10800000" flipH="1">
            <a:off x="7746975" y="4248433"/>
            <a:ext cx="45719" cy="761717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F18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9419" tIns="109710" rIns="219419" bIns="109710" rtlCol="0" anchor="ctr"/>
          <a:lstStyle/>
          <a:p>
            <a:pPr algn="ctr"/>
            <a:endParaRPr lang="bg-BG" sz="1800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34" name="Round Same Side Corner Rectangle 58">
            <a:extLst>
              <a:ext uri="{FF2B5EF4-FFF2-40B4-BE49-F238E27FC236}">
                <a16:creationId xmlns:a16="http://schemas.microsoft.com/office/drawing/2014/main" id="{5BADAC99-1E84-4695-B47B-EA1B1E77AD19}"/>
              </a:ext>
            </a:extLst>
          </p:cNvPr>
          <p:cNvSpPr/>
          <p:nvPr/>
        </p:nvSpPr>
        <p:spPr>
          <a:xfrm rot="10800000" flipH="1">
            <a:off x="7746975" y="5547071"/>
            <a:ext cx="45719" cy="51678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F18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9419" tIns="109710" rIns="219419" bIns="109710" rtlCol="0" anchor="ctr"/>
          <a:lstStyle/>
          <a:p>
            <a:pPr algn="ctr"/>
            <a:endParaRPr lang="bg-BG" sz="1800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graphicFrame>
        <p:nvGraphicFramePr>
          <p:cNvPr id="6" name="Объект 5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370013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Слайд think-cell" r:id="rId7" imgW="270" imgH="270" progId="TCLayout.ActiveDocument.1">
                  <p:embed/>
                </p:oleObj>
              </mc:Choice>
              <mc:Fallback>
                <p:oleObj name="Слайд think-cell" r:id="rId7" imgW="270" imgH="270" progId="TCLayout.ActiveDocument.1">
                  <p:embed/>
                  <p:pic>
                    <p:nvPicPr>
                      <p:cNvPr id="6" name="Объект 5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70013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Прямоугольник 4" hidden="1"/>
          <p:cNvSpPr/>
          <p:nvPr>
            <p:custDataLst>
              <p:tags r:id="rId3"/>
            </p:custDataLst>
          </p:nvPr>
        </p:nvSpPr>
        <p:spPr>
          <a:xfrm>
            <a:off x="1368425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ru-RU" sz="2150" dirty="0">
              <a:latin typeface="Calibri"/>
              <a:cs typeface="Arial"/>
              <a:sym typeface="Calibri"/>
            </a:endParaRPr>
          </a:p>
        </p:txBody>
      </p:sp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548457" y="240858"/>
            <a:ext cx="11509530" cy="43771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99" tIns="52150" rIns="104299" bIns="5215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4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слайда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2161214" y="1013272"/>
            <a:ext cx="3650766" cy="20826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tabLst>
                <a:tab pos="591172" algn="r"/>
                <a:tab pos="881572" algn="r"/>
              </a:tabLst>
            </a:pPr>
            <a:r>
              <a:rPr lang="ru-RU" sz="16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ЗАГОЛОВОК БЛОКА</a:t>
            </a:r>
            <a:endParaRPr lang="ru-RU" sz="1100" b="1" dirty="0">
              <a:solidFill>
                <a:srgbClr val="F184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171450" indent="-171450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  <a:p>
            <a:pPr marL="171450" indent="-171450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  <a:p>
            <a:pPr marL="171450" indent="-171450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  <a:p>
            <a:pPr marL="171450" indent="-171450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endParaRPr lang="ru-RU" sz="1200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grpSp>
        <p:nvGrpSpPr>
          <p:cNvPr id="38" name="Группа 37"/>
          <p:cNvGrpSpPr/>
          <p:nvPr/>
        </p:nvGrpSpPr>
        <p:grpSpPr>
          <a:xfrm>
            <a:off x="1451366" y="4213400"/>
            <a:ext cx="5058641" cy="880241"/>
            <a:chOff x="-270679" y="2812562"/>
            <a:chExt cx="4148736" cy="880823"/>
          </a:xfrm>
        </p:grpSpPr>
        <p:sp>
          <p:nvSpPr>
            <p:cNvPr id="39" name="Прямоугольник 38"/>
            <p:cNvSpPr/>
            <p:nvPr/>
          </p:nvSpPr>
          <p:spPr>
            <a:xfrm>
              <a:off x="-270679" y="2964004"/>
              <a:ext cx="1380842" cy="62674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r">
                <a:lnSpc>
                  <a:spcPct val="70000"/>
                </a:lnSpc>
              </a:pPr>
              <a:r>
                <a:rPr lang="ru-RU" sz="3528" b="1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30-40</a:t>
              </a:r>
              <a:br>
                <a:rPr lang="ru-RU" sz="3199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</a:br>
              <a:r>
                <a:rPr lang="ru-RU" sz="1400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млрд руб.</a:t>
              </a:r>
            </a:p>
          </p:txBody>
        </p:sp>
        <p:sp>
          <p:nvSpPr>
            <p:cNvPr id="41" name="Прямоугольник 40"/>
            <p:cNvSpPr/>
            <p:nvPr/>
          </p:nvSpPr>
          <p:spPr>
            <a:xfrm>
              <a:off x="1165288" y="2812562"/>
              <a:ext cx="2712769" cy="880823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ru-RU" sz="16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Возможные среднегодовые капитальные затраты Группы в год с учетом программы </a:t>
              </a:r>
              <a:r>
                <a:rPr lang="ru-RU" sz="1600" dirty="0" err="1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КОММод</a:t>
              </a:r>
              <a:r>
                <a:rPr lang="ru-RU" sz="16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 и нового </a:t>
              </a:r>
              <a:r>
                <a:rPr lang="ru-RU" sz="1600" dirty="0" err="1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строительтва</a:t>
              </a:r>
              <a:endParaRPr lang="ru-RU" sz="1600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</p:grpSp>
      <p:grpSp>
        <p:nvGrpSpPr>
          <p:cNvPr id="42" name="Группа 41"/>
          <p:cNvGrpSpPr/>
          <p:nvPr/>
        </p:nvGrpSpPr>
        <p:grpSpPr>
          <a:xfrm>
            <a:off x="6394184" y="4213424"/>
            <a:ext cx="3786206" cy="880241"/>
            <a:chOff x="186116" y="2817521"/>
            <a:chExt cx="2535326" cy="880823"/>
          </a:xfrm>
        </p:grpSpPr>
        <p:sp>
          <p:nvSpPr>
            <p:cNvPr id="43" name="Прямоугольник 42"/>
            <p:cNvSpPr/>
            <p:nvPr/>
          </p:nvSpPr>
          <p:spPr>
            <a:xfrm>
              <a:off x="186116" y="2967787"/>
              <a:ext cx="924048" cy="62673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r">
                <a:lnSpc>
                  <a:spcPct val="70000"/>
                </a:lnSpc>
              </a:pPr>
              <a:r>
                <a:rPr lang="ru-RU" sz="3528" b="1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15-20</a:t>
              </a:r>
              <a:br>
                <a:rPr lang="ru-RU" sz="3199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</a:br>
              <a:r>
                <a:rPr lang="ru-RU" sz="1400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млрд руб.</a:t>
              </a:r>
            </a:p>
          </p:txBody>
        </p:sp>
        <p:sp>
          <p:nvSpPr>
            <p:cNvPr id="45" name="Прямоугольник 44"/>
            <p:cNvSpPr/>
            <p:nvPr/>
          </p:nvSpPr>
          <p:spPr>
            <a:xfrm>
              <a:off x="1131416" y="2817521"/>
              <a:ext cx="1590026" cy="880823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ru-RU" sz="16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Прогнозный объем ремонтной программы</a:t>
              </a:r>
              <a:r>
                <a:rPr lang="en-US" sz="16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 </a:t>
              </a:r>
              <a:r>
                <a:rPr lang="ru-RU" sz="16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генерирующих активов Группы в год</a:t>
              </a:r>
            </a:p>
          </p:txBody>
        </p:sp>
      </p:grpSp>
      <p:sp>
        <p:nvSpPr>
          <p:cNvPr id="46" name="Прямоугольник 45"/>
          <p:cNvSpPr/>
          <p:nvPr/>
        </p:nvSpPr>
        <p:spPr>
          <a:xfrm>
            <a:off x="2161214" y="3578664"/>
            <a:ext cx="5987378" cy="33855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ru-RU" sz="16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ЗАГОЛОВОК БЛОКА ИЛИ СХЕМЫ</a:t>
            </a:r>
            <a:endParaRPr lang="en-US" sz="1600" b="1" dirty="0">
              <a:solidFill>
                <a:srgbClr val="F184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grpSp>
        <p:nvGrpSpPr>
          <p:cNvPr id="47" name="Группа 46"/>
          <p:cNvGrpSpPr/>
          <p:nvPr/>
        </p:nvGrpSpPr>
        <p:grpSpPr>
          <a:xfrm>
            <a:off x="1995985" y="5602189"/>
            <a:ext cx="2952327" cy="486287"/>
            <a:chOff x="186116" y="3003335"/>
            <a:chExt cx="2421287" cy="486608"/>
          </a:xfrm>
        </p:grpSpPr>
        <p:sp>
          <p:nvSpPr>
            <p:cNvPr id="48" name="Прямоугольник 47"/>
            <p:cNvSpPr/>
            <p:nvPr/>
          </p:nvSpPr>
          <p:spPr>
            <a:xfrm>
              <a:off x="186116" y="3006293"/>
              <a:ext cx="924048" cy="48070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r">
                <a:lnSpc>
                  <a:spcPct val="70000"/>
                </a:lnSpc>
              </a:pPr>
              <a:r>
                <a:rPr lang="ru-RU" sz="2000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≥</a:t>
              </a:r>
              <a:r>
                <a:rPr lang="ru-RU" sz="3528" b="1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5</a:t>
              </a:r>
              <a:r>
                <a:rPr lang="ru-RU" sz="2400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%</a:t>
              </a:r>
              <a:endParaRPr lang="ru-RU" sz="1400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50" name="Прямоугольник 49"/>
            <p:cNvSpPr/>
            <p:nvPr/>
          </p:nvSpPr>
          <p:spPr>
            <a:xfrm>
              <a:off x="1131416" y="3003335"/>
              <a:ext cx="1475987" cy="48660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6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EBITDA Margin </a:t>
              </a:r>
              <a:r>
                <a:rPr lang="ru-RU" sz="16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внешних заказов</a:t>
              </a:r>
            </a:p>
          </p:txBody>
        </p:sp>
      </p:grp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3BE2BF17-A8CC-4292-B869-F48FA6380A4E}"/>
              </a:ext>
            </a:extLst>
          </p:cNvPr>
          <p:cNvSpPr/>
          <p:nvPr/>
        </p:nvSpPr>
        <p:spPr>
          <a:xfrm>
            <a:off x="458950" y="6794025"/>
            <a:ext cx="10009112" cy="221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* Примечание: образец текста примечания или сноски 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ABA4A52A-D227-4DBB-916C-4AB74CF52B27}"/>
              </a:ext>
            </a:extLst>
          </p:cNvPr>
          <p:cNvGrpSpPr/>
          <p:nvPr/>
        </p:nvGrpSpPr>
        <p:grpSpPr>
          <a:xfrm>
            <a:off x="6510006" y="5517495"/>
            <a:ext cx="4522461" cy="683264"/>
            <a:chOff x="7442522" y="5556079"/>
            <a:chExt cx="4522461" cy="683263"/>
          </a:xfrm>
        </p:grpSpPr>
        <p:sp>
          <p:nvSpPr>
            <p:cNvPr id="27" name="Прямоугольник 26"/>
            <p:cNvSpPr/>
            <p:nvPr/>
          </p:nvSpPr>
          <p:spPr>
            <a:xfrm>
              <a:off x="7442522" y="5620202"/>
              <a:ext cx="1250950" cy="526682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2800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≤</a:t>
              </a:r>
              <a:r>
                <a:rPr lang="en-US" sz="3528" b="1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10</a:t>
              </a:r>
              <a:r>
                <a:rPr lang="en-US" sz="2000" dirty="0">
                  <a:solidFill>
                    <a:srgbClr val="F184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%</a:t>
              </a:r>
              <a:endParaRPr lang="ru-RU" sz="2000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29" name="Прямоугольник 28"/>
            <p:cNvSpPr/>
            <p:nvPr/>
          </p:nvSpPr>
          <p:spPr>
            <a:xfrm>
              <a:off x="8731570" y="5556079"/>
              <a:ext cx="3233413" cy="683263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ru-RU" sz="1600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Доля субподряда в выручке единой ремонтно-сервисной компании на объектах Группы</a:t>
              </a:r>
              <a:endParaRPr lang="en-US" sz="1600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</p:grpSp>
      <p:sp>
        <p:nvSpPr>
          <p:cNvPr id="31" name="Round Same Side Corner Rectangle 58">
            <a:extLst>
              <a:ext uri="{FF2B5EF4-FFF2-40B4-BE49-F238E27FC236}">
                <a16:creationId xmlns:a16="http://schemas.microsoft.com/office/drawing/2014/main" id="{8E29BFED-C392-4D66-9EA7-354B977A1A10}"/>
              </a:ext>
            </a:extLst>
          </p:cNvPr>
          <p:cNvSpPr/>
          <p:nvPr/>
        </p:nvSpPr>
        <p:spPr>
          <a:xfrm rot="10800000" flipH="1">
            <a:off x="3139182" y="4248433"/>
            <a:ext cx="45719" cy="761717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F18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9419" tIns="109710" rIns="219419" bIns="109710" rtlCol="0" anchor="ctr"/>
          <a:lstStyle/>
          <a:p>
            <a:pPr algn="ctr"/>
            <a:endParaRPr lang="bg-BG" sz="1800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32" name="Round Same Side Corner Rectangle 58">
            <a:extLst>
              <a:ext uri="{FF2B5EF4-FFF2-40B4-BE49-F238E27FC236}">
                <a16:creationId xmlns:a16="http://schemas.microsoft.com/office/drawing/2014/main" id="{C15EA6BD-7CBD-4F7B-BF35-2E5946479F5D}"/>
              </a:ext>
            </a:extLst>
          </p:cNvPr>
          <p:cNvSpPr/>
          <p:nvPr/>
        </p:nvSpPr>
        <p:spPr>
          <a:xfrm rot="10800000" flipH="1">
            <a:off x="3139182" y="5547071"/>
            <a:ext cx="45719" cy="51678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F18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9419" tIns="109710" rIns="219419" bIns="109710" rtlCol="0" anchor="ctr"/>
          <a:lstStyle/>
          <a:p>
            <a:pPr algn="ctr"/>
            <a:endParaRPr lang="bg-BG" sz="1800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3BAFDA3C-E462-408C-8EFD-18986593A17C}"/>
              </a:ext>
            </a:extLst>
          </p:cNvPr>
          <p:cNvSpPr/>
          <p:nvPr/>
        </p:nvSpPr>
        <p:spPr>
          <a:xfrm>
            <a:off x="7296632" y="1013272"/>
            <a:ext cx="3650766" cy="20826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tabLst>
                <a:tab pos="591172" algn="r"/>
                <a:tab pos="881572" algn="r"/>
              </a:tabLst>
            </a:pPr>
            <a:r>
              <a:rPr lang="ru-RU" sz="16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ЗАГОЛОВОК БЛОКА</a:t>
            </a:r>
            <a:endParaRPr lang="ru-RU" sz="1100" b="1" dirty="0">
              <a:solidFill>
                <a:srgbClr val="F184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в две колонки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endParaRPr lang="ru-RU" sz="1200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768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91F58865-FAA5-4D26-B7CD-445B14D0698E}"/>
              </a:ext>
            </a:extLst>
          </p:cNvPr>
          <p:cNvGrpSpPr/>
          <p:nvPr/>
        </p:nvGrpSpPr>
        <p:grpSpPr>
          <a:xfrm>
            <a:off x="775257" y="1332359"/>
            <a:ext cx="1188000" cy="1188000"/>
            <a:chOff x="1818382" y="1332359"/>
            <a:chExt cx="1188000" cy="1188000"/>
          </a:xfrm>
        </p:grpSpPr>
        <p:pic>
          <p:nvPicPr>
            <p:cNvPr id="23" name="Picture 32" descr="https://i.moscow/upload/media/default/0001/10/thumb_9140_default_big.png"/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39200"/>
                </a:clrFrom>
                <a:clrTo>
                  <a:srgbClr val="F39200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0334" y="1503118"/>
              <a:ext cx="864096" cy="8640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CB8769B5-92E0-4D17-A41D-9F6860A0972F}"/>
                </a:ext>
              </a:extLst>
            </p:cNvPr>
            <p:cNvSpPr/>
            <p:nvPr/>
          </p:nvSpPr>
          <p:spPr>
            <a:xfrm>
              <a:off x="1818382" y="1332359"/>
              <a:ext cx="1188000" cy="1188000"/>
            </a:xfrm>
            <a:prstGeom prst="ellipse">
              <a:avLst/>
            </a:prstGeom>
            <a:noFill/>
            <a:ln w="63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</p:grpSp>
      <p:graphicFrame>
        <p:nvGraphicFramePr>
          <p:cNvPr id="6" name="Объект 5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370013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Слайд think-cell" r:id="rId6" imgW="270" imgH="270" progId="TCLayout.ActiveDocument.1">
                  <p:embed/>
                </p:oleObj>
              </mc:Choice>
              <mc:Fallback>
                <p:oleObj name="Слайд think-cell" r:id="rId6" imgW="270" imgH="270" progId="TCLayout.ActiveDocument.1">
                  <p:embed/>
                  <p:pic>
                    <p:nvPicPr>
                      <p:cNvPr id="6" name="Объект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70013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Прямоугольник 4" hidden="1"/>
          <p:cNvSpPr/>
          <p:nvPr>
            <p:custDataLst>
              <p:tags r:id="rId3"/>
            </p:custDataLst>
          </p:nvPr>
        </p:nvSpPr>
        <p:spPr>
          <a:xfrm>
            <a:off x="1368425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ru-RU" sz="2150" dirty="0">
              <a:latin typeface="Calibri"/>
              <a:cs typeface="Arial"/>
              <a:sym typeface="Calibri"/>
            </a:endParaRPr>
          </a:p>
        </p:txBody>
      </p:sp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548457" y="240857"/>
            <a:ext cx="11509530" cy="43771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99" tIns="52150" rIns="104299" bIns="5215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4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слайда</a:t>
            </a:r>
            <a:endParaRPr lang="ru-RU" sz="2000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669579" y="3624971"/>
            <a:ext cx="2298006" cy="540000"/>
          </a:xfrm>
          <a:prstGeom prst="roundRect">
            <a:avLst>
              <a:gd name="adj" fmla="val 50000"/>
            </a:avLst>
          </a:prstGeom>
          <a:solidFill>
            <a:srgbClr val="0040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9692" bIns="0" rtlCol="0" anchor="ctr"/>
          <a:lstStyle/>
          <a:p>
            <a:pPr algn="ctr">
              <a:lnSpc>
                <a:spcPct val="80000"/>
              </a:lnSpc>
            </a:pPr>
            <a:r>
              <a:rPr lang="ru-RU" sz="1400" b="1" cap="all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«Цифровое производство»</a:t>
            </a: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3771066" y="3624971"/>
            <a:ext cx="2369815" cy="540000"/>
          </a:xfrm>
          <a:prstGeom prst="roundRect">
            <a:avLst>
              <a:gd name="adj" fmla="val 50000"/>
            </a:avLst>
          </a:prstGeom>
          <a:solidFill>
            <a:srgbClr val="0040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9692" bIns="0" rtlCol="0" anchor="ctr"/>
          <a:lstStyle/>
          <a:p>
            <a:pPr algn="ctr">
              <a:lnSpc>
                <a:spcPct val="80000"/>
              </a:lnSpc>
            </a:pPr>
            <a:r>
              <a:rPr lang="ru-RU" sz="1400" b="1" cap="all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«Цифровой сбыт»</a:t>
            </a: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6937598" y="3624971"/>
            <a:ext cx="2369815" cy="540000"/>
          </a:xfrm>
          <a:prstGeom prst="roundRect">
            <a:avLst>
              <a:gd name="adj" fmla="val 50000"/>
            </a:avLst>
          </a:prstGeom>
          <a:solidFill>
            <a:srgbClr val="0040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9692" bIns="0" rtlCol="0" anchor="ctr"/>
          <a:lstStyle/>
          <a:p>
            <a:pPr algn="ctr">
              <a:lnSpc>
                <a:spcPct val="80000"/>
              </a:lnSpc>
            </a:pPr>
            <a:r>
              <a:rPr lang="ru-RU" sz="1400" b="1" cap="all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«Цифровой офис»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611232" y="3143362"/>
            <a:ext cx="979308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ЗАГОЛОВОК БЛОКА ИЛИ СХЕМЫ</a:t>
            </a:r>
            <a:endParaRPr lang="en-US" sz="1600" b="1" dirty="0">
              <a:solidFill>
                <a:srgbClr val="F184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2140753" y="1477644"/>
            <a:ext cx="8424936" cy="902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с буллитами.</a:t>
            </a:r>
          </a:p>
          <a:p>
            <a:pPr marL="171450" indent="-171450"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с буллитами.</a:t>
            </a:r>
          </a:p>
          <a:p>
            <a:pPr marL="171450" indent="-171450"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с буллитами.</a:t>
            </a:r>
          </a:p>
        </p:txBody>
      </p:sp>
      <p:sp>
        <p:nvSpPr>
          <p:cNvPr id="24" name="Скругленный прямоугольник 14">
            <a:extLst>
              <a:ext uri="{FF2B5EF4-FFF2-40B4-BE49-F238E27FC236}">
                <a16:creationId xmlns:a16="http://schemas.microsoft.com/office/drawing/2014/main" id="{F789142D-B488-4C31-9BB8-1E6DB4C708F5}"/>
              </a:ext>
            </a:extLst>
          </p:cNvPr>
          <p:cNvSpPr/>
          <p:nvPr/>
        </p:nvSpPr>
        <p:spPr>
          <a:xfrm>
            <a:off x="10220291" y="3624971"/>
            <a:ext cx="2394018" cy="540000"/>
          </a:xfrm>
          <a:prstGeom prst="roundRect">
            <a:avLst>
              <a:gd name="adj" fmla="val 50000"/>
            </a:avLst>
          </a:prstGeom>
          <a:solidFill>
            <a:srgbClr val="0040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9692" bIns="0" rtlCol="0" anchor="ctr"/>
          <a:lstStyle/>
          <a:p>
            <a:pPr algn="ctr">
              <a:lnSpc>
                <a:spcPct val="80000"/>
              </a:lnSpc>
            </a:pPr>
            <a:r>
              <a:rPr lang="ru-RU" sz="1400" b="1" cap="all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«Новые бизнес-модели»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3685A1-4A06-457B-BF2A-B2977E969CA2}"/>
              </a:ext>
            </a:extLst>
          </p:cNvPr>
          <p:cNvSpPr txBox="1"/>
          <p:nvPr/>
        </p:nvSpPr>
        <p:spPr>
          <a:xfrm>
            <a:off x="4135377" y="4273043"/>
            <a:ext cx="1553214" cy="2199027"/>
          </a:xfrm>
          <a:prstGeom prst="rect">
            <a:avLst/>
          </a:prstGeom>
          <a:noFill/>
        </p:spPr>
        <p:txBody>
          <a:bodyPr wrap="square" lIns="72000" tIns="109710" rIns="72000" bIns="109710" rtlCol="0">
            <a:spAutoFit/>
          </a:bodyPr>
          <a:lstStyle/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</a:t>
            </a:r>
            <a:b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с буллитами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E0A6A5-8D24-4713-ABFC-5C8507CC6F02}"/>
              </a:ext>
            </a:extLst>
          </p:cNvPr>
          <p:cNvSpPr txBox="1"/>
          <p:nvPr/>
        </p:nvSpPr>
        <p:spPr>
          <a:xfrm>
            <a:off x="974621" y="4273043"/>
            <a:ext cx="1553214" cy="2199027"/>
          </a:xfrm>
          <a:prstGeom prst="rect">
            <a:avLst/>
          </a:prstGeom>
          <a:noFill/>
        </p:spPr>
        <p:txBody>
          <a:bodyPr wrap="square" lIns="72000" tIns="109710" rIns="72000" bIns="109710" rtlCol="0">
            <a:spAutoFit/>
          </a:bodyPr>
          <a:lstStyle/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</a:t>
            </a:r>
            <a:b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с буллитами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C71606-DDB1-40AA-A7F4-8F1646FDB0C5}"/>
              </a:ext>
            </a:extLst>
          </p:cNvPr>
          <p:cNvSpPr txBox="1"/>
          <p:nvPr/>
        </p:nvSpPr>
        <p:spPr>
          <a:xfrm>
            <a:off x="7289370" y="4273043"/>
            <a:ext cx="1553214" cy="2199027"/>
          </a:xfrm>
          <a:prstGeom prst="rect">
            <a:avLst/>
          </a:prstGeom>
          <a:noFill/>
        </p:spPr>
        <p:txBody>
          <a:bodyPr wrap="square" lIns="72000" tIns="109710" rIns="72000" bIns="109710" rtlCol="0">
            <a:spAutoFit/>
          </a:bodyPr>
          <a:lstStyle/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</a:t>
            </a:r>
            <a:b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с буллитами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E0DA1D-7F7E-4870-85DA-156A166B9718}"/>
              </a:ext>
            </a:extLst>
          </p:cNvPr>
          <p:cNvSpPr txBox="1"/>
          <p:nvPr/>
        </p:nvSpPr>
        <p:spPr>
          <a:xfrm>
            <a:off x="10603358" y="4273043"/>
            <a:ext cx="1553214" cy="2199027"/>
          </a:xfrm>
          <a:prstGeom prst="rect">
            <a:avLst/>
          </a:prstGeom>
          <a:noFill/>
        </p:spPr>
        <p:txBody>
          <a:bodyPr wrap="square" lIns="72000" tIns="109710" rIns="72000" bIns="109710" rtlCol="0">
            <a:spAutoFit/>
          </a:bodyPr>
          <a:lstStyle/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</a:t>
            </a:r>
            <a:b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с буллитами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1444" indent="-171444">
              <a:spcAft>
                <a:spcPts val="1323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</p:txBody>
      </p:sp>
    </p:spTree>
    <p:extLst>
      <p:ext uri="{BB962C8B-B14F-4D97-AF65-F5344CB8AC3E}">
        <p14:creationId xmlns:p14="http://schemas.microsoft.com/office/powerpoint/2010/main" val="3421851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370013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Слайд think-cell" r:id="rId5" imgW="216" imgH="216" progId="TCLayout.ActiveDocument.1">
                  <p:embed/>
                </p:oleObj>
              </mc:Choice>
              <mc:Fallback>
                <p:oleObj name="Слайд think-cell" r:id="rId5" imgW="216" imgH="216" progId="TCLayout.ActiveDocument.1">
                  <p:embed/>
                  <p:pic>
                    <p:nvPicPr>
                      <p:cNvPr id="4" name="Объект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70013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1368425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ru-RU" sz="2150" dirty="0">
              <a:latin typeface="Calibri"/>
              <a:sym typeface="Calibri"/>
            </a:endParaRPr>
          </a:p>
        </p:txBody>
      </p:sp>
      <p:sp>
        <p:nvSpPr>
          <p:cNvPr id="47" name="Прямоугольник: скругленные углы 46"/>
          <p:cNvSpPr/>
          <p:nvPr/>
        </p:nvSpPr>
        <p:spPr>
          <a:xfrm>
            <a:off x="1236260" y="1508030"/>
            <a:ext cx="11121995" cy="81623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8457" y="240858"/>
            <a:ext cx="11509530" cy="43771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99" tIns="52150" rIns="104299" bIns="5215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4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слайда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2130258" y="4086044"/>
            <a:ext cx="3129772" cy="9595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4619" indent="-174619"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323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4619" indent="-174619"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323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4619" indent="-174619"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323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</p:txBody>
      </p:sp>
      <p:grpSp>
        <p:nvGrpSpPr>
          <p:cNvPr id="6" name="Группа 5"/>
          <p:cNvGrpSpPr/>
          <p:nvPr/>
        </p:nvGrpSpPr>
        <p:grpSpPr>
          <a:xfrm>
            <a:off x="775256" y="3897429"/>
            <a:ext cx="1188000" cy="1188000"/>
            <a:chOff x="378148" y="1260351"/>
            <a:chExt cx="1188000" cy="1188000"/>
          </a:xfrm>
        </p:grpSpPr>
        <p:sp>
          <p:nvSpPr>
            <p:cNvPr id="22" name="Овал 21"/>
            <p:cNvSpPr/>
            <p:nvPr/>
          </p:nvSpPr>
          <p:spPr>
            <a:xfrm>
              <a:off x="378148" y="1260351"/>
              <a:ext cx="1188000" cy="1188000"/>
            </a:xfrm>
            <a:prstGeom prst="ellipse">
              <a:avLst/>
            </a:prstGeom>
            <a:noFill/>
            <a:ln w="6350">
              <a:solidFill>
                <a:srgbClr val="0040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23" name="Прямоугольник 22"/>
            <p:cNvSpPr/>
            <p:nvPr/>
          </p:nvSpPr>
          <p:spPr>
            <a:xfrm>
              <a:off x="516985" y="1601227"/>
              <a:ext cx="94128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solidFill>
                    <a:schemeClr val="tx2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ESG</a:t>
              </a:r>
              <a:endParaRPr lang="ru-RU" sz="28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</p:grpSp>
      <p:sp>
        <p:nvSpPr>
          <p:cNvPr id="18" name="Прямоугольник 17"/>
          <p:cNvSpPr/>
          <p:nvPr/>
        </p:nvSpPr>
        <p:spPr>
          <a:xfrm>
            <a:off x="7654536" y="5896984"/>
            <a:ext cx="1250950" cy="526683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>
              <a:lnSpc>
                <a:spcPct val="80000"/>
              </a:lnSpc>
            </a:pPr>
            <a:r>
              <a:rPr lang="ru-RU" sz="2800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-</a:t>
            </a:r>
            <a:r>
              <a:rPr lang="ru-RU" sz="3528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7</a:t>
            </a:r>
            <a:r>
              <a:rPr lang="en-US" sz="2400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%</a:t>
            </a:r>
            <a:endParaRPr lang="ru-RU" sz="2400" dirty="0">
              <a:solidFill>
                <a:srgbClr val="F184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8943587" y="5764290"/>
            <a:ext cx="2216324" cy="78175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ru-RU" sz="1400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Выбросы CО</a:t>
            </a:r>
            <a:r>
              <a:rPr lang="ru-RU" sz="1400" baseline="-25000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2</a:t>
            </a:r>
            <a:r>
              <a:rPr lang="en-US" sz="1400" baseline="-25000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</a:t>
            </a:r>
            <a:br>
              <a:rPr lang="ru-RU" sz="1400" baseline="-25000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ru-RU" sz="1400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 единицу объёма производства э</a:t>
            </a:r>
            <a:r>
              <a:rPr lang="en-US" sz="1400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/</a:t>
            </a:r>
            <a:r>
              <a:rPr lang="ru-RU" sz="1400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э</a:t>
            </a:r>
          </a:p>
          <a:p>
            <a:pPr>
              <a:lnSpc>
                <a:spcPct val="80000"/>
              </a:lnSpc>
            </a:pPr>
            <a:r>
              <a:rPr lang="ru-RU" sz="1400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(2030 г. </a:t>
            </a:r>
            <a:r>
              <a:rPr lang="ru-RU" sz="1400" dirty="0" err="1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отн</a:t>
            </a:r>
            <a:r>
              <a:rPr lang="ru-RU" sz="1400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. 2019 г.)</a:t>
            </a:r>
            <a:endParaRPr lang="en-US" sz="1400" dirty="0">
              <a:solidFill>
                <a:srgbClr val="003264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46" name="Прямоугольник 45"/>
          <p:cNvSpPr/>
          <p:nvPr/>
        </p:nvSpPr>
        <p:spPr>
          <a:xfrm>
            <a:off x="2113056" y="1622484"/>
            <a:ext cx="8124205" cy="5675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544" b="1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Текст заголовка или важная информация. Текст заголовка или важная</a:t>
            </a:r>
            <a:br>
              <a:rPr lang="ru-RU" sz="1544" b="1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ru-RU" sz="1544" b="1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информация. Текст заголовка или важная информация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34B0B7DD-949E-4589-89D8-F95B68C29AA0}"/>
              </a:ext>
            </a:extLst>
          </p:cNvPr>
          <p:cNvGrpSpPr/>
          <p:nvPr/>
        </p:nvGrpSpPr>
        <p:grpSpPr>
          <a:xfrm>
            <a:off x="2127907" y="2547574"/>
            <a:ext cx="4731817" cy="1098819"/>
            <a:chOff x="3402790" y="2421970"/>
            <a:chExt cx="4731817" cy="1098819"/>
          </a:xfrm>
        </p:grpSpPr>
        <p:pic>
          <p:nvPicPr>
            <p:cNvPr id="464989" name="Picture 93" descr="https://upload.wikimedia.org/wikipedia/commons/c/c4/Sustainable_Development_Goals_ru.png">
              <a:extLst>
                <a:ext uri="{FF2B5EF4-FFF2-40B4-BE49-F238E27FC236}">
                  <a16:creationId xmlns:a16="http://schemas.microsoft.com/office/drawing/2014/main" id="{B3616717-8DB8-4714-AC18-A8662B648E9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6" t="66463" r="83326" b="1123"/>
            <a:stretch/>
          </p:blipFill>
          <p:spPr bwMode="auto">
            <a:xfrm>
              <a:off x="7035790" y="2421970"/>
              <a:ext cx="1098817" cy="10988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93" descr="https://upload.wikimedia.org/wikipedia/commons/c/c4/Sustainable_Development_Goals_ru.png">
              <a:extLst>
                <a:ext uri="{FF2B5EF4-FFF2-40B4-BE49-F238E27FC236}">
                  <a16:creationId xmlns:a16="http://schemas.microsoft.com/office/drawing/2014/main" id="{EC9C5835-FEBD-4CF7-9AE9-8F31A36736B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0" t="34189" r="83296" b="34546"/>
            <a:stretch/>
          </p:blipFill>
          <p:spPr bwMode="auto">
            <a:xfrm>
              <a:off x="3402790" y="2439961"/>
              <a:ext cx="1091025" cy="1059853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93" descr="https://upload.wikimedia.org/wikipedia/commons/c/c4/Sustainable_Development_Goals_ru.png">
              <a:extLst>
                <a:ext uri="{FF2B5EF4-FFF2-40B4-BE49-F238E27FC236}">
                  <a16:creationId xmlns:a16="http://schemas.microsoft.com/office/drawing/2014/main" id="{8947FAB0-72BD-40B3-8223-56D4CEE816F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32" t="34529" r="67221" b="34481"/>
            <a:stretch/>
          </p:blipFill>
          <p:spPr bwMode="auto">
            <a:xfrm>
              <a:off x="4624418" y="2456722"/>
              <a:ext cx="1049416" cy="10505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93" descr="https://upload.wikimedia.org/wikipedia/commons/c/c4/Sustainable_Development_Goals_ru.png">
              <a:extLst>
                <a:ext uri="{FF2B5EF4-FFF2-40B4-BE49-F238E27FC236}">
                  <a16:creationId xmlns:a16="http://schemas.microsoft.com/office/drawing/2014/main" id="{ECA631C7-2821-429A-8E53-08AF49C946B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755" t="34239" r="50291" b="34266"/>
            <a:stretch/>
          </p:blipFill>
          <p:spPr bwMode="auto">
            <a:xfrm>
              <a:off x="5808311" y="2437176"/>
              <a:ext cx="1091026" cy="10676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5F5B09F6-1040-4477-BBDC-31DE937333C2}"/>
              </a:ext>
            </a:extLst>
          </p:cNvPr>
          <p:cNvSpPr/>
          <p:nvPr/>
        </p:nvSpPr>
        <p:spPr>
          <a:xfrm>
            <a:off x="1963256" y="5749252"/>
            <a:ext cx="1521143" cy="82214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3528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TOP</a:t>
            </a:r>
            <a:br>
              <a:rPr lang="ru-RU" sz="2400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en-US" sz="2400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15</a:t>
            </a:r>
            <a:r>
              <a:rPr lang="en-US" sz="2000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%</a:t>
            </a:r>
            <a:r>
              <a:rPr lang="en-US" sz="2400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-25</a:t>
            </a:r>
            <a:r>
              <a:rPr lang="en-US" sz="2000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%</a:t>
            </a:r>
            <a:endParaRPr lang="ru-RU" sz="2800" dirty="0">
              <a:solidFill>
                <a:srgbClr val="F184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B18FFC67-A44C-4516-85C4-4ACFCB7AEF7F}"/>
              </a:ext>
            </a:extLst>
          </p:cNvPr>
          <p:cNvSpPr/>
          <p:nvPr/>
        </p:nvSpPr>
        <p:spPr>
          <a:xfrm>
            <a:off x="3522499" y="5771191"/>
            <a:ext cx="3589461" cy="78175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ru-RU" sz="1400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Позиция компании в рейтингах RAEX </a:t>
            </a:r>
            <a:r>
              <a:rPr lang="ru-RU" sz="1400" dirty="0" err="1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Europe</a:t>
            </a:r>
            <a:r>
              <a:rPr lang="ru-RU" sz="1400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, </a:t>
            </a:r>
            <a:r>
              <a:rPr lang="ru-RU" sz="1400" dirty="0" err="1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Sustainalytics</a:t>
            </a:r>
            <a:r>
              <a:rPr lang="ru-RU" sz="1400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, CDP, ISS-</a:t>
            </a:r>
            <a:r>
              <a:rPr lang="ru-RU" sz="1400" dirty="0" err="1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Oekom</a:t>
            </a:r>
            <a:r>
              <a:rPr lang="ru-RU" sz="1400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относительно прочих российских компаний</a:t>
            </a:r>
            <a:endParaRPr lang="en-US" sz="900" dirty="0">
              <a:solidFill>
                <a:srgbClr val="003264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4" name="Round Same Side Corner Rectangle 58">
            <a:extLst>
              <a:ext uri="{FF2B5EF4-FFF2-40B4-BE49-F238E27FC236}">
                <a16:creationId xmlns:a16="http://schemas.microsoft.com/office/drawing/2014/main" id="{902F59DE-C761-4AAC-8449-48B50408907A}"/>
              </a:ext>
            </a:extLst>
          </p:cNvPr>
          <p:cNvSpPr/>
          <p:nvPr/>
        </p:nvSpPr>
        <p:spPr>
          <a:xfrm rot="10800000" flipH="1">
            <a:off x="3478604" y="5818326"/>
            <a:ext cx="43896" cy="6840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F18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9419" tIns="109710" rIns="219419" bIns="109710" rtlCol="0" anchor="ctr"/>
          <a:lstStyle/>
          <a:p>
            <a:pPr algn="just"/>
            <a:endParaRPr lang="bg-BG" sz="1800" dirty="0">
              <a:solidFill>
                <a:schemeClr val="accent6">
                  <a:lumMod val="7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5" name="Round Same Side Corner Rectangle 58">
            <a:extLst>
              <a:ext uri="{FF2B5EF4-FFF2-40B4-BE49-F238E27FC236}">
                <a16:creationId xmlns:a16="http://schemas.microsoft.com/office/drawing/2014/main" id="{61F6626A-64F8-457B-BC49-A58E82F080A3}"/>
              </a:ext>
            </a:extLst>
          </p:cNvPr>
          <p:cNvSpPr/>
          <p:nvPr/>
        </p:nvSpPr>
        <p:spPr>
          <a:xfrm rot="10800000" flipH="1">
            <a:off x="8883539" y="5818326"/>
            <a:ext cx="43896" cy="6840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F18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9419" tIns="109710" rIns="219419" bIns="109710" rtlCol="0" anchor="ctr"/>
          <a:lstStyle/>
          <a:p>
            <a:pPr algn="just"/>
            <a:endParaRPr lang="bg-BG" sz="1800" dirty="0">
              <a:solidFill>
                <a:schemeClr val="accent6">
                  <a:lumMod val="7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C0C82B-C66C-4B95-B54D-AFD3FC6B39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0" r="25000"/>
          <a:stretch/>
        </p:blipFill>
        <p:spPr bwMode="auto">
          <a:xfrm>
            <a:off x="748344" y="1314253"/>
            <a:ext cx="1241825" cy="124182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E0473986-9099-4362-9ADC-040457ECC3BF}"/>
              </a:ext>
            </a:extLst>
          </p:cNvPr>
          <p:cNvSpPr/>
          <p:nvPr/>
        </p:nvSpPr>
        <p:spPr>
          <a:xfrm>
            <a:off x="5150239" y="4086044"/>
            <a:ext cx="3129772" cy="9595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4619" indent="-174619"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323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4619" indent="-174619"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323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4619" indent="-174619"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323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B0A9B346-785C-43A2-ACB2-365D10A6F63F}"/>
              </a:ext>
            </a:extLst>
          </p:cNvPr>
          <p:cNvSpPr/>
          <p:nvPr/>
        </p:nvSpPr>
        <p:spPr>
          <a:xfrm>
            <a:off x="8203216" y="4086044"/>
            <a:ext cx="3129772" cy="9595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4619" indent="-174619"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323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4619" indent="-174619"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323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4619" indent="-174619"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323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</p:txBody>
      </p:sp>
    </p:spTree>
    <p:extLst>
      <p:ext uri="{BB962C8B-B14F-4D97-AF65-F5344CB8AC3E}">
        <p14:creationId xmlns:p14="http://schemas.microsoft.com/office/powerpoint/2010/main" val="4019411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370013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Слайд think-cell" r:id="rId5" imgW="270" imgH="270" progId="TCLayout.ActiveDocument.1">
                  <p:embed/>
                </p:oleObj>
              </mc:Choice>
              <mc:Fallback>
                <p:oleObj name="Слайд think-cell" r:id="rId5" imgW="270" imgH="270" progId="TCLayout.ActiveDocument.1">
                  <p:embed/>
                  <p:pic>
                    <p:nvPicPr>
                      <p:cNvPr id="4" name="Объект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70013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1368425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ru-RU" sz="2150" dirty="0">
              <a:latin typeface="Calibri"/>
              <a:sym typeface="Calibri"/>
            </a:endParaRPr>
          </a:p>
        </p:txBody>
      </p:sp>
      <p:sp>
        <p:nvSpPr>
          <p:cNvPr id="6" name="Заголовок 1"/>
          <p:cNvSpPr txBox="1">
            <a:spLocks/>
          </p:cNvSpPr>
          <p:nvPr/>
        </p:nvSpPr>
        <p:spPr bwMode="auto">
          <a:xfrm>
            <a:off x="2920172" y="17931"/>
            <a:ext cx="9051537" cy="828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99" tIns="52150" rIns="104299" bIns="52150" numCol="1" anchor="ctr" anchorCtr="0" compatLnSpc="1">
            <a:prstTxWarp prst="textNoShape">
              <a:avLst/>
            </a:prstTxWarp>
          </a:bodyPr>
          <a:lstStyle>
            <a:lvl1pPr algn="ctr" defTabSz="1042364" rtl="0" eaLnBrk="0" fontAlgn="base" hangingPunct="0">
              <a:spcBef>
                <a:spcPct val="0"/>
              </a:spcBef>
              <a:spcAft>
                <a:spcPct val="0"/>
              </a:spcAft>
              <a:defRPr sz="1800" b="1" kern="1200" baseline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defTabSz="1042364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pitchFamily="34" charset="0"/>
              </a:defRPr>
            </a:lvl2pPr>
            <a:lvl3pPr algn="ctr" defTabSz="1042364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pitchFamily="34" charset="0"/>
              </a:defRPr>
            </a:lvl3pPr>
            <a:lvl4pPr algn="ctr" defTabSz="1042364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pitchFamily="34" charset="0"/>
              </a:defRPr>
            </a:lvl4pPr>
            <a:lvl5pPr algn="ctr" defTabSz="1042364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pitchFamily="34" charset="0"/>
              </a:defRPr>
            </a:lvl5pPr>
            <a:lvl6pPr marL="457171" algn="ctr" defTabSz="1042922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pitchFamily="34" charset="0"/>
              </a:defRPr>
            </a:lvl6pPr>
            <a:lvl7pPr marL="914343" algn="ctr" defTabSz="1042922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pitchFamily="34" charset="0"/>
              </a:defRPr>
            </a:lvl7pPr>
            <a:lvl8pPr marL="1371513" algn="ctr" defTabSz="1042922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pitchFamily="34" charset="0"/>
              </a:defRPr>
            </a:lvl8pPr>
            <a:lvl9pPr marL="1828685" algn="ctr" defTabSz="1042922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ru-RU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Принципы инвестирования свободного инвестиционного ресурса</a:t>
            </a:r>
            <a:endParaRPr lang="ru-RU" b="0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17" name="Прямоугольник: скругленные углы 16"/>
          <p:cNvSpPr/>
          <p:nvPr/>
        </p:nvSpPr>
        <p:spPr>
          <a:xfrm>
            <a:off x="548457" y="1195250"/>
            <a:ext cx="12197725" cy="160686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3167" y="1271077"/>
            <a:ext cx="9649272" cy="1444975"/>
          </a:xfrm>
          <a:prstGeom prst="rect">
            <a:avLst/>
          </a:prstGeom>
          <a:noFill/>
        </p:spPr>
        <p:txBody>
          <a:bodyPr wrap="square" lIns="219419" tIns="109710" rIns="219419" bIns="109710" rtlCol="0">
            <a:spAutoFit/>
          </a:bodyPr>
          <a:lstStyle/>
          <a:p>
            <a:pPr>
              <a:spcAft>
                <a:spcPts val="1323"/>
              </a:spcAft>
            </a:pPr>
            <a:r>
              <a:rPr lang="ru-RU" sz="1600" b="1" cap="all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Ключевые принципы </a:t>
            </a:r>
          </a:p>
          <a:p>
            <a:pPr marL="174619" indent="-174619"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с буллитами. Образец текста с буллитами</a:t>
            </a:r>
          </a:p>
          <a:p>
            <a:pPr marL="174619" indent="-174619"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с буллитами. Образец текста с буллитами</a:t>
            </a:r>
          </a:p>
          <a:p>
            <a:pPr marL="174619" indent="-174619"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с буллитами. Образец текста с буллитами</a:t>
            </a:r>
          </a:p>
        </p:txBody>
      </p:sp>
      <p:sp>
        <p:nvSpPr>
          <p:cNvPr id="33" name="Прямоугольник 32"/>
          <p:cNvSpPr/>
          <p:nvPr/>
        </p:nvSpPr>
        <p:spPr>
          <a:xfrm>
            <a:off x="6068603" y="3344827"/>
            <a:ext cx="531549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cap="all" dirty="0">
                <a:solidFill>
                  <a:schemeClr val="bg1">
                    <a:lumMod val="6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Возможные направления Инвестирования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96593" y="3724570"/>
            <a:ext cx="6048673" cy="2660179"/>
          </a:xfrm>
          <a:prstGeom prst="rect">
            <a:avLst/>
          </a:prstGeom>
          <a:noFill/>
        </p:spPr>
        <p:txBody>
          <a:bodyPr wrap="square" lIns="219419" tIns="109710" rIns="219419" bIns="109710" rtlCol="0">
            <a:spAutoFit/>
          </a:bodyPr>
          <a:lstStyle/>
          <a:p>
            <a:pPr marL="285740" indent="-285740" fontAlgn="b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с буллитами.</a:t>
            </a:r>
          </a:p>
          <a:p>
            <a:pPr marL="285740" indent="-285740" fontAlgn="b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с буллитами.</a:t>
            </a:r>
          </a:p>
          <a:p>
            <a:pPr marL="285740" indent="-285740" fontAlgn="b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с буллитами.</a:t>
            </a:r>
          </a:p>
          <a:p>
            <a:pPr marL="285740" indent="-285740" fontAlgn="b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с буллитами.</a:t>
            </a:r>
          </a:p>
          <a:p>
            <a:pPr marL="285740" indent="-285740" fontAlgn="b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с буллитами.</a:t>
            </a:r>
          </a:p>
          <a:p>
            <a:pPr marL="285740" indent="-285740" fontAlgn="b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с буллитами.</a:t>
            </a:r>
          </a:p>
          <a:p>
            <a:pPr marL="285740" indent="-285740" fontAlgn="b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с буллитами.</a:t>
            </a:r>
          </a:p>
          <a:p>
            <a:pPr marL="285740" indent="-285740" fontAlgn="b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с буллитами.</a:t>
            </a:r>
          </a:p>
          <a:p>
            <a:pPr marL="285740" indent="-285740" fontAlgn="b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с буллитами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8457" y="240858"/>
            <a:ext cx="11509530" cy="43771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99" tIns="52150" rIns="104299" bIns="5215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4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слайда</a:t>
            </a:r>
          </a:p>
        </p:txBody>
      </p:sp>
      <p:sp>
        <p:nvSpPr>
          <p:cNvPr id="19" name="Пятиугольник 18"/>
          <p:cNvSpPr/>
          <p:nvPr/>
        </p:nvSpPr>
        <p:spPr>
          <a:xfrm>
            <a:off x="712286" y="3204567"/>
            <a:ext cx="3744416" cy="2880320"/>
          </a:xfrm>
          <a:prstGeom prst="homePlate">
            <a:avLst>
              <a:gd name="adj" fmla="val 7849"/>
            </a:avLst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400">
              <a:solidFill>
                <a:schemeClr val="accent6">
                  <a:lumMod val="7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928110" y="3462755"/>
            <a:ext cx="3121108" cy="81201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ru-RU" sz="1544" b="1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Объем эффективного использования накопленного инвестиционного ресурса,</a:t>
            </a:r>
            <a:br>
              <a:rPr lang="ru-RU" sz="1764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ru-RU" sz="1213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млрд руб. (накопленным итогом)</a:t>
            </a:r>
            <a:endParaRPr lang="en-US" sz="1213" dirty="0">
              <a:solidFill>
                <a:srgbClr val="003264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1" name="TextBox 31"/>
          <p:cNvSpPr txBox="1">
            <a:spLocks noChangeArrowheads="1"/>
          </p:cNvSpPr>
          <p:nvPr/>
        </p:nvSpPr>
        <p:spPr bwMode="auto">
          <a:xfrm>
            <a:off x="876181" y="4428704"/>
            <a:ext cx="1241303" cy="716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5pPr>
            <a:lvl6pPr marL="25146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6pPr>
            <a:lvl7pPr marL="29718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7pPr>
            <a:lvl8pPr marL="34290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8pPr>
            <a:lvl9pPr marL="38862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9pPr>
          </a:lstStyle>
          <a:p>
            <a:pPr algn="r" eaLnBrk="1" hangingPunct="1">
              <a:lnSpc>
                <a:spcPct val="80000"/>
              </a:lnSpc>
            </a:pPr>
            <a:r>
              <a:rPr lang="ru-RU" sz="3528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0,5</a:t>
            </a:r>
          </a:p>
          <a:p>
            <a:pPr algn="r" eaLnBrk="1" hangingPunct="1">
              <a:lnSpc>
                <a:spcPct val="80000"/>
              </a:lnSpc>
            </a:pPr>
            <a:r>
              <a:rPr lang="ru-RU" sz="1544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трлн руб.</a:t>
            </a:r>
          </a:p>
        </p:txBody>
      </p:sp>
      <p:sp>
        <p:nvSpPr>
          <p:cNvPr id="23" name="TextBox 31"/>
          <p:cNvSpPr txBox="1">
            <a:spLocks noChangeArrowheads="1"/>
          </p:cNvSpPr>
          <p:nvPr/>
        </p:nvSpPr>
        <p:spPr bwMode="auto">
          <a:xfrm>
            <a:off x="784295" y="5377003"/>
            <a:ext cx="1333189" cy="716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5pPr>
            <a:lvl6pPr marL="25146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6pPr>
            <a:lvl7pPr marL="29718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7pPr>
            <a:lvl8pPr marL="34290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8pPr>
            <a:lvl9pPr marL="38862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9pPr>
          </a:lstStyle>
          <a:p>
            <a:pPr algn="r" eaLnBrk="1" hangingPunct="1">
              <a:lnSpc>
                <a:spcPct val="80000"/>
              </a:lnSpc>
            </a:pPr>
            <a:r>
              <a:rPr lang="ru-RU" sz="3528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1</a:t>
            </a:r>
            <a:r>
              <a:rPr lang="en-US" sz="3528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,0</a:t>
            </a:r>
            <a:endParaRPr lang="ru-RU" sz="3528" b="1" dirty="0">
              <a:solidFill>
                <a:srgbClr val="F184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algn="r" eaLnBrk="1" hangingPunct="1">
              <a:lnSpc>
                <a:spcPct val="80000"/>
              </a:lnSpc>
            </a:pPr>
            <a:r>
              <a:rPr lang="ru-RU" sz="1544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трлн руб.*</a:t>
            </a:r>
          </a:p>
        </p:txBody>
      </p:sp>
      <p:sp>
        <p:nvSpPr>
          <p:cNvPr id="24" name="Прямоугольник 23"/>
          <p:cNvSpPr/>
          <p:nvPr/>
        </p:nvSpPr>
        <p:spPr>
          <a:xfrm>
            <a:off x="2460356" y="4706577"/>
            <a:ext cx="1949462" cy="28931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ru-RU" sz="1600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до 2025 г.</a:t>
            </a:r>
          </a:p>
        </p:txBody>
      </p:sp>
      <p:sp>
        <p:nvSpPr>
          <p:cNvPr id="26" name="Прямоугольник 25"/>
          <p:cNvSpPr/>
          <p:nvPr/>
        </p:nvSpPr>
        <p:spPr>
          <a:xfrm>
            <a:off x="2460356" y="5649471"/>
            <a:ext cx="1949462" cy="28931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ru-RU" sz="1600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до 2030 г.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35FE9C3-679D-437C-873D-4CC9A5DE4086}"/>
              </a:ext>
            </a:extLst>
          </p:cNvPr>
          <p:cNvSpPr/>
          <p:nvPr/>
        </p:nvSpPr>
        <p:spPr>
          <a:xfrm>
            <a:off x="494213" y="6754446"/>
            <a:ext cx="1000911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* Примечание: образец текста примечания или сноски </a:t>
            </a:r>
          </a:p>
        </p:txBody>
      </p:sp>
      <p:sp>
        <p:nvSpPr>
          <p:cNvPr id="31" name="Round Same Side Corner Rectangle 58">
            <a:extLst>
              <a:ext uri="{FF2B5EF4-FFF2-40B4-BE49-F238E27FC236}">
                <a16:creationId xmlns:a16="http://schemas.microsoft.com/office/drawing/2014/main" id="{BACC4A0D-5F1F-4220-A171-90E6A65211A3}"/>
              </a:ext>
            </a:extLst>
          </p:cNvPr>
          <p:cNvSpPr/>
          <p:nvPr/>
        </p:nvSpPr>
        <p:spPr>
          <a:xfrm rot="10800000" flipH="1">
            <a:off x="2276318" y="4439139"/>
            <a:ext cx="43896" cy="6840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F18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9419" tIns="109710" rIns="219419" bIns="109710" rtlCol="0" anchor="ctr"/>
          <a:lstStyle/>
          <a:p>
            <a:pPr algn="just"/>
            <a:endParaRPr lang="bg-BG" sz="1800" dirty="0">
              <a:solidFill>
                <a:schemeClr val="accent6">
                  <a:lumMod val="7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32" name="Round Same Side Corner Rectangle 58">
            <a:extLst>
              <a:ext uri="{FF2B5EF4-FFF2-40B4-BE49-F238E27FC236}">
                <a16:creationId xmlns:a16="http://schemas.microsoft.com/office/drawing/2014/main" id="{1B55A19C-5BF2-4322-B49B-ACEE5A7E8A6C}"/>
              </a:ext>
            </a:extLst>
          </p:cNvPr>
          <p:cNvSpPr/>
          <p:nvPr/>
        </p:nvSpPr>
        <p:spPr>
          <a:xfrm rot="10800000" flipH="1">
            <a:off x="2276318" y="5436815"/>
            <a:ext cx="43896" cy="6840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F18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9419" tIns="109710" rIns="219419" bIns="109710" rtlCol="0" anchor="ctr"/>
          <a:lstStyle/>
          <a:p>
            <a:pPr algn="just"/>
            <a:endParaRPr lang="bg-BG" sz="1800" dirty="0">
              <a:solidFill>
                <a:schemeClr val="accent6">
                  <a:lumMod val="7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7D417DE9-4758-4BEC-9DF8-3A68FF2BF43F}"/>
              </a:ext>
            </a:extLst>
          </p:cNvPr>
          <p:cNvGrpSpPr/>
          <p:nvPr/>
        </p:nvGrpSpPr>
        <p:grpSpPr>
          <a:xfrm>
            <a:off x="4555345" y="3420591"/>
            <a:ext cx="326750" cy="2700224"/>
            <a:chOff x="5283076" y="1332359"/>
            <a:chExt cx="396000" cy="4673592"/>
          </a:xfrm>
        </p:grpSpPr>
        <p:cxnSp>
          <p:nvCxnSpPr>
            <p:cNvPr id="41" name="Прямая соединительная линия 40">
              <a:extLst>
                <a:ext uri="{FF2B5EF4-FFF2-40B4-BE49-F238E27FC236}">
                  <a16:creationId xmlns:a16="http://schemas.microsoft.com/office/drawing/2014/main" id="{897AC263-F5FA-4C01-A6BF-3829BDF878D1}"/>
                </a:ext>
              </a:extLst>
            </p:cNvPr>
            <p:cNvCxnSpPr/>
            <p:nvPr/>
          </p:nvCxnSpPr>
          <p:spPr>
            <a:xfrm>
              <a:off x="5283076" y="1332359"/>
              <a:ext cx="396000" cy="2340000"/>
            </a:xfrm>
            <a:prstGeom prst="line">
              <a:avLst/>
            </a:prstGeom>
            <a:ln>
              <a:gradFill>
                <a:gsLst>
                  <a:gs pos="0">
                    <a:schemeClr val="bg1"/>
                  </a:gs>
                  <a:gs pos="99000">
                    <a:schemeClr val="tx1">
                      <a:lumMod val="50000"/>
                      <a:lumOff val="5000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Прямая соединительная линия 41">
              <a:extLst>
                <a:ext uri="{FF2B5EF4-FFF2-40B4-BE49-F238E27FC236}">
                  <a16:creationId xmlns:a16="http://schemas.microsoft.com/office/drawing/2014/main" id="{EB7BD479-7FAF-43A1-847F-404D9BD4A559}"/>
                </a:ext>
              </a:extLst>
            </p:cNvPr>
            <p:cNvCxnSpPr/>
            <p:nvPr/>
          </p:nvCxnSpPr>
          <p:spPr>
            <a:xfrm flipV="1">
              <a:off x="5283076" y="3665951"/>
              <a:ext cx="396000" cy="2340000"/>
            </a:xfrm>
            <a:prstGeom prst="line">
              <a:avLst/>
            </a:prstGeom>
            <a:ln>
              <a:gradFill>
                <a:gsLst>
                  <a:gs pos="0">
                    <a:schemeClr val="bg1"/>
                  </a:gs>
                  <a:gs pos="99000">
                    <a:schemeClr val="tx1">
                      <a:lumMod val="50000"/>
                      <a:lumOff val="5000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9092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370013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Слайд think-cell" r:id="rId5" imgW="270" imgH="270" progId="TCLayout.ActiveDocument.1">
                  <p:embed/>
                </p:oleObj>
              </mc:Choice>
              <mc:Fallback>
                <p:oleObj name="Слайд think-cell" r:id="rId5" imgW="270" imgH="270" progId="TCLayout.ActiveDocument.1">
                  <p:embed/>
                  <p:pic>
                    <p:nvPicPr>
                      <p:cNvPr id="4" name="Объект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70013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5CC6CDD8-59B8-4943-AD0A-54AF769A248B}"/>
              </a:ext>
            </a:extLst>
          </p:cNvPr>
          <p:cNvGrpSpPr/>
          <p:nvPr/>
        </p:nvGrpSpPr>
        <p:grpSpPr>
          <a:xfrm>
            <a:off x="3883404" y="999241"/>
            <a:ext cx="7384850" cy="3258923"/>
            <a:chOff x="5084241" y="999241"/>
            <a:chExt cx="7384850" cy="3258923"/>
          </a:xfrm>
        </p:grpSpPr>
        <p:sp>
          <p:nvSpPr>
            <p:cNvPr id="34" name="Freeform 13"/>
            <p:cNvSpPr>
              <a:spLocks/>
            </p:cNvSpPr>
            <p:nvPr/>
          </p:nvSpPr>
          <p:spPr bwMode="auto">
            <a:xfrm>
              <a:off x="5165494" y="999241"/>
              <a:ext cx="7303597" cy="2831297"/>
            </a:xfrm>
            <a:custGeom>
              <a:avLst/>
              <a:gdLst>
                <a:gd name="T0" fmla="*/ 71 w 6590"/>
                <a:gd name="T1" fmla="*/ 3945 h 4116"/>
                <a:gd name="T2" fmla="*/ 234 w 6590"/>
                <a:gd name="T3" fmla="*/ 3617 h 4116"/>
                <a:gd name="T4" fmla="*/ 424 w 6590"/>
                <a:gd name="T5" fmla="*/ 3304 h 4116"/>
                <a:gd name="T6" fmla="*/ 641 w 6590"/>
                <a:gd name="T7" fmla="*/ 3005 h 4116"/>
                <a:gd name="T8" fmla="*/ 883 w 6590"/>
                <a:gd name="T9" fmla="*/ 2720 h 4116"/>
                <a:gd name="T10" fmla="*/ 1152 w 6590"/>
                <a:gd name="T11" fmla="*/ 2452 h 4116"/>
                <a:gd name="T12" fmla="*/ 1448 w 6590"/>
                <a:gd name="T13" fmla="*/ 2196 h 4116"/>
                <a:gd name="T14" fmla="*/ 1768 w 6590"/>
                <a:gd name="T15" fmla="*/ 1958 h 4116"/>
                <a:gd name="T16" fmla="*/ 2116 w 6590"/>
                <a:gd name="T17" fmla="*/ 1732 h 4116"/>
                <a:gd name="T18" fmla="*/ 2490 w 6590"/>
                <a:gd name="T19" fmla="*/ 1522 h 4116"/>
                <a:gd name="T20" fmla="*/ 2890 w 6590"/>
                <a:gd name="T21" fmla="*/ 1326 h 4116"/>
                <a:gd name="T22" fmla="*/ 3316 w 6590"/>
                <a:gd name="T23" fmla="*/ 1146 h 4116"/>
                <a:gd name="T24" fmla="*/ 3769 w 6590"/>
                <a:gd name="T25" fmla="*/ 979 h 4116"/>
                <a:gd name="T26" fmla="*/ 4247 w 6590"/>
                <a:gd name="T27" fmla="*/ 827 h 4116"/>
                <a:gd name="T28" fmla="*/ 4752 w 6590"/>
                <a:gd name="T29" fmla="*/ 691 h 4116"/>
                <a:gd name="T30" fmla="*/ 5284 w 6590"/>
                <a:gd name="T31" fmla="*/ 568 h 4116"/>
                <a:gd name="T32" fmla="*/ 5501 w 6590"/>
                <a:gd name="T33" fmla="*/ 0 h 4116"/>
                <a:gd name="T34" fmla="*/ 5734 w 6590"/>
                <a:gd name="T35" fmla="*/ 2058 h 4116"/>
                <a:gd name="T36" fmla="*/ 5426 w 6590"/>
                <a:gd name="T37" fmla="*/ 1566 h 4116"/>
                <a:gd name="T38" fmla="*/ 4942 w 6590"/>
                <a:gd name="T39" fmla="*/ 1624 h 4116"/>
                <a:gd name="T40" fmla="*/ 4476 w 6590"/>
                <a:gd name="T41" fmla="*/ 1695 h 4116"/>
                <a:gd name="T42" fmla="*/ 4027 w 6590"/>
                <a:gd name="T43" fmla="*/ 1783 h 4116"/>
                <a:gd name="T44" fmla="*/ 3598 w 6590"/>
                <a:gd name="T45" fmla="*/ 1885 h 4116"/>
                <a:gd name="T46" fmla="*/ 3187 w 6590"/>
                <a:gd name="T47" fmla="*/ 2002 h 4116"/>
                <a:gd name="T48" fmla="*/ 2796 w 6590"/>
                <a:gd name="T49" fmla="*/ 2133 h 4116"/>
                <a:gd name="T50" fmla="*/ 2421 w 6590"/>
                <a:gd name="T51" fmla="*/ 2279 h 4116"/>
                <a:gd name="T52" fmla="*/ 2068 w 6590"/>
                <a:gd name="T53" fmla="*/ 2440 h 4116"/>
                <a:gd name="T54" fmla="*/ 1730 w 6590"/>
                <a:gd name="T55" fmla="*/ 2615 h 4116"/>
                <a:gd name="T56" fmla="*/ 1413 w 6590"/>
                <a:gd name="T57" fmla="*/ 2805 h 4116"/>
                <a:gd name="T58" fmla="*/ 1114 w 6590"/>
                <a:gd name="T59" fmla="*/ 3010 h 4116"/>
                <a:gd name="T60" fmla="*/ 833 w 6590"/>
                <a:gd name="T61" fmla="*/ 3231 h 4116"/>
                <a:gd name="T62" fmla="*/ 572 w 6590"/>
                <a:gd name="T63" fmla="*/ 3465 h 4116"/>
                <a:gd name="T64" fmla="*/ 328 w 6590"/>
                <a:gd name="T65" fmla="*/ 3715 h 4116"/>
                <a:gd name="T66" fmla="*/ 104 w 6590"/>
                <a:gd name="T67" fmla="*/ 3978 h 4116"/>
                <a:gd name="T68" fmla="*/ 0 w 6590"/>
                <a:gd name="T69" fmla="*/ 4116 h 4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590" h="4116">
                  <a:moveTo>
                    <a:pt x="0" y="4116"/>
                  </a:moveTo>
                  <a:lnTo>
                    <a:pt x="71" y="3945"/>
                  </a:lnTo>
                  <a:lnTo>
                    <a:pt x="150" y="3780"/>
                  </a:lnTo>
                  <a:lnTo>
                    <a:pt x="234" y="3617"/>
                  </a:lnTo>
                  <a:lnTo>
                    <a:pt x="326" y="3460"/>
                  </a:lnTo>
                  <a:lnTo>
                    <a:pt x="424" y="3304"/>
                  </a:lnTo>
                  <a:lnTo>
                    <a:pt x="530" y="3152"/>
                  </a:lnTo>
                  <a:lnTo>
                    <a:pt x="641" y="3005"/>
                  </a:lnTo>
                  <a:lnTo>
                    <a:pt x="758" y="2861"/>
                  </a:lnTo>
                  <a:lnTo>
                    <a:pt x="883" y="2720"/>
                  </a:lnTo>
                  <a:lnTo>
                    <a:pt x="1014" y="2584"/>
                  </a:lnTo>
                  <a:lnTo>
                    <a:pt x="1152" y="2452"/>
                  </a:lnTo>
                  <a:lnTo>
                    <a:pt x="1296" y="2323"/>
                  </a:lnTo>
                  <a:lnTo>
                    <a:pt x="1448" y="2196"/>
                  </a:lnTo>
                  <a:lnTo>
                    <a:pt x="1603" y="2075"/>
                  </a:lnTo>
                  <a:lnTo>
                    <a:pt x="1768" y="1958"/>
                  </a:lnTo>
                  <a:lnTo>
                    <a:pt x="1939" y="1843"/>
                  </a:lnTo>
                  <a:lnTo>
                    <a:pt x="2116" y="1732"/>
                  </a:lnTo>
                  <a:lnTo>
                    <a:pt x="2298" y="1626"/>
                  </a:lnTo>
                  <a:lnTo>
                    <a:pt x="2490" y="1522"/>
                  </a:lnTo>
                  <a:lnTo>
                    <a:pt x="2686" y="1422"/>
                  </a:lnTo>
                  <a:lnTo>
                    <a:pt x="2890" y="1326"/>
                  </a:lnTo>
                  <a:lnTo>
                    <a:pt x="3099" y="1234"/>
                  </a:lnTo>
                  <a:lnTo>
                    <a:pt x="3316" y="1146"/>
                  </a:lnTo>
                  <a:lnTo>
                    <a:pt x="3539" y="1060"/>
                  </a:lnTo>
                  <a:lnTo>
                    <a:pt x="3769" y="979"/>
                  </a:lnTo>
                  <a:lnTo>
                    <a:pt x="4005" y="902"/>
                  </a:lnTo>
                  <a:lnTo>
                    <a:pt x="4247" y="827"/>
                  </a:lnTo>
                  <a:lnTo>
                    <a:pt x="4497" y="758"/>
                  </a:lnTo>
                  <a:lnTo>
                    <a:pt x="4752" y="691"/>
                  </a:lnTo>
                  <a:lnTo>
                    <a:pt x="5015" y="627"/>
                  </a:lnTo>
                  <a:lnTo>
                    <a:pt x="5284" y="568"/>
                  </a:lnTo>
                  <a:lnTo>
                    <a:pt x="5561" y="514"/>
                  </a:lnTo>
                  <a:lnTo>
                    <a:pt x="5501" y="0"/>
                  </a:lnTo>
                  <a:lnTo>
                    <a:pt x="6590" y="821"/>
                  </a:lnTo>
                  <a:lnTo>
                    <a:pt x="5734" y="2058"/>
                  </a:lnTo>
                  <a:lnTo>
                    <a:pt x="5676" y="1543"/>
                  </a:lnTo>
                  <a:lnTo>
                    <a:pt x="5426" y="1566"/>
                  </a:lnTo>
                  <a:lnTo>
                    <a:pt x="5182" y="1593"/>
                  </a:lnTo>
                  <a:lnTo>
                    <a:pt x="4942" y="1624"/>
                  </a:lnTo>
                  <a:lnTo>
                    <a:pt x="4706" y="1659"/>
                  </a:lnTo>
                  <a:lnTo>
                    <a:pt x="4476" y="1695"/>
                  </a:lnTo>
                  <a:lnTo>
                    <a:pt x="4249" y="1737"/>
                  </a:lnTo>
                  <a:lnTo>
                    <a:pt x="4027" y="1783"/>
                  </a:lnTo>
                  <a:lnTo>
                    <a:pt x="3810" y="1831"/>
                  </a:lnTo>
                  <a:lnTo>
                    <a:pt x="3598" y="1885"/>
                  </a:lnTo>
                  <a:lnTo>
                    <a:pt x="3391" y="1941"/>
                  </a:lnTo>
                  <a:lnTo>
                    <a:pt x="3187" y="2002"/>
                  </a:lnTo>
                  <a:lnTo>
                    <a:pt x="2990" y="2066"/>
                  </a:lnTo>
                  <a:lnTo>
                    <a:pt x="2796" y="2133"/>
                  </a:lnTo>
                  <a:lnTo>
                    <a:pt x="2606" y="2204"/>
                  </a:lnTo>
                  <a:lnTo>
                    <a:pt x="2421" y="2279"/>
                  </a:lnTo>
                  <a:lnTo>
                    <a:pt x="2243" y="2357"/>
                  </a:lnTo>
                  <a:lnTo>
                    <a:pt x="2068" y="2440"/>
                  </a:lnTo>
                  <a:lnTo>
                    <a:pt x="1897" y="2526"/>
                  </a:lnTo>
                  <a:lnTo>
                    <a:pt x="1730" y="2615"/>
                  </a:lnTo>
                  <a:lnTo>
                    <a:pt x="1571" y="2709"/>
                  </a:lnTo>
                  <a:lnTo>
                    <a:pt x="1413" y="2805"/>
                  </a:lnTo>
                  <a:lnTo>
                    <a:pt x="1262" y="2907"/>
                  </a:lnTo>
                  <a:lnTo>
                    <a:pt x="1114" y="3010"/>
                  </a:lnTo>
                  <a:lnTo>
                    <a:pt x="972" y="3118"/>
                  </a:lnTo>
                  <a:lnTo>
                    <a:pt x="833" y="3231"/>
                  </a:lnTo>
                  <a:lnTo>
                    <a:pt x="701" y="3346"/>
                  </a:lnTo>
                  <a:lnTo>
                    <a:pt x="572" y="3465"/>
                  </a:lnTo>
                  <a:lnTo>
                    <a:pt x="447" y="3588"/>
                  </a:lnTo>
                  <a:lnTo>
                    <a:pt x="328" y="3715"/>
                  </a:lnTo>
                  <a:lnTo>
                    <a:pt x="215" y="3844"/>
                  </a:lnTo>
                  <a:lnTo>
                    <a:pt x="104" y="3978"/>
                  </a:lnTo>
                  <a:lnTo>
                    <a:pt x="0" y="4116"/>
                  </a:lnTo>
                  <a:lnTo>
                    <a:pt x="0" y="4116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764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35" name="Freeform 14"/>
            <p:cNvSpPr>
              <a:spLocks/>
            </p:cNvSpPr>
            <p:nvPr/>
          </p:nvSpPr>
          <p:spPr bwMode="auto">
            <a:xfrm>
              <a:off x="7724592" y="2232532"/>
              <a:ext cx="162532" cy="137455"/>
            </a:xfrm>
            <a:custGeom>
              <a:avLst/>
              <a:gdLst>
                <a:gd name="T0" fmla="*/ 0 w 171"/>
                <a:gd name="T1" fmla="*/ 87 h 171"/>
                <a:gd name="T2" fmla="*/ 2 w 171"/>
                <a:gd name="T3" fmla="*/ 69 h 171"/>
                <a:gd name="T4" fmla="*/ 8 w 171"/>
                <a:gd name="T5" fmla="*/ 52 h 171"/>
                <a:gd name="T6" fmla="*/ 16 w 171"/>
                <a:gd name="T7" fmla="*/ 39 h 171"/>
                <a:gd name="T8" fmla="*/ 25 w 171"/>
                <a:gd name="T9" fmla="*/ 25 h 171"/>
                <a:gd name="T10" fmla="*/ 39 w 171"/>
                <a:gd name="T11" fmla="*/ 16 h 171"/>
                <a:gd name="T12" fmla="*/ 52 w 171"/>
                <a:gd name="T13" fmla="*/ 8 h 171"/>
                <a:gd name="T14" fmla="*/ 69 w 171"/>
                <a:gd name="T15" fmla="*/ 2 h 171"/>
                <a:gd name="T16" fmla="*/ 87 w 171"/>
                <a:gd name="T17" fmla="*/ 0 h 171"/>
                <a:gd name="T18" fmla="*/ 104 w 171"/>
                <a:gd name="T19" fmla="*/ 2 h 171"/>
                <a:gd name="T20" fmla="*/ 119 w 171"/>
                <a:gd name="T21" fmla="*/ 8 h 171"/>
                <a:gd name="T22" fmla="*/ 133 w 171"/>
                <a:gd name="T23" fmla="*/ 16 h 171"/>
                <a:gd name="T24" fmla="*/ 146 w 171"/>
                <a:gd name="T25" fmla="*/ 25 h 171"/>
                <a:gd name="T26" fmla="*/ 156 w 171"/>
                <a:gd name="T27" fmla="*/ 39 h 171"/>
                <a:gd name="T28" fmla="*/ 165 w 171"/>
                <a:gd name="T29" fmla="*/ 52 h 171"/>
                <a:gd name="T30" fmla="*/ 169 w 171"/>
                <a:gd name="T31" fmla="*/ 69 h 171"/>
                <a:gd name="T32" fmla="*/ 171 w 171"/>
                <a:gd name="T33" fmla="*/ 87 h 171"/>
                <a:gd name="T34" fmla="*/ 169 w 171"/>
                <a:gd name="T35" fmla="*/ 104 h 171"/>
                <a:gd name="T36" fmla="*/ 165 w 171"/>
                <a:gd name="T37" fmla="*/ 119 h 171"/>
                <a:gd name="T38" fmla="*/ 156 w 171"/>
                <a:gd name="T39" fmla="*/ 133 h 171"/>
                <a:gd name="T40" fmla="*/ 146 w 171"/>
                <a:gd name="T41" fmla="*/ 146 h 171"/>
                <a:gd name="T42" fmla="*/ 133 w 171"/>
                <a:gd name="T43" fmla="*/ 156 h 171"/>
                <a:gd name="T44" fmla="*/ 119 w 171"/>
                <a:gd name="T45" fmla="*/ 165 h 171"/>
                <a:gd name="T46" fmla="*/ 104 w 171"/>
                <a:gd name="T47" fmla="*/ 169 h 171"/>
                <a:gd name="T48" fmla="*/ 87 w 171"/>
                <a:gd name="T49" fmla="*/ 171 h 171"/>
                <a:gd name="T50" fmla="*/ 69 w 171"/>
                <a:gd name="T51" fmla="*/ 169 h 171"/>
                <a:gd name="T52" fmla="*/ 52 w 171"/>
                <a:gd name="T53" fmla="*/ 165 h 171"/>
                <a:gd name="T54" fmla="*/ 39 w 171"/>
                <a:gd name="T55" fmla="*/ 156 h 171"/>
                <a:gd name="T56" fmla="*/ 25 w 171"/>
                <a:gd name="T57" fmla="*/ 146 h 171"/>
                <a:gd name="T58" fmla="*/ 16 w 171"/>
                <a:gd name="T59" fmla="*/ 133 h 171"/>
                <a:gd name="T60" fmla="*/ 8 w 171"/>
                <a:gd name="T61" fmla="*/ 119 h 171"/>
                <a:gd name="T62" fmla="*/ 2 w 171"/>
                <a:gd name="T63" fmla="*/ 104 h 171"/>
                <a:gd name="T64" fmla="*/ 0 w 171"/>
                <a:gd name="T65" fmla="*/ 87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1" h="171">
                  <a:moveTo>
                    <a:pt x="0" y="87"/>
                  </a:moveTo>
                  <a:lnTo>
                    <a:pt x="2" y="69"/>
                  </a:lnTo>
                  <a:lnTo>
                    <a:pt x="8" y="52"/>
                  </a:lnTo>
                  <a:lnTo>
                    <a:pt x="16" y="39"/>
                  </a:lnTo>
                  <a:lnTo>
                    <a:pt x="25" y="25"/>
                  </a:lnTo>
                  <a:lnTo>
                    <a:pt x="39" y="16"/>
                  </a:lnTo>
                  <a:lnTo>
                    <a:pt x="52" y="8"/>
                  </a:lnTo>
                  <a:lnTo>
                    <a:pt x="69" y="2"/>
                  </a:lnTo>
                  <a:lnTo>
                    <a:pt x="87" y="0"/>
                  </a:lnTo>
                  <a:lnTo>
                    <a:pt x="104" y="2"/>
                  </a:lnTo>
                  <a:lnTo>
                    <a:pt x="119" y="8"/>
                  </a:lnTo>
                  <a:lnTo>
                    <a:pt x="133" y="16"/>
                  </a:lnTo>
                  <a:lnTo>
                    <a:pt x="146" y="25"/>
                  </a:lnTo>
                  <a:lnTo>
                    <a:pt x="156" y="39"/>
                  </a:lnTo>
                  <a:lnTo>
                    <a:pt x="165" y="52"/>
                  </a:lnTo>
                  <a:lnTo>
                    <a:pt x="169" y="69"/>
                  </a:lnTo>
                  <a:lnTo>
                    <a:pt x="171" y="87"/>
                  </a:lnTo>
                  <a:lnTo>
                    <a:pt x="169" y="104"/>
                  </a:lnTo>
                  <a:lnTo>
                    <a:pt x="165" y="119"/>
                  </a:lnTo>
                  <a:lnTo>
                    <a:pt x="156" y="133"/>
                  </a:lnTo>
                  <a:lnTo>
                    <a:pt x="146" y="146"/>
                  </a:lnTo>
                  <a:lnTo>
                    <a:pt x="133" y="156"/>
                  </a:lnTo>
                  <a:lnTo>
                    <a:pt x="119" y="165"/>
                  </a:lnTo>
                  <a:lnTo>
                    <a:pt x="104" y="169"/>
                  </a:lnTo>
                  <a:lnTo>
                    <a:pt x="87" y="171"/>
                  </a:lnTo>
                  <a:lnTo>
                    <a:pt x="69" y="169"/>
                  </a:lnTo>
                  <a:lnTo>
                    <a:pt x="52" y="165"/>
                  </a:lnTo>
                  <a:lnTo>
                    <a:pt x="39" y="156"/>
                  </a:lnTo>
                  <a:lnTo>
                    <a:pt x="25" y="146"/>
                  </a:lnTo>
                  <a:lnTo>
                    <a:pt x="16" y="133"/>
                  </a:lnTo>
                  <a:lnTo>
                    <a:pt x="8" y="119"/>
                  </a:lnTo>
                  <a:lnTo>
                    <a:pt x="2" y="104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4F81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764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36" name="Freeform 15"/>
            <p:cNvSpPr>
              <a:spLocks/>
            </p:cNvSpPr>
            <p:nvPr/>
          </p:nvSpPr>
          <p:spPr bwMode="auto">
            <a:xfrm>
              <a:off x="7724592" y="2232532"/>
              <a:ext cx="162532" cy="137455"/>
            </a:xfrm>
            <a:custGeom>
              <a:avLst/>
              <a:gdLst>
                <a:gd name="T0" fmla="*/ 0 w 171"/>
                <a:gd name="T1" fmla="*/ 87 h 171"/>
                <a:gd name="T2" fmla="*/ 2 w 171"/>
                <a:gd name="T3" fmla="*/ 69 h 171"/>
                <a:gd name="T4" fmla="*/ 8 w 171"/>
                <a:gd name="T5" fmla="*/ 52 h 171"/>
                <a:gd name="T6" fmla="*/ 16 w 171"/>
                <a:gd name="T7" fmla="*/ 39 h 171"/>
                <a:gd name="T8" fmla="*/ 25 w 171"/>
                <a:gd name="T9" fmla="*/ 25 h 171"/>
                <a:gd name="T10" fmla="*/ 39 w 171"/>
                <a:gd name="T11" fmla="*/ 16 h 171"/>
                <a:gd name="T12" fmla="*/ 52 w 171"/>
                <a:gd name="T13" fmla="*/ 8 h 171"/>
                <a:gd name="T14" fmla="*/ 69 w 171"/>
                <a:gd name="T15" fmla="*/ 2 h 171"/>
                <a:gd name="T16" fmla="*/ 87 w 171"/>
                <a:gd name="T17" fmla="*/ 0 h 171"/>
                <a:gd name="T18" fmla="*/ 104 w 171"/>
                <a:gd name="T19" fmla="*/ 2 h 171"/>
                <a:gd name="T20" fmla="*/ 119 w 171"/>
                <a:gd name="T21" fmla="*/ 8 h 171"/>
                <a:gd name="T22" fmla="*/ 133 w 171"/>
                <a:gd name="T23" fmla="*/ 16 h 171"/>
                <a:gd name="T24" fmla="*/ 146 w 171"/>
                <a:gd name="T25" fmla="*/ 25 h 171"/>
                <a:gd name="T26" fmla="*/ 156 w 171"/>
                <a:gd name="T27" fmla="*/ 39 h 171"/>
                <a:gd name="T28" fmla="*/ 165 w 171"/>
                <a:gd name="T29" fmla="*/ 52 h 171"/>
                <a:gd name="T30" fmla="*/ 169 w 171"/>
                <a:gd name="T31" fmla="*/ 69 h 171"/>
                <a:gd name="T32" fmla="*/ 171 w 171"/>
                <a:gd name="T33" fmla="*/ 87 h 171"/>
                <a:gd name="T34" fmla="*/ 169 w 171"/>
                <a:gd name="T35" fmla="*/ 104 h 171"/>
                <a:gd name="T36" fmla="*/ 165 w 171"/>
                <a:gd name="T37" fmla="*/ 119 h 171"/>
                <a:gd name="T38" fmla="*/ 156 w 171"/>
                <a:gd name="T39" fmla="*/ 133 h 171"/>
                <a:gd name="T40" fmla="*/ 146 w 171"/>
                <a:gd name="T41" fmla="*/ 146 h 171"/>
                <a:gd name="T42" fmla="*/ 133 w 171"/>
                <a:gd name="T43" fmla="*/ 156 h 171"/>
                <a:gd name="T44" fmla="*/ 119 w 171"/>
                <a:gd name="T45" fmla="*/ 165 h 171"/>
                <a:gd name="T46" fmla="*/ 104 w 171"/>
                <a:gd name="T47" fmla="*/ 169 h 171"/>
                <a:gd name="T48" fmla="*/ 87 w 171"/>
                <a:gd name="T49" fmla="*/ 171 h 171"/>
                <a:gd name="T50" fmla="*/ 69 w 171"/>
                <a:gd name="T51" fmla="*/ 169 h 171"/>
                <a:gd name="T52" fmla="*/ 52 w 171"/>
                <a:gd name="T53" fmla="*/ 165 h 171"/>
                <a:gd name="T54" fmla="*/ 39 w 171"/>
                <a:gd name="T55" fmla="*/ 156 h 171"/>
                <a:gd name="T56" fmla="*/ 25 w 171"/>
                <a:gd name="T57" fmla="*/ 146 h 171"/>
                <a:gd name="T58" fmla="*/ 16 w 171"/>
                <a:gd name="T59" fmla="*/ 133 h 171"/>
                <a:gd name="T60" fmla="*/ 8 w 171"/>
                <a:gd name="T61" fmla="*/ 119 h 171"/>
                <a:gd name="T62" fmla="*/ 2 w 171"/>
                <a:gd name="T63" fmla="*/ 104 h 171"/>
                <a:gd name="T64" fmla="*/ 0 w 171"/>
                <a:gd name="T65" fmla="*/ 87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1" h="171">
                  <a:moveTo>
                    <a:pt x="0" y="87"/>
                  </a:moveTo>
                  <a:lnTo>
                    <a:pt x="2" y="69"/>
                  </a:lnTo>
                  <a:lnTo>
                    <a:pt x="8" y="52"/>
                  </a:lnTo>
                  <a:lnTo>
                    <a:pt x="16" y="39"/>
                  </a:lnTo>
                  <a:lnTo>
                    <a:pt x="25" y="25"/>
                  </a:lnTo>
                  <a:lnTo>
                    <a:pt x="39" y="16"/>
                  </a:lnTo>
                  <a:lnTo>
                    <a:pt x="52" y="8"/>
                  </a:lnTo>
                  <a:lnTo>
                    <a:pt x="69" y="2"/>
                  </a:lnTo>
                  <a:lnTo>
                    <a:pt x="87" y="0"/>
                  </a:lnTo>
                  <a:lnTo>
                    <a:pt x="104" y="2"/>
                  </a:lnTo>
                  <a:lnTo>
                    <a:pt x="119" y="8"/>
                  </a:lnTo>
                  <a:lnTo>
                    <a:pt x="133" y="16"/>
                  </a:lnTo>
                  <a:lnTo>
                    <a:pt x="146" y="25"/>
                  </a:lnTo>
                  <a:lnTo>
                    <a:pt x="156" y="39"/>
                  </a:lnTo>
                  <a:lnTo>
                    <a:pt x="165" y="52"/>
                  </a:lnTo>
                  <a:lnTo>
                    <a:pt x="169" y="69"/>
                  </a:lnTo>
                  <a:lnTo>
                    <a:pt x="171" y="87"/>
                  </a:lnTo>
                  <a:lnTo>
                    <a:pt x="169" y="104"/>
                  </a:lnTo>
                  <a:lnTo>
                    <a:pt x="165" y="119"/>
                  </a:lnTo>
                  <a:lnTo>
                    <a:pt x="156" y="133"/>
                  </a:lnTo>
                  <a:lnTo>
                    <a:pt x="146" y="146"/>
                  </a:lnTo>
                  <a:lnTo>
                    <a:pt x="133" y="156"/>
                  </a:lnTo>
                  <a:lnTo>
                    <a:pt x="119" y="165"/>
                  </a:lnTo>
                  <a:lnTo>
                    <a:pt x="104" y="169"/>
                  </a:lnTo>
                  <a:lnTo>
                    <a:pt x="87" y="171"/>
                  </a:lnTo>
                  <a:lnTo>
                    <a:pt x="69" y="169"/>
                  </a:lnTo>
                  <a:lnTo>
                    <a:pt x="52" y="165"/>
                  </a:lnTo>
                  <a:lnTo>
                    <a:pt x="39" y="156"/>
                  </a:lnTo>
                  <a:lnTo>
                    <a:pt x="25" y="146"/>
                  </a:lnTo>
                  <a:lnTo>
                    <a:pt x="16" y="133"/>
                  </a:lnTo>
                  <a:lnTo>
                    <a:pt x="8" y="119"/>
                  </a:lnTo>
                  <a:lnTo>
                    <a:pt x="2" y="104"/>
                  </a:lnTo>
                  <a:lnTo>
                    <a:pt x="0" y="87"/>
                  </a:lnTo>
                </a:path>
              </a:pathLst>
            </a:custGeom>
            <a:noFill/>
            <a:ln w="25400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764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37" name="Rectangle 16"/>
            <p:cNvSpPr>
              <a:spLocks noChangeArrowheads="1"/>
            </p:cNvSpPr>
            <p:nvPr/>
          </p:nvSpPr>
          <p:spPr bwMode="auto">
            <a:xfrm>
              <a:off x="5424351" y="3375743"/>
              <a:ext cx="827150" cy="882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4572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9144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3716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18288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286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743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2004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657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defTabSz="914371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altLang="ru-RU" sz="2646" b="1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2</a:t>
              </a:r>
            </a:p>
            <a:p>
              <a:pPr algn="ctr" defTabSz="914371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altLang="ru-RU" sz="1544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коп.</a:t>
              </a:r>
              <a:br>
                <a:rPr lang="en-US" altLang="ru-RU" sz="1544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</a:br>
              <a:r>
                <a:rPr lang="ru-RU" altLang="ru-RU" sz="1544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за</a:t>
              </a:r>
              <a:r>
                <a:rPr lang="en-US" altLang="ru-RU" sz="1544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 </a:t>
              </a:r>
              <a:r>
                <a:rPr lang="ru-RU" altLang="ru-RU" sz="1544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акцию</a:t>
              </a:r>
              <a:endParaRPr lang="ru-RU" altLang="ru-RU" sz="1764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grpSp>
          <p:nvGrpSpPr>
            <p:cNvPr id="5" name="Группа 4"/>
            <p:cNvGrpSpPr/>
            <p:nvPr/>
          </p:nvGrpSpPr>
          <p:grpSpPr>
            <a:xfrm>
              <a:off x="8823182" y="1942373"/>
              <a:ext cx="182848" cy="158819"/>
              <a:chOff x="6883817" y="2406530"/>
              <a:chExt cx="162000" cy="166382"/>
            </a:xfrm>
          </p:grpSpPr>
          <p:sp>
            <p:nvSpPr>
              <p:cNvPr id="43" name="Freeform 20"/>
              <p:cNvSpPr>
                <a:spLocks/>
              </p:cNvSpPr>
              <p:nvPr/>
            </p:nvSpPr>
            <p:spPr bwMode="auto">
              <a:xfrm>
                <a:off x="6883817" y="2410912"/>
                <a:ext cx="162000" cy="162000"/>
              </a:xfrm>
              <a:custGeom>
                <a:avLst/>
                <a:gdLst>
                  <a:gd name="T0" fmla="*/ 0 w 309"/>
                  <a:gd name="T1" fmla="*/ 155 h 309"/>
                  <a:gd name="T2" fmla="*/ 4 w 309"/>
                  <a:gd name="T3" fmla="*/ 123 h 309"/>
                  <a:gd name="T4" fmla="*/ 12 w 309"/>
                  <a:gd name="T5" fmla="*/ 94 h 309"/>
                  <a:gd name="T6" fmla="*/ 27 w 309"/>
                  <a:gd name="T7" fmla="*/ 69 h 309"/>
                  <a:gd name="T8" fmla="*/ 46 w 309"/>
                  <a:gd name="T9" fmla="*/ 46 h 309"/>
                  <a:gd name="T10" fmla="*/ 69 w 309"/>
                  <a:gd name="T11" fmla="*/ 27 h 309"/>
                  <a:gd name="T12" fmla="*/ 94 w 309"/>
                  <a:gd name="T13" fmla="*/ 11 h 309"/>
                  <a:gd name="T14" fmla="*/ 123 w 309"/>
                  <a:gd name="T15" fmla="*/ 4 h 309"/>
                  <a:gd name="T16" fmla="*/ 156 w 309"/>
                  <a:gd name="T17" fmla="*/ 0 h 309"/>
                  <a:gd name="T18" fmla="*/ 186 w 309"/>
                  <a:gd name="T19" fmla="*/ 4 h 309"/>
                  <a:gd name="T20" fmla="*/ 215 w 309"/>
                  <a:gd name="T21" fmla="*/ 11 h 309"/>
                  <a:gd name="T22" fmla="*/ 242 w 309"/>
                  <a:gd name="T23" fmla="*/ 27 h 309"/>
                  <a:gd name="T24" fmla="*/ 263 w 309"/>
                  <a:gd name="T25" fmla="*/ 46 h 309"/>
                  <a:gd name="T26" fmla="*/ 282 w 309"/>
                  <a:gd name="T27" fmla="*/ 69 h 309"/>
                  <a:gd name="T28" fmla="*/ 298 w 309"/>
                  <a:gd name="T29" fmla="*/ 94 h 309"/>
                  <a:gd name="T30" fmla="*/ 306 w 309"/>
                  <a:gd name="T31" fmla="*/ 123 h 309"/>
                  <a:gd name="T32" fmla="*/ 309 w 309"/>
                  <a:gd name="T33" fmla="*/ 155 h 309"/>
                  <a:gd name="T34" fmla="*/ 306 w 309"/>
                  <a:gd name="T35" fmla="*/ 186 h 309"/>
                  <a:gd name="T36" fmla="*/ 298 w 309"/>
                  <a:gd name="T37" fmla="*/ 215 h 309"/>
                  <a:gd name="T38" fmla="*/ 282 w 309"/>
                  <a:gd name="T39" fmla="*/ 242 h 309"/>
                  <a:gd name="T40" fmla="*/ 263 w 309"/>
                  <a:gd name="T41" fmla="*/ 263 h 309"/>
                  <a:gd name="T42" fmla="*/ 242 w 309"/>
                  <a:gd name="T43" fmla="*/ 282 h 309"/>
                  <a:gd name="T44" fmla="*/ 215 w 309"/>
                  <a:gd name="T45" fmla="*/ 298 h 309"/>
                  <a:gd name="T46" fmla="*/ 186 w 309"/>
                  <a:gd name="T47" fmla="*/ 305 h 309"/>
                  <a:gd name="T48" fmla="*/ 156 w 309"/>
                  <a:gd name="T49" fmla="*/ 309 h 309"/>
                  <a:gd name="T50" fmla="*/ 123 w 309"/>
                  <a:gd name="T51" fmla="*/ 305 h 309"/>
                  <a:gd name="T52" fmla="*/ 94 w 309"/>
                  <a:gd name="T53" fmla="*/ 298 h 309"/>
                  <a:gd name="T54" fmla="*/ 69 w 309"/>
                  <a:gd name="T55" fmla="*/ 282 h 309"/>
                  <a:gd name="T56" fmla="*/ 46 w 309"/>
                  <a:gd name="T57" fmla="*/ 263 h 309"/>
                  <a:gd name="T58" fmla="*/ 27 w 309"/>
                  <a:gd name="T59" fmla="*/ 242 h 309"/>
                  <a:gd name="T60" fmla="*/ 12 w 309"/>
                  <a:gd name="T61" fmla="*/ 215 h 309"/>
                  <a:gd name="T62" fmla="*/ 4 w 309"/>
                  <a:gd name="T63" fmla="*/ 186 h 309"/>
                  <a:gd name="T64" fmla="*/ 0 w 309"/>
                  <a:gd name="T65" fmla="*/ 155 h 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09" h="309">
                    <a:moveTo>
                      <a:pt x="0" y="155"/>
                    </a:moveTo>
                    <a:lnTo>
                      <a:pt x="4" y="123"/>
                    </a:lnTo>
                    <a:lnTo>
                      <a:pt x="12" y="94"/>
                    </a:lnTo>
                    <a:lnTo>
                      <a:pt x="27" y="69"/>
                    </a:lnTo>
                    <a:lnTo>
                      <a:pt x="46" y="46"/>
                    </a:lnTo>
                    <a:lnTo>
                      <a:pt x="69" y="27"/>
                    </a:lnTo>
                    <a:lnTo>
                      <a:pt x="94" y="11"/>
                    </a:lnTo>
                    <a:lnTo>
                      <a:pt x="123" y="4"/>
                    </a:lnTo>
                    <a:lnTo>
                      <a:pt x="156" y="0"/>
                    </a:lnTo>
                    <a:lnTo>
                      <a:pt x="186" y="4"/>
                    </a:lnTo>
                    <a:lnTo>
                      <a:pt x="215" y="11"/>
                    </a:lnTo>
                    <a:lnTo>
                      <a:pt x="242" y="27"/>
                    </a:lnTo>
                    <a:lnTo>
                      <a:pt x="263" y="46"/>
                    </a:lnTo>
                    <a:lnTo>
                      <a:pt x="282" y="69"/>
                    </a:lnTo>
                    <a:lnTo>
                      <a:pt x="298" y="94"/>
                    </a:lnTo>
                    <a:lnTo>
                      <a:pt x="306" y="123"/>
                    </a:lnTo>
                    <a:lnTo>
                      <a:pt x="309" y="155"/>
                    </a:lnTo>
                    <a:lnTo>
                      <a:pt x="306" y="186"/>
                    </a:lnTo>
                    <a:lnTo>
                      <a:pt x="298" y="215"/>
                    </a:lnTo>
                    <a:lnTo>
                      <a:pt x="282" y="242"/>
                    </a:lnTo>
                    <a:lnTo>
                      <a:pt x="263" y="263"/>
                    </a:lnTo>
                    <a:lnTo>
                      <a:pt x="242" y="282"/>
                    </a:lnTo>
                    <a:lnTo>
                      <a:pt x="215" y="298"/>
                    </a:lnTo>
                    <a:lnTo>
                      <a:pt x="186" y="305"/>
                    </a:lnTo>
                    <a:lnTo>
                      <a:pt x="156" y="309"/>
                    </a:lnTo>
                    <a:lnTo>
                      <a:pt x="123" y="305"/>
                    </a:lnTo>
                    <a:lnTo>
                      <a:pt x="94" y="298"/>
                    </a:lnTo>
                    <a:lnTo>
                      <a:pt x="69" y="282"/>
                    </a:lnTo>
                    <a:lnTo>
                      <a:pt x="46" y="263"/>
                    </a:lnTo>
                    <a:lnTo>
                      <a:pt x="27" y="242"/>
                    </a:lnTo>
                    <a:lnTo>
                      <a:pt x="12" y="215"/>
                    </a:lnTo>
                    <a:lnTo>
                      <a:pt x="4" y="186"/>
                    </a:lnTo>
                    <a:lnTo>
                      <a:pt x="0" y="155"/>
                    </a:lnTo>
                    <a:close/>
                  </a:path>
                </a:pathLst>
              </a:custGeom>
              <a:solidFill>
                <a:srgbClr val="1F49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764"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endParaRPr>
              </a:p>
            </p:txBody>
          </p:sp>
          <p:sp>
            <p:nvSpPr>
              <p:cNvPr id="44" name="Freeform 21"/>
              <p:cNvSpPr>
                <a:spLocks/>
              </p:cNvSpPr>
              <p:nvPr/>
            </p:nvSpPr>
            <p:spPr bwMode="auto">
              <a:xfrm>
                <a:off x="6883817" y="2406530"/>
                <a:ext cx="162000" cy="162000"/>
              </a:xfrm>
              <a:custGeom>
                <a:avLst/>
                <a:gdLst>
                  <a:gd name="T0" fmla="*/ 0 w 309"/>
                  <a:gd name="T1" fmla="*/ 155 h 309"/>
                  <a:gd name="T2" fmla="*/ 4 w 309"/>
                  <a:gd name="T3" fmla="*/ 123 h 309"/>
                  <a:gd name="T4" fmla="*/ 12 w 309"/>
                  <a:gd name="T5" fmla="*/ 94 h 309"/>
                  <a:gd name="T6" fmla="*/ 27 w 309"/>
                  <a:gd name="T7" fmla="*/ 69 h 309"/>
                  <a:gd name="T8" fmla="*/ 46 w 309"/>
                  <a:gd name="T9" fmla="*/ 46 h 309"/>
                  <a:gd name="T10" fmla="*/ 69 w 309"/>
                  <a:gd name="T11" fmla="*/ 27 h 309"/>
                  <a:gd name="T12" fmla="*/ 94 w 309"/>
                  <a:gd name="T13" fmla="*/ 11 h 309"/>
                  <a:gd name="T14" fmla="*/ 123 w 309"/>
                  <a:gd name="T15" fmla="*/ 4 h 309"/>
                  <a:gd name="T16" fmla="*/ 156 w 309"/>
                  <a:gd name="T17" fmla="*/ 0 h 309"/>
                  <a:gd name="T18" fmla="*/ 186 w 309"/>
                  <a:gd name="T19" fmla="*/ 4 h 309"/>
                  <a:gd name="T20" fmla="*/ 215 w 309"/>
                  <a:gd name="T21" fmla="*/ 11 h 309"/>
                  <a:gd name="T22" fmla="*/ 242 w 309"/>
                  <a:gd name="T23" fmla="*/ 27 h 309"/>
                  <a:gd name="T24" fmla="*/ 263 w 309"/>
                  <a:gd name="T25" fmla="*/ 46 h 309"/>
                  <a:gd name="T26" fmla="*/ 282 w 309"/>
                  <a:gd name="T27" fmla="*/ 69 h 309"/>
                  <a:gd name="T28" fmla="*/ 298 w 309"/>
                  <a:gd name="T29" fmla="*/ 94 h 309"/>
                  <a:gd name="T30" fmla="*/ 306 w 309"/>
                  <a:gd name="T31" fmla="*/ 123 h 309"/>
                  <a:gd name="T32" fmla="*/ 309 w 309"/>
                  <a:gd name="T33" fmla="*/ 155 h 309"/>
                  <a:gd name="T34" fmla="*/ 306 w 309"/>
                  <a:gd name="T35" fmla="*/ 186 h 309"/>
                  <a:gd name="T36" fmla="*/ 298 w 309"/>
                  <a:gd name="T37" fmla="*/ 215 h 309"/>
                  <a:gd name="T38" fmla="*/ 282 w 309"/>
                  <a:gd name="T39" fmla="*/ 242 h 309"/>
                  <a:gd name="T40" fmla="*/ 263 w 309"/>
                  <a:gd name="T41" fmla="*/ 263 h 309"/>
                  <a:gd name="T42" fmla="*/ 242 w 309"/>
                  <a:gd name="T43" fmla="*/ 282 h 309"/>
                  <a:gd name="T44" fmla="*/ 215 w 309"/>
                  <a:gd name="T45" fmla="*/ 298 h 309"/>
                  <a:gd name="T46" fmla="*/ 186 w 309"/>
                  <a:gd name="T47" fmla="*/ 305 h 309"/>
                  <a:gd name="T48" fmla="*/ 156 w 309"/>
                  <a:gd name="T49" fmla="*/ 309 h 309"/>
                  <a:gd name="T50" fmla="*/ 123 w 309"/>
                  <a:gd name="T51" fmla="*/ 305 h 309"/>
                  <a:gd name="T52" fmla="*/ 94 w 309"/>
                  <a:gd name="T53" fmla="*/ 298 h 309"/>
                  <a:gd name="T54" fmla="*/ 69 w 309"/>
                  <a:gd name="T55" fmla="*/ 282 h 309"/>
                  <a:gd name="T56" fmla="*/ 46 w 309"/>
                  <a:gd name="T57" fmla="*/ 263 h 309"/>
                  <a:gd name="T58" fmla="*/ 27 w 309"/>
                  <a:gd name="T59" fmla="*/ 242 h 309"/>
                  <a:gd name="T60" fmla="*/ 12 w 309"/>
                  <a:gd name="T61" fmla="*/ 215 h 309"/>
                  <a:gd name="T62" fmla="*/ 4 w 309"/>
                  <a:gd name="T63" fmla="*/ 186 h 309"/>
                  <a:gd name="T64" fmla="*/ 0 w 309"/>
                  <a:gd name="T65" fmla="*/ 155 h 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09" h="309">
                    <a:moveTo>
                      <a:pt x="0" y="155"/>
                    </a:moveTo>
                    <a:lnTo>
                      <a:pt x="4" y="123"/>
                    </a:lnTo>
                    <a:lnTo>
                      <a:pt x="12" y="94"/>
                    </a:lnTo>
                    <a:lnTo>
                      <a:pt x="27" y="69"/>
                    </a:lnTo>
                    <a:lnTo>
                      <a:pt x="46" y="46"/>
                    </a:lnTo>
                    <a:lnTo>
                      <a:pt x="69" y="27"/>
                    </a:lnTo>
                    <a:lnTo>
                      <a:pt x="94" y="11"/>
                    </a:lnTo>
                    <a:lnTo>
                      <a:pt x="123" y="4"/>
                    </a:lnTo>
                    <a:lnTo>
                      <a:pt x="156" y="0"/>
                    </a:lnTo>
                    <a:lnTo>
                      <a:pt x="186" y="4"/>
                    </a:lnTo>
                    <a:lnTo>
                      <a:pt x="215" y="11"/>
                    </a:lnTo>
                    <a:lnTo>
                      <a:pt x="242" y="27"/>
                    </a:lnTo>
                    <a:lnTo>
                      <a:pt x="263" y="46"/>
                    </a:lnTo>
                    <a:lnTo>
                      <a:pt x="282" y="69"/>
                    </a:lnTo>
                    <a:lnTo>
                      <a:pt x="298" y="94"/>
                    </a:lnTo>
                    <a:lnTo>
                      <a:pt x="306" y="123"/>
                    </a:lnTo>
                    <a:lnTo>
                      <a:pt x="309" y="155"/>
                    </a:lnTo>
                    <a:lnTo>
                      <a:pt x="306" y="186"/>
                    </a:lnTo>
                    <a:lnTo>
                      <a:pt x="298" y="215"/>
                    </a:lnTo>
                    <a:lnTo>
                      <a:pt x="282" y="242"/>
                    </a:lnTo>
                    <a:lnTo>
                      <a:pt x="263" y="263"/>
                    </a:lnTo>
                    <a:lnTo>
                      <a:pt x="242" y="282"/>
                    </a:lnTo>
                    <a:lnTo>
                      <a:pt x="215" y="298"/>
                    </a:lnTo>
                    <a:lnTo>
                      <a:pt x="186" y="305"/>
                    </a:lnTo>
                    <a:lnTo>
                      <a:pt x="156" y="309"/>
                    </a:lnTo>
                    <a:lnTo>
                      <a:pt x="123" y="305"/>
                    </a:lnTo>
                    <a:lnTo>
                      <a:pt x="94" y="298"/>
                    </a:lnTo>
                    <a:lnTo>
                      <a:pt x="69" y="282"/>
                    </a:lnTo>
                    <a:lnTo>
                      <a:pt x="46" y="263"/>
                    </a:lnTo>
                    <a:lnTo>
                      <a:pt x="27" y="242"/>
                    </a:lnTo>
                    <a:lnTo>
                      <a:pt x="12" y="215"/>
                    </a:lnTo>
                    <a:lnTo>
                      <a:pt x="4" y="186"/>
                    </a:lnTo>
                    <a:lnTo>
                      <a:pt x="0" y="155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764"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endParaRPr>
              </a:p>
            </p:txBody>
          </p:sp>
        </p:grpSp>
        <p:sp>
          <p:nvSpPr>
            <p:cNvPr id="45" name="Freeform 22"/>
            <p:cNvSpPr>
              <a:spLocks/>
            </p:cNvSpPr>
            <p:nvPr/>
          </p:nvSpPr>
          <p:spPr bwMode="auto">
            <a:xfrm>
              <a:off x="10101162" y="1705397"/>
              <a:ext cx="203165" cy="171818"/>
            </a:xfrm>
            <a:custGeom>
              <a:avLst/>
              <a:gdLst>
                <a:gd name="T0" fmla="*/ 0 w 428"/>
                <a:gd name="T1" fmla="*/ 215 h 428"/>
                <a:gd name="T2" fmla="*/ 2 w 428"/>
                <a:gd name="T3" fmla="*/ 192 h 428"/>
                <a:gd name="T4" fmla="*/ 3 w 428"/>
                <a:gd name="T5" fmla="*/ 171 h 428"/>
                <a:gd name="T6" fmla="*/ 9 w 428"/>
                <a:gd name="T7" fmla="*/ 150 h 428"/>
                <a:gd name="T8" fmla="*/ 17 w 428"/>
                <a:gd name="T9" fmla="*/ 131 h 428"/>
                <a:gd name="T10" fmla="*/ 36 w 428"/>
                <a:gd name="T11" fmla="*/ 94 h 428"/>
                <a:gd name="T12" fmla="*/ 63 w 428"/>
                <a:gd name="T13" fmla="*/ 64 h 428"/>
                <a:gd name="T14" fmla="*/ 94 w 428"/>
                <a:gd name="T15" fmla="*/ 37 h 428"/>
                <a:gd name="T16" fmla="*/ 130 w 428"/>
                <a:gd name="T17" fmla="*/ 18 h 428"/>
                <a:gd name="T18" fmla="*/ 149 w 428"/>
                <a:gd name="T19" fmla="*/ 10 h 428"/>
                <a:gd name="T20" fmla="*/ 171 w 428"/>
                <a:gd name="T21" fmla="*/ 4 h 428"/>
                <a:gd name="T22" fmla="*/ 192 w 428"/>
                <a:gd name="T23" fmla="*/ 2 h 428"/>
                <a:gd name="T24" fmla="*/ 215 w 428"/>
                <a:gd name="T25" fmla="*/ 0 h 428"/>
                <a:gd name="T26" fmla="*/ 236 w 428"/>
                <a:gd name="T27" fmla="*/ 2 h 428"/>
                <a:gd name="T28" fmla="*/ 257 w 428"/>
                <a:gd name="T29" fmla="*/ 4 h 428"/>
                <a:gd name="T30" fmla="*/ 278 w 428"/>
                <a:gd name="T31" fmla="*/ 10 h 428"/>
                <a:gd name="T32" fmla="*/ 297 w 428"/>
                <a:gd name="T33" fmla="*/ 18 h 428"/>
                <a:gd name="T34" fmla="*/ 334 w 428"/>
                <a:gd name="T35" fmla="*/ 37 h 428"/>
                <a:gd name="T36" fmla="*/ 364 w 428"/>
                <a:gd name="T37" fmla="*/ 64 h 428"/>
                <a:gd name="T38" fmla="*/ 391 w 428"/>
                <a:gd name="T39" fmla="*/ 94 h 428"/>
                <a:gd name="T40" fmla="*/ 411 w 428"/>
                <a:gd name="T41" fmla="*/ 131 h 428"/>
                <a:gd name="T42" fmla="*/ 418 w 428"/>
                <a:gd name="T43" fmla="*/ 150 h 428"/>
                <a:gd name="T44" fmla="*/ 424 w 428"/>
                <a:gd name="T45" fmla="*/ 171 h 428"/>
                <a:gd name="T46" fmla="*/ 428 w 428"/>
                <a:gd name="T47" fmla="*/ 192 h 428"/>
                <a:gd name="T48" fmla="*/ 428 w 428"/>
                <a:gd name="T49" fmla="*/ 215 h 428"/>
                <a:gd name="T50" fmla="*/ 428 w 428"/>
                <a:gd name="T51" fmla="*/ 236 h 428"/>
                <a:gd name="T52" fmla="*/ 424 w 428"/>
                <a:gd name="T53" fmla="*/ 258 h 428"/>
                <a:gd name="T54" fmla="*/ 418 w 428"/>
                <a:gd name="T55" fmla="*/ 279 h 428"/>
                <a:gd name="T56" fmla="*/ 411 w 428"/>
                <a:gd name="T57" fmla="*/ 298 h 428"/>
                <a:gd name="T58" fmla="*/ 391 w 428"/>
                <a:gd name="T59" fmla="*/ 334 h 428"/>
                <a:gd name="T60" fmla="*/ 364 w 428"/>
                <a:gd name="T61" fmla="*/ 365 h 428"/>
                <a:gd name="T62" fmla="*/ 334 w 428"/>
                <a:gd name="T63" fmla="*/ 392 h 428"/>
                <a:gd name="T64" fmla="*/ 297 w 428"/>
                <a:gd name="T65" fmla="*/ 411 h 428"/>
                <a:gd name="T66" fmla="*/ 278 w 428"/>
                <a:gd name="T67" fmla="*/ 419 h 428"/>
                <a:gd name="T68" fmla="*/ 257 w 428"/>
                <a:gd name="T69" fmla="*/ 425 h 428"/>
                <a:gd name="T70" fmla="*/ 236 w 428"/>
                <a:gd name="T71" fmla="*/ 428 h 428"/>
                <a:gd name="T72" fmla="*/ 215 w 428"/>
                <a:gd name="T73" fmla="*/ 428 h 428"/>
                <a:gd name="T74" fmla="*/ 192 w 428"/>
                <a:gd name="T75" fmla="*/ 428 h 428"/>
                <a:gd name="T76" fmla="*/ 171 w 428"/>
                <a:gd name="T77" fmla="*/ 425 h 428"/>
                <a:gd name="T78" fmla="*/ 149 w 428"/>
                <a:gd name="T79" fmla="*/ 419 h 428"/>
                <a:gd name="T80" fmla="*/ 130 w 428"/>
                <a:gd name="T81" fmla="*/ 411 h 428"/>
                <a:gd name="T82" fmla="*/ 94 w 428"/>
                <a:gd name="T83" fmla="*/ 392 h 428"/>
                <a:gd name="T84" fmla="*/ 63 w 428"/>
                <a:gd name="T85" fmla="*/ 365 h 428"/>
                <a:gd name="T86" fmla="*/ 36 w 428"/>
                <a:gd name="T87" fmla="*/ 334 h 428"/>
                <a:gd name="T88" fmla="*/ 17 w 428"/>
                <a:gd name="T89" fmla="*/ 298 h 428"/>
                <a:gd name="T90" fmla="*/ 9 w 428"/>
                <a:gd name="T91" fmla="*/ 279 h 428"/>
                <a:gd name="T92" fmla="*/ 3 w 428"/>
                <a:gd name="T93" fmla="*/ 258 h 428"/>
                <a:gd name="T94" fmla="*/ 2 w 428"/>
                <a:gd name="T95" fmla="*/ 236 h 428"/>
                <a:gd name="T96" fmla="*/ 0 w 428"/>
                <a:gd name="T97" fmla="*/ 215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28" h="428">
                  <a:moveTo>
                    <a:pt x="0" y="215"/>
                  </a:moveTo>
                  <a:lnTo>
                    <a:pt x="2" y="192"/>
                  </a:lnTo>
                  <a:lnTo>
                    <a:pt x="3" y="171"/>
                  </a:lnTo>
                  <a:lnTo>
                    <a:pt x="9" y="150"/>
                  </a:lnTo>
                  <a:lnTo>
                    <a:pt x="17" y="131"/>
                  </a:lnTo>
                  <a:lnTo>
                    <a:pt x="36" y="94"/>
                  </a:lnTo>
                  <a:lnTo>
                    <a:pt x="63" y="64"/>
                  </a:lnTo>
                  <a:lnTo>
                    <a:pt x="94" y="37"/>
                  </a:lnTo>
                  <a:lnTo>
                    <a:pt x="130" y="18"/>
                  </a:lnTo>
                  <a:lnTo>
                    <a:pt x="149" y="10"/>
                  </a:lnTo>
                  <a:lnTo>
                    <a:pt x="171" y="4"/>
                  </a:lnTo>
                  <a:lnTo>
                    <a:pt x="192" y="2"/>
                  </a:lnTo>
                  <a:lnTo>
                    <a:pt x="215" y="0"/>
                  </a:lnTo>
                  <a:lnTo>
                    <a:pt x="236" y="2"/>
                  </a:lnTo>
                  <a:lnTo>
                    <a:pt x="257" y="4"/>
                  </a:lnTo>
                  <a:lnTo>
                    <a:pt x="278" y="10"/>
                  </a:lnTo>
                  <a:lnTo>
                    <a:pt x="297" y="18"/>
                  </a:lnTo>
                  <a:lnTo>
                    <a:pt x="334" y="37"/>
                  </a:lnTo>
                  <a:lnTo>
                    <a:pt x="364" y="64"/>
                  </a:lnTo>
                  <a:lnTo>
                    <a:pt x="391" y="94"/>
                  </a:lnTo>
                  <a:lnTo>
                    <a:pt x="411" y="131"/>
                  </a:lnTo>
                  <a:lnTo>
                    <a:pt x="418" y="150"/>
                  </a:lnTo>
                  <a:lnTo>
                    <a:pt x="424" y="171"/>
                  </a:lnTo>
                  <a:lnTo>
                    <a:pt x="428" y="192"/>
                  </a:lnTo>
                  <a:lnTo>
                    <a:pt x="428" y="215"/>
                  </a:lnTo>
                  <a:lnTo>
                    <a:pt x="428" y="236"/>
                  </a:lnTo>
                  <a:lnTo>
                    <a:pt x="424" y="258"/>
                  </a:lnTo>
                  <a:lnTo>
                    <a:pt x="418" y="279"/>
                  </a:lnTo>
                  <a:lnTo>
                    <a:pt x="411" y="298"/>
                  </a:lnTo>
                  <a:lnTo>
                    <a:pt x="391" y="334"/>
                  </a:lnTo>
                  <a:lnTo>
                    <a:pt x="364" y="365"/>
                  </a:lnTo>
                  <a:lnTo>
                    <a:pt x="334" y="392"/>
                  </a:lnTo>
                  <a:lnTo>
                    <a:pt x="297" y="411"/>
                  </a:lnTo>
                  <a:lnTo>
                    <a:pt x="278" y="419"/>
                  </a:lnTo>
                  <a:lnTo>
                    <a:pt x="257" y="425"/>
                  </a:lnTo>
                  <a:lnTo>
                    <a:pt x="236" y="428"/>
                  </a:lnTo>
                  <a:lnTo>
                    <a:pt x="215" y="428"/>
                  </a:lnTo>
                  <a:lnTo>
                    <a:pt x="192" y="428"/>
                  </a:lnTo>
                  <a:lnTo>
                    <a:pt x="171" y="425"/>
                  </a:lnTo>
                  <a:lnTo>
                    <a:pt x="149" y="419"/>
                  </a:lnTo>
                  <a:lnTo>
                    <a:pt x="130" y="411"/>
                  </a:lnTo>
                  <a:lnTo>
                    <a:pt x="94" y="392"/>
                  </a:lnTo>
                  <a:lnTo>
                    <a:pt x="63" y="365"/>
                  </a:lnTo>
                  <a:lnTo>
                    <a:pt x="36" y="334"/>
                  </a:lnTo>
                  <a:lnTo>
                    <a:pt x="17" y="298"/>
                  </a:lnTo>
                  <a:lnTo>
                    <a:pt x="9" y="279"/>
                  </a:lnTo>
                  <a:lnTo>
                    <a:pt x="3" y="258"/>
                  </a:lnTo>
                  <a:lnTo>
                    <a:pt x="2" y="236"/>
                  </a:lnTo>
                  <a:lnTo>
                    <a:pt x="0" y="215"/>
                  </a:lnTo>
                  <a:close/>
                </a:path>
              </a:pathLst>
            </a:custGeom>
            <a:solidFill>
              <a:srgbClr val="1F49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764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46" name="Freeform 23"/>
            <p:cNvSpPr>
              <a:spLocks/>
            </p:cNvSpPr>
            <p:nvPr/>
          </p:nvSpPr>
          <p:spPr bwMode="auto">
            <a:xfrm>
              <a:off x="10101162" y="1691972"/>
              <a:ext cx="203165" cy="171818"/>
            </a:xfrm>
            <a:custGeom>
              <a:avLst/>
              <a:gdLst>
                <a:gd name="T0" fmla="*/ 0 w 428"/>
                <a:gd name="T1" fmla="*/ 215 h 428"/>
                <a:gd name="T2" fmla="*/ 2 w 428"/>
                <a:gd name="T3" fmla="*/ 192 h 428"/>
                <a:gd name="T4" fmla="*/ 3 w 428"/>
                <a:gd name="T5" fmla="*/ 171 h 428"/>
                <a:gd name="T6" fmla="*/ 9 w 428"/>
                <a:gd name="T7" fmla="*/ 150 h 428"/>
                <a:gd name="T8" fmla="*/ 17 w 428"/>
                <a:gd name="T9" fmla="*/ 131 h 428"/>
                <a:gd name="T10" fmla="*/ 36 w 428"/>
                <a:gd name="T11" fmla="*/ 94 h 428"/>
                <a:gd name="T12" fmla="*/ 63 w 428"/>
                <a:gd name="T13" fmla="*/ 64 h 428"/>
                <a:gd name="T14" fmla="*/ 94 w 428"/>
                <a:gd name="T15" fmla="*/ 37 h 428"/>
                <a:gd name="T16" fmla="*/ 130 w 428"/>
                <a:gd name="T17" fmla="*/ 18 h 428"/>
                <a:gd name="T18" fmla="*/ 149 w 428"/>
                <a:gd name="T19" fmla="*/ 10 h 428"/>
                <a:gd name="T20" fmla="*/ 171 w 428"/>
                <a:gd name="T21" fmla="*/ 4 h 428"/>
                <a:gd name="T22" fmla="*/ 192 w 428"/>
                <a:gd name="T23" fmla="*/ 2 h 428"/>
                <a:gd name="T24" fmla="*/ 215 w 428"/>
                <a:gd name="T25" fmla="*/ 0 h 428"/>
                <a:gd name="T26" fmla="*/ 236 w 428"/>
                <a:gd name="T27" fmla="*/ 2 h 428"/>
                <a:gd name="T28" fmla="*/ 257 w 428"/>
                <a:gd name="T29" fmla="*/ 4 h 428"/>
                <a:gd name="T30" fmla="*/ 278 w 428"/>
                <a:gd name="T31" fmla="*/ 10 h 428"/>
                <a:gd name="T32" fmla="*/ 297 w 428"/>
                <a:gd name="T33" fmla="*/ 18 h 428"/>
                <a:gd name="T34" fmla="*/ 334 w 428"/>
                <a:gd name="T35" fmla="*/ 37 h 428"/>
                <a:gd name="T36" fmla="*/ 364 w 428"/>
                <a:gd name="T37" fmla="*/ 64 h 428"/>
                <a:gd name="T38" fmla="*/ 391 w 428"/>
                <a:gd name="T39" fmla="*/ 94 h 428"/>
                <a:gd name="T40" fmla="*/ 411 w 428"/>
                <a:gd name="T41" fmla="*/ 131 h 428"/>
                <a:gd name="T42" fmla="*/ 418 w 428"/>
                <a:gd name="T43" fmla="*/ 150 h 428"/>
                <a:gd name="T44" fmla="*/ 424 w 428"/>
                <a:gd name="T45" fmla="*/ 171 h 428"/>
                <a:gd name="T46" fmla="*/ 428 w 428"/>
                <a:gd name="T47" fmla="*/ 192 h 428"/>
                <a:gd name="T48" fmla="*/ 428 w 428"/>
                <a:gd name="T49" fmla="*/ 215 h 428"/>
                <a:gd name="T50" fmla="*/ 428 w 428"/>
                <a:gd name="T51" fmla="*/ 236 h 428"/>
                <a:gd name="T52" fmla="*/ 424 w 428"/>
                <a:gd name="T53" fmla="*/ 258 h 428"/>
                <a:gd name="T54" fmla="*/ 418 w 428"/>
                <a:gd name="T55" fmla="*/ 279 h 428"/>
                <a:gd name="T56" fmla="*/ 411 w 428"/>
                <a:gd name="T57" fmla="*/ 298 h 428"/>
                <a:gd name="T58" fmla="*/ 391 w 428"/>
                <a:gd name="T59" fmla="*/ 334 h 428"/>
                <a:gd name="T60" fmla="*/ 364 w 428"/>
                <a:gd name="T61" fmla="*/ 365 h 428"/>
                <a:gd name="T62" fmla="*/ 334 w 428"/>
                <a:gd name="T63" fmla="*/ 392 h 428"/>
                <a:gd name="T64" fmla="*/ 297 w 428"/>
                <a:gd name="T65" fmla="*/ 411 h 428"/>
                <a:gd name="T66" fmla="*/ 278 w 428"/>
                <a:gd name="T67" fmla="*/ 419 h 428"/>
                <a:gd name="T68" fmla="*/ 257 w 428"/>
                <a:gd name="T69" fmla="*/ 425 h 428"/>
                <a:gd name="T70" fmla="*/ 236 w 428"/>
                <a:gd name="T71" fmla="*/ 428 h 428"/>
                <a:gd name="T72" fmla="*/ 215 w 428"/>
                <a:gd name="T73" fmla="*/ 428 h 428"/>
                <a:gd name="T74" fmla="*/ 192 w 428"/>
                <a:gd name="T75" fmla="*/ 428 h 428"/>
                <a:gd name="T76" fmla="*/ 171 w 428"/>
                <a:gd name="T77" fmla="*/ 425 h 428"/>
                <a:gd name="T78" fmla="*/ 149 w 428"/>
                <a:gd name="T79" fmla="*/ 419 h 428"/>
                <a:gd name="T80" fmla="*/ 130 w 428"/>
                <a:gd name="T81" fmla="*/ 411 h 428"/>
                <a:gd name="T82" fmla="*/ 94 w 428"/>
                <a:gd name="T83" fmla="*/ 392 h 428"/>
                <a:gd name="T84" fmla="*/ 63 w 428"/>
                <a:gd name="T85" fmla="*/ 365 h 428"/>
                <a:gd name="T86" fmla="*/ 36 w 428"/>
                <a:gd name="T87" fmla="*/ 334 h 428"/>
                <a:gd name="T88" fmla="*/ 17 w 428"/>
                <a:gd name="T89" fmla="*/ 298 h 428"/>
                <a:gd name="T90" fmla="*/ 9 w 428"/>
                <a:gd name="T91" fmla="*/ 279 h 428"/>
                <a:gd name="T92" fmla="*/ 3 w 428"/>
                <a:gd name="T93" fmla="*/ 258 h 428"/>
                <a:gd name="T94" fmla="*/ 2 w 428"/>
                <a:gd name="T95" fmla="*/ 236 h 428"/>
                <a:gd name="T96" fmla="*/ 0 w 428"/>
                <a:gd name="T97" fmla="*/ 215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28" h="428">
                  <a:moveTo>
                    <a:pt x="0" y="215"/>
                  </a:moveTo>
                  <a:lnTo>
                    <a:pt x="2" y="192"/>
                  </a:lnTo>
                  <a:lnTo>
                    <a:pt x="3" y="171"/>
                  </a:lnTo>
                  <a:lnTo>
                    <a:pt x="9" y="150"/>
                  </a:lnTo>
                  <a:lnTo>
                    <a:pt x="17" y="131"/>
                  </a:lnTo>
                  <a:lnTo>
                    <a:pt x="36" y="94"/>
                  </a:lnTo>
                  <a:lnTo>
                    <a:pt x="63" y="64"/>
                  </a:lnTo>
                  <a:lnTo>
                    <a:pt x="94" y="37"/>
                  </a:lnTo>
                  <a:lnTo>
                    <a:pt x="130" y="18"/>
                  </a:lnTo>
                  <a:lnTo>
                    <a:pt x="149" y="10"/>
                  </a:lnTo>
                  <a:lnTo>
                    <a:pt x="171" y="4"/>
                  </a:lnTo>
                  <a:lnTo>
                    <a:pt x="192" y="2"/>
                  </a:lnTo>
                  <a:lnTo>
                    <a:pt x="215" y="0"/>
                  </a:lnTo>
                  <a:lnTo>
                    <a:pt x="236" y="2"/>
                  </a:lnTo>
                  <a:lnTo>
                    <a:pt x="257" y="4"/>
                  </a:lnTo>
                  <a:lnTo>
                    <a:pt x="278" y="10"/>
                  </a:lnTo>
                  <a:lnTo>
                    <a:pt x="297" y="18"/>
                  </a:lnTo>
                  <a:lnTo>
                    <a:pt x="334" y="37"/>
                  </a:lnTo>
                  <a:lnTo>
                    <a:pt x="364" y="64"/>
                  </a:lnTo>
                  <a:lnTo>
                    <a:pt x="391" y="94"/>
                  </a:lnTo>
                  <a:lnTo>
                    <a:pt x="411" y="131"/>
                  </a:lnTo>
                  <a:lnTo>
                    <a:pt x="418" y="150"/>
                  </a:lnTo>
                  <a:lnTo>
                    <a:pt x="424" y="171"/>
                  </a:lnTo>
                  <a:lnTo>
                    <a:pt x="428" y="192"/>
                  </a:lnTo>
                  <a:lnTo>
                    <a:pt x="428" y="215"/>
                  </a:lnTo>
                  <a:lnTo>
                    <a:pt x="428" y="236"/>
                  </a:lnTo>
                  <a:lnTo>
                    <a:pt x="424" y="258"/>
                  </a:lnTo>
                  <a:lnTo>
                    <a:pt x="418" y="279"/>
                  </a:lnTo>
                  <a:lnTo>
                    <a:pt x="411" y="298"/>
                  </a:lnTo>
                  <a:lnTo>
                    <a:pt x="391" y="334"/>
                  </a:lnTo>
                  <a:lnTo>
                    <a:pt x="364" y="365"/>
                  </a:lnTo>
                  <a:lnTo>
                    <a:pt x="334" y="392"/>
                  </a:lnTo>
                  <a:lnTo>
                    <a:pt x="297" y="411"/>
                  </a:lnTo>
                  <a:lnTo>
                    <a:pt x="278" y="419"/>
                  </a:lnTo>
                  <a:lnTo>
                    <a:pt x="257" y="425"/>
                  </a:lnTo>
                  <a:lnTo>
                    <a:pt x="236" y="428"/>
                  </a:lnTo>
                  <a:lnTo>
                    <a:pt x="215" y="428"/>
                  </a:lnTo>
                  <a:lnTo>
                    <a:pt x="192" y="428"/>
                  </a:lnTo>
                  <a:lnTo>
                    <a:pt x="171" y="425"/>
                  </a:lnTo>
                  <a:lnTo>
                    <a:pt x="149" y="419"/>
                  </a:lnTo>
                  <a:lnTo>
                    <a:pt x="130" y="411"/>
                  </a:lnTo>
                  <a:lnTo>
                    <a:pt x="94" y="392"/>
                  </a:lnTo>
                  <a:lnTo>
                    <a:pt x="63" y="365"/>
                  </a:lnTo>
                  <a:lnTo>
                    <a:pt x="36" y="334"/>
                  </a:lnTo>
                  <a:lnTo>
                    <a:pt x="17" y="298"/>
                  </a:lnTo>
                  <a:lnTo>
                    <a:pt x="9" y="279"/>
                  </a:lnTo>
                  <a:lnTo>
                    <a:pt x="3" y="258"/>
                  </a:lnTo>
                  <a:lnTo>
                    <a:pt x="2" y="236"/>
                  </a:lnTo>
                  <a:lnTo>
                    <a:pt x="0" y="215"/>
                  </a:lnTo>
                </a:path>
              </a:pathLst>
            </a:custGeom>
            <a:noFill/>
            <a:ln w="25400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764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50" name="Rectangle 26"/>
            <p:cNvSpPr>
              <a:spLocks noChangeArrowheads="1"/>
            </p:cNvSpPr>
            <p:nvPr/>
          </p:nvSpPr>
          <p:spPr bwMode="auto">
            <a:xfrm>
              <a:off x="6073000" y="2345047"/>
              <a:ext cx="442429" cy="237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4572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9144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3716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18288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286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743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2004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657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defTabSz="914371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altLang="ru-RU" sz="1544" dirty="0">
                  <a:solidFill>
                    <a:srgbClr val="0000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201</a:t>
              </a:r>
              <a:r>
                <a:rPr lang="en-US" altLang="ru-RU" sz="1544" dirty="0">
                  <a:solidFill>
                    <a:srgbClr val="0000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8</a:t>
              </a:r>
              <a:endParaRPr lang="ru-RU" altLang="ru-RU" sz="1544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55" name="Freeform 14"/>
            <p:cNvSpPr>
              <a:spLocks/>
            </p:cNvSpPr>
            <p:nvPr/>
          </p:nvSpPr>
          <p:spPr bwMode="auto">
            <a:xfrm>
              <a:off x="6623168" y="2660815"/>
              <a:ext cx="121899" cy="103091"/>
            </a:xfrm>
            <a:custGeom>
              <a:avLst/>
              <a:gdLst>
                <a:gd name="T0" fmla="*/ 0 w 171"/>
                <a:gd name="T1" fmla="*/ 87 h 171"/>
                <a:gd name="T2" fmla="*/ 2 w 171"/>
                <a:gd name="T3" fmla="*/ 69 h 171"/>
                <a:gd name="T4" fmla="*/ 8 w 171"/>
                <a:gd name="T5" fmla="*/ 52 h 171"/>
                <a:gd name="T6" fmla="*/ 16 w 171"/>
                <a:gd name="T7" fmla="*/ 39 h 171"/>
                <a:gd name="T8" fmla="*/ 25 w 171"/>
                <a:gd name="T9" fmla="*/ 25 h 171"/>
                <a:gd name="T10" fmla="*/ 39 w 171"/>
                <a:gd name="T11" fmla="*/ 16 h 171"/>
                <a:gd name="T12" fmla="*/ 52 w 171"/>
                <a:gd name="T13" fmla="*/ 8 h 171"/>
                <a:gd name="T14" fmla="*/ 69 w 171"/>
                <a:gd name="T15" fmla="*/ 2 h 171"/>
                <a:gd name="T16" fmla="*/ 87 w 171"/>
                <a:gd name="T17" fmla="*/ 0 h 171"/>
                <a:gd name="T18" fmla="*/ 104 w 171"/>
                <a:gd name="T19" fmla="*/ 2 h 171"/>
                <a:gd name="T20" fmla="*/ 119 w 171"/>
                <a:gd name="T21" fmla="*/ 8 h 171"/>
                <a:gd name="T22" fmla="*/ 133 w 171"/>
                <a:gd name="T23" fmla="*/ 16 h 171"/>
                <a:gd name="T24" fmla="*/ 146 w 171"/>
                <a:gd name="T25" fmla="*/ 25 h 171"/>
                <a:gd name="T26" fmla="*/ 156 w 171"/>
                <a:gd name="T27" fmla="*/ 39 h 171"/>
                <a:gd name="T28" fmla="*/ 165 w 171"/>
                <a:gd name="T29" fmla="*/ 52 h 171"/>
                <a:gd name="T30" fmla="*/ 169 w 171"/>
                <a:gd name="T31" fmla="*/ 69 h 171"/>
                <a:gd name="T32" fmla="*/ 171 w 171"/>
                <a:gd name="T33" fmla="*/ 87 h 171"/>
                <a:gd name="T34" fmla="*/ 169 w 171"/>
                <a:gd name="T35" fmla="*/ 104 h 171"/>
                <a:gd name="T36" fmla="*/ 165 w 171"/>
                <a:gd name="T37" fmla="*/ 119 h 171"/>
                <a:gd name="T38" fmla="*/ 156 w 171"/>
                <a:gd name="T39" fmla="*/ 133 h 171"/>
                <a:gd name="T40" fmla="*/ 146 w 171"/>
                <a:gd name="T41" fmla="*/ 146 h 171"/>
                <a:gd name="T42" fmla="*/ 133 w 171"/>
                <a:gd name="T43" fmla="*/ 156 h 171"/>
                <a:gd name="T44" fmla="*/ 119 w 171"/>
                <a:gd name="T45" fmla="*/ 165 h 171"/>
                <a:gd name="T46" fmla="*/ 104 w 171"/>
                <a:gd name="T47" fmla="*/ 169 h 171"/>
                <a:gd name="T48" fmla="*/ 87 w 171"/>
                <a:gd name="T49" fmla="*/ 171 h 171"/>
                <a:gd name="T50" fmla="*/ 69 w 171"/>
                <a:gd name="T51" fmla="*/ 169 h 171"/>
                <a:gd name="T52" fmla="*/ 52 w 171"/>
                <a:gd name="T53" fmla="*/ 165 h 171"/>
                <a:gd name="T54" fmla="*/ 39 w 171"/>
                <a:gd name="T55" fmla="*/ 156 h 171"/>
                <a:gd name="T56" fmla="*/ 25 w 171"/>
                <a:gd name="T57" fmla="*/ 146 h 171"/>
                <a:gd name="T58" fmla="*/ 16 w 171"/>
                <a:gd name="T59" fmla="*/ 133 h 171"/>
                <a:gd name="T60" fmla="*/ 8 w 171"/>
                <a:gd name="T61" fmla="*/ 119 h 171"/>
                <a:gd name="T62" fmla="*/ 2 w 171"/>
                <a:gd name="T63" fmla="*/ 104 h 171"/>
                <a:gd name="T64" fmla="*/ 0 w 171"/>
                <a:gd name="T65" fmla="*/ 87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1" h="171">
                  <a:moveTo>
                    <a:pt x="0" y="87"/>
                  </a:moveTo>
                  <a:lnTo>
                    <a:pt x="2" y="69"/>
                  </a:lnTo>
                  <a:lnTo>
                    <a:pt x="8" y="52"/>
                  </a:lnTo>
                  <a:lnTo>
                    <a:pt x="16" y="39"/>
                  </a:lnTo>
                  <a:lnTo>
                    <a:pt x="25" y="25"/>
                  </a:lnTo>
                  <a:lnTo>
                    <a:pt x="39" y="16"/>
                  </a:lnTo>
                  <a:lnTo>
                    <a:pt x="52" y="8"/>
                  </a:lnTo>
                  <a:lnTo>
                    <a:pt x="69" y="2"/>
                  </a:lnTo>
                  <a:lnTo>
                    <a:pt x="87" y="0"/>
                  </a:lnTo>
                  <a:lnTo>
                    <a:pt x="104" y="2"/>
                  </a:lnTo>
                  <a:lnTo>
                    <a:pt x="119" y="8"/>
                  </a:lnTo>
                  <a:lnTo>
                    <a:pt x="133" y="16"/>
                  </a:lnTo>
                  <a:lnTo>
                    <a:pt x="146" y="25"/>
                  </a:lnTo>
                  <a:lnTo>
                    <a:pt x="156" y="39"/>
                  </a:lnTo>
                  <a:lnTo>
                    <a:pt x="165" y="52"/>
                  </a:lnTo>
                  <a:lnTo>
                    <a:pt x="169" y="69"/>
                  </a:lnTo>
                  <a:lnTo>
                    <a:pt x="171" y="87"/>
                  </a:lnTo>
                  <a:lnTo>
                    <a:pt x="169" y="104"/>
                  </a:lnTo>
                  <a:lnTo>
                    <a:pt x="165" y="119"/>
                  </a:lnTo>
                  <a:lnTo>
                    <a:pt x="156" y="133"/>
                  </a:lnTo>
                  <a:lnTo>
                    <a:pt x="146" y="146"/>
                  </a:lnTo>
                  <a:lnTo>
                    <a:pt x="133" y="156"/>
                  </a:lnTo>
                  <a:lnTo>
                    <a:pt x="119" y="165"/>
                  </a:lnTo>
                  <a:lnTo>
                    <a:pt x="104" y="169"/>
                  </a:lnTo>
                  <a:lnTo>
                    <a:pt x="87" y="171"/>
                  </a:lnTo>
                  <a:lnTo>
                    <a:pt x="69" y="169"/>
                  </a:lnTo>
                  <a:lnTo>
                    <a:pt x="52" y="165"/>
                  </a:lnTo>
                  <a:lnTo>
                    <a:pt x="39" y="156"/>
                  </a:lnTo>
                  <a:lnTo>
                    <a:pt x="25" y="146"/>
                  </a:lnTo>
                  <a:lnTo>
                    <a:pt x="16" y="133"/>
                  </a:lnTo>
                  <a:lnTo>
                    <a:pt x="8" y="119"/>
                  </a:lnTo>
                  <a:lnTo>
                    <a:pt x="2" y="104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4F81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764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56" name="Freeform 15"/>
            <p:cNvSpPr>
              <a:spLocks/>
            </p:cNvSpPr>
            <p:nvPr/>
          </p:nvSpPr>
          <p:spPr bwMode="auto">
            <a:xfrm>
              <a:off x="6623168" y="2660815"/>
              <a:ext cx="121899" cy="103091"/>
            </a:xfrm>
            <a:custGeom>
              <a:avLst/>
              <a:gdLst>
                <a:gd name="T0" fmla="*/ 0 w 171"/>
                <a:gd name="T1" fmla="*/ 87 h 171"/>
                <a:gd name="T2" fmla="*/ 2 w 171"/>
                <a:gd name="T3" fmla="*/ 69 h 171"/>
                <a:gd name="T4" fmla="*/ 8 w 171"/>
                <a:gd name="T5" fmla="*/ 52 h 171"/>
                <a:gd name="T6" fmla="*/ 16 w 171"/>
                <a:gd name="T7" fmla="*/ 39 h 171"/>
                <a:gd name="T8" fmla="*/ 25 w 171"/>
                <a:gd name="T9" fmla="*/ 25 h 171"/>
                <a:gd name="T10" fmla="*/ 39 w 171"/>
                <a:gd name="T11" fmla="*/ 16 h 171"/>
                <a:gd name="T12" fmla="*/ 52 w 171"/>
                <a:gd name="T13" fmla="*/ 8 h 171"/>
                <a:gd name="T14" fmla="*/ 69 w 171"/>
                <a:gd name="T15" fmla="*/ 2 h 171"/>
                <a:gd name="T16" fmla="*/ 87 w 171"/>
                <a:gd name="T17" fmla="*/ 0 h 171"/>
                <a:gd name="T18" fmla="*/ 104 w 171"/>
                <a:gd name="T19" fmla="*/ 2 h 171"/>
                <a:gd name="T20" fmla="*/ 119 w 171"/>
                <a:gd name="T21" fmla="*/ 8 h 171"/>
                <a:gd name="T22" fmla="*/ 133 w 171"/>
                <a:gd name="T23" fmla="*/ 16 h 171"/>
                <a:gd name="T24" fmla="*/ 146 w 171"/>
                <a:gd name="T25" fmla="*/ 25 h 171"/>
                <a:gd name="T26" fmla="*/ 156 w 171"/>
                <a:gd name="T27" fmla="*/ 39 h 171"/>
                <a:gd name="T28" fmla="*/ 165 w 171"/>
                <a:gd name="T29" fmla="*/ 52 h 171"/>
                <a:gd name="T30" fmla="*/ 169 w 171"/>
                <a:gd name="T31" fmla="*/ 69 h 171"/>
                <a:gd name="T32" fmla="*/ 171 w 171"/>
                <a:gd name="T33" fmla="*/ 87 h 171"/>
                <a:gd name="T34" fmla="*/ 169 w 171"/>
                <a:gd name="T35" fmla="*/ 104 h 171"/>
                <a:gd name="T36" fmla="*/ 165 w 171"/>
                <a:gd name="T37" fmla="*/ 119 h 171"/>
                <a:gd name="T38" fmla="*/ 156 w 171"/>
                <a:gd name="T39" fmla="*/ 133 h 171"/>
                <a:gd name="T40" fmla="*/ 146 w 171"/>
                <a:gd name="T41" fmla="*/ 146 h 171"/>
                <a:gd name="T42" fmla="*/ 133 w 171"/>
                <a:gd name="T43" fmla="*/ 156 h 171"/>
                <a:gd name="T44" fmla="*/ 119 w 171"/>
                <a:gd name="T45" fmla="*/ 165 h 171"/>
                <a:gd name="T46" fmla="*/ 104 w 171"/>
                <a:gd name="T47" fmla="*/ 169 h 171"/>
                <a:gd name="T48" fmla="*/ 87 w 171"/>
                <a:gd name="T49" fmla="*/ 171 h 171"/>
                <a:gd name="T50" fmla="*/ 69 w 171"/>
                <a:gd name="T51" fmla="*/ 169 h 171"/>
                <a:gd name="T52" fmla="*/ 52 w 171"/>
                <a:gd name="T53" fmla="*/ 165 h 171"/>
                <a:gd name="T54" fmla="*/ 39 w 171"/>
                <a:gd name="T55" fmla="*/ 156 h 171"/>
                <a:gd name="T56" fmla="*/ 25 w 171"/>
                <a:gd name="T57" fmla="*/ 146 h 171"/>
                <a:gd name="T58" fmla="*/ 16 w 171"/>
                <a:gd name="T59" fmla="*/ 133 h 171"/>
                <a:gd name="T60" fmla="*/ 8 w 171"/>
                <a:gd name="T61" fmla="*/ 119 h 171"/>
                <a:gd name="T62" fmla="*/ 2 w 171"/>
                <a:gd name="T63" fmla="*/ 104 h 171"/>
                <a:gd name="T64" fmla="*/ 0 w 171"/>
                <a:gd name="T65" fmla="*/ 87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1" h="171">
                  <a:moveTo>
                    <a:pt x="0" y="87"/>
                  </a:moveTo>
                  <a:lnTo>
                    <a:pt x="2" y="69"/>
                  </a:lnTo>
                  <a:lnTo>
                    <a:pt x="8" y="52"/>
                  </a:lnTo>
                  <a:lnTo>
                    <a:pt x="16" y="39"/>
                  </a:lnTo>
                  <a:lnTo>
                    <a:pt x="25" y="25"/>
                  </a:lnTo>
                  <a:lnTo>
                    <a:pt x="39" y="16"/>
                  </a:lnTo>
                  <a:lnTo>
                    <a:pt x="52" y="8"/>
                  </a:lnTo>
                  <a:lnTo>
                    <a:pt x="69" y="2"/>
                  </a:lnTo>
                  <a:lnTo>
                    <a:pt x="87" y="0"/>
                  </a:lnTo>
                  <a:lnTo>
                    <a:pt x="104" y="2"/>
                  </a:lnTo>
                  <a:lnTo>
                    <a:pt x="119" y="8"/>
                  </a:lnTo>
                  <a:lnTo>
                    <a:pt x="133" y="16"/>
                  </a:lnTo>
                  <a:lnTo>
                    <a:pt x="146" y="25"/>
                  </a:lnTo>
                  <a:lnTo>
                    <a:pt x="156" y="39"/>
                  </a:lnTo>
                  <a:lnTo>
                    <a:pt x="165" y="52"/>
                  </a:lnTo>
                  <a:lnTo>
                    <a:pt x="169" y="69"/>
                  </a:lnTo>
                  <a:lnTo>
                    <a:pt x="171" y="87"/>
                  </a:lnTo>
                  <a:lnTo>
                    <a:pt x="169" y="104"/>
                  </a:lnTo>
                  <a:lnTo>
                    <a:pt x="165" y="119"/>
                  </a:lnTo>
                  <a:lnTo>
                    <a:pt x="156" y="133"/>
                  </a:lnTo>
                  <a:lnTo>
                    <a:pt x="146" y="146"/>
                  </a:lnTo>
                  <a:lnTo>
                    <a:pt x="133" y="156"/>
                  </a:lnTo>
                  <a:lnTo>
                    <a:pt x="119" y="165"/>
                  </a:lnTo>
                  <a:lnTo>
                    <a:pt x="104" y="169"/>
                  </a:lnTo>
                  <a:lnTo>
                    <a:pt x="87" y="171"/>
                  </a:lnTo>
                  <a:lnTo>
                    <a:pt x="69" y="169"/>
                  </a:lnTo>
                  <a:lnTo>
                    <a:pt x="52" y="165"/>
                  </a:lnTo>
                  <a:lnTo>
                    <a:pt x="39" y="156"/>
                  </a:lnTo>
                  <a:lnTo>
                    <a:pt x="25" y="146"/>
                  </a:lnTo>
                  <a:lnTo>
                    <a:pt x="16" y="133"/>
                  </a:lnTo>
                  <a:lnTo>
                    <a:pt x="8" y="119"/>
                  </a:lnTo>
                  <a:lnTo>
                    <a:pt x="2" y="104"/>
                  </a:lnTo>
                  <a:lnTo>
                    <a:pt x="0" y="87"/>
                  </a:lnTo>
                </a:path>
              </a:pathLst>
            </a:custGeom>
            <a:noFill/>
            <a:ln w="25400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764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57" name="Freeform 14"/>
            <p:cNvSpPr>
              <a:spLocks/>
            </p:cNvSpPr>
            <p:nvPr/>
          </p:nvSpPr>
          <p:spPr bwMode="auto">
            <a:xfrm>
              <a:off x="5612358" y="3320860"/>
              <a:ext cx="101582" cy="85909"/>
            </a:xfrm>
            <a:custGeom>
              <a:avLst/>
              <a:gdLst>
                <a:gd name="T0" fmla="*/ 0 w 171"/>
                <a:gd name="T1" fmla="*/ 87 h 171"/>
                <a:gd name="T2" fmla="*/ 2 w 171"/>
                <a:gd name="T3" fmla="*/ 69 h 171"/>
                <a:gd name="T4" fmla="*/ 8 w 171"/>
                <a:gd name="T5" fmla="*/ 52 h 171"/>
                <a:gd name="T6" fmla="*/ 16 w 171"/>
                <a:gd name="T7" fmla="*/ 39 h 171"/>
                <a:gd name="T8" fmla="*/ 25 w 171"/>
                <a:gd name="T9" fmla="*/ 25 h 171"/>
                <a:gd name="T10" fmla="*/ 39 w 171"/>
                <a:gd name="T11" fmla="*/ 16 h 171"/>
                <a:gd name="T12" fmla="*/ 52 w 171"/>
                <a:gd name="T13" fmla="*/ 8 h 171"/>
                <a:gd name="T14" fmla="*/ 69 w 171"/>
                <a:gd name="T15" fmla="*/ 2 h 171"/>
                <a:gd name="T16" fmla="*/ 87 w 171"/>
                <a:gd name="T17" fmla="*/ 0 h 171"/>
                <a:gd name="T18" fmla="*/ 104 w 171"/>
                <a:gd name="T19" fmla="*/ 2 h 171"/>
                <a:gd name="T20" fmla="*/ 119 w 171"/>
                <a:gd name="T21" fmla="*/ 8 h 171"/>
                <a:gd name="T22" fmla="*/ 133 w 171"/>
                <a:gd name="T23" fmla="*/ 16 h 171"/>
                <a:gd name="T24" fmla="*/ 146 w 171"/>
                <a:gd name="T25" fmla="*/ 25 h 171"/>
                <a:gd name="T26" fmla="*/ 156 w 171"/>
                <a:gd name="T27" fmla="*/ 39 h 171"/>
                <a:gd name="T28" fmla="*/ 165 w 171"/>
                <a:gd name="T29" fmla="*/ 52 h 171"/>
                <a:gd name="T30" fmla="*/ 169 w 171"/>
                <a:gd name="T31" fmla="*/ 69 h 171"/>
                <a:gd name="T32" fmla="*/ 171 w 171"/>
                <a:gd name="T33" fmla="*/ 87 h 171"/>
                <a:gd name="T34" fmla="*/ 169 w 171"/>
                <a:gd name="T35" fmla="*/ 104 h 171"/>
                <a:gd name="T36" fmla="*/ 165 w 171"/>
                <a:gd name="T37" fmla="*/ 119 h 171"/>
                <a:gd name="T38" fmla="*/ 156 w 171"/>
                <a:gd name="T39" fmla="*/ 133 h 171"/>
                <a:gd name="T40" fmla="*/ 146 w 171"/>
                <a:gd name="T41" fmla="*/ 146 h 171"/>
                <a:gd name="T42" fmla="*/ 133 w 171"/>
                <a:gd name="T43" fmla="*/ 156 h 171"/>
                <a:gd name="T44" fmla="*/ 119 w 171"/>
                <a:gd name="T45" fmla="*/ 165 h 171"/>
                <a:gd name="T46" fmla="*/ 104 w 171"/>
                <a:gd name="T47" fmla="*/ 169 h 171"/>
                <a:gd name="T48" fmla="*/ 87 w 171"/>
                <a:gd name="T49" fmla="*/ 171 h 171"/>
                <a:gd name="T50" fmla="*/ 69 w 171"/>
                <a:gd name="T51" fmla="*/ 169 h 171"/>
                <a:gd name="T52" fmla="*/ 52 w 171"/>
                <a:gd name="T53" fmla="*/ 165 h 171"/>
                <a:gd name="T54" fmla="*/ 39 w 171"/>
                <a:gd name="T55" fmla="*/ 156 h 171"/>
                <a:gd name="T56" fmla="*/ 25 w 171"/>
                <a:gd name="T57" fmla="*/ 146 h 171"/>
                <a:gd name="T58" fmla="*/ 16 w 171"/>
                <a:gd name="T59" fmla="*/ 133 h 171"/>
                <a:gd name="T60" fmla="*/ 8 w 171"/>
                <a:gd name="T61" fmla="*/ 119 h 171"/>
                <a:gd name="T62" fmla="*/ 2 w 171"/>
                <a:gd name="T63" fmla="*/ 104 h 171"/>
                <a:gd name="T64" fmla="*/ 0 w 171"/>
                <a:gd name="T65" fmla="*/ 87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1" h="171">
                  <a:moveTo>
                    <a:pt x="0" y="87"/>
                  </a:moveTo>
                  <a:lnTo>
                    <a:pt x="2" y="69"/>
                  </a:lnTo>
                  <a:lnTo>
                    <a:pt x="8" y="52"/>
                  </a:lnTo>
                  <a:lnTo>
                    <a:pt x="16" y="39"/>
                  </a:lnTo>
                  <a:lnTo>
                    <a:pt x="25" y="25"/>
                  </a:lnTo>
                  <a:lnTo>
                    <a:pt x="39" y="16"/>
                  </a:lnTo>
                  <a:lnTo>
                    <a:pt x="52" y="8"/>
                  </a:lnTo>
                  <a:lnTo>
                    <a:pt x="69" y="2"/>
                  </a:lnTo>
                  <a:lnTo>
                    <a:pt x="87" y="0"/>
                  </a:lnTo>
                  <a:lnTo>
                    <a:pt x="104" y="2"/>
                  </a:lnTo>
                  <a:lnTo>
                    <a:pt x="119" y="8"/>
                  </a:lnTo>
                  <a:lnTo>
                    <a:pt x="133" y="16"/>
                  </a:lnTo>
                  <a:lnTo>
                    <a:pt x="146" y="25"/>
                  </a:lnTo>
                  <a:lnTo>
                    <a:pt x="156" y="39"/>
                  </a:lnTo>
                  <a:lnTo>
                    <a:pt x="165" y="52"/>
                  </a:lnTo>
                  <a:lnTo>
                    <a:pt x="169" y="69"/>
                  </a:lnTo>
                  <a:lnTo>
                    <a:pt x="171" y="87"/>
                  </a:lnTo>
                  <a:lnTo>
                    <a:pt x="169" y="104"/>
                  </a:lnTo>
                  <a:lnTo>
                    <a:pt x="165" y="119"/>
                  </a:lnTo>
                  <a:lnTo>
                    <a:pt x="156" y="133"/>
                  </a:lnTo>
                  <a:lnTo>
                    <a:pt x="146" y="146"/>
                  </a:lnTo>
                  <a:lnTo>
                    <a:pt x="133" y="156"/>
                  </a:lnTo>
                  <a:lnTo>
                    <a:pt x="119" y="165"/>
                  </a:lnTo>
                  <a:lnTo>
                    <a:pt x="104" y="169"/>
                  </a:lnTo>
                  <a:lnTo>
                    <a:pt x="87" y="171"/>
                  </a:lnTo>
                  <a:lnTo>
                    <a:pt x="69" y="169"/>
                  </a:lnTo>
                  <a:lnTo>
                    <a:pt x="52" y="165"/>
                  </a:lnTo>
                  <a:lnTo>
                    <a:pt x="39" y="156"/>
                  </a:lnTo>
                  <a:lnTo>
                    <a:pt x="25" y="146"/>
                  </a:lnTo>
                  <a:lnTo>
                    <a:pt x="16" y="133"/>
                  </a:lnTo>
                  <a:lnTo>
                    <a:pt x="8" y="119"/>
                  </a:lnTo>
                  <a:lnTo>
                    <a:pt x="2" y="104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4F81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764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58" name="Freeform 15"/>
            <p:cNvSpPr>
              <a:spLocks/>
            </p:cNvSpPr>
            <p:nvPr/>
          </p:nvSpPr>
          <p:spPr bwMode="auto">
            <a:xfrm>
              <a:off x="5612358" y="3320860"/>
              <a:ext cx="101582" cy="85909"/>
            </a:xfrm>
            <a:custGeom>
              <a:avLst/>
              <a:gdLst>
                <a:gd name="T0" fmla="*/ 0 w 171"/>
                <a:gd name="T1" fmla="*/ 87 h 171"/>
                <a:gd name="T2" fmla="*/ 2 w 171"/>
                <a:gd name="T3" fmla="*/ 69 h 171"/>
                <a:gd name="T4" fmla="*/ 8 w 171"/>
                <a:gd name="T5" fmla="*/ 52 h 171"/>
                <a:gd name="T6" fmla="*/ 16 w 171"/>
                <a:gd name="T7" fmla="*/ 39 h 171"/>
                <a:gd name="T8" fmla="*/ 25 w 171"/>
                <a:gd name="T9" fmla="*/ 25 h 171"/>
                <a:gd name="T10" fmla="*/ 39 w 171"/>
                <a:gd name="T11" fmla="*/ 16 h 171"/>
                <a:gd name="T12" fmla="*/ 52 w 171"/>
                <a:gd name="T13" fmla="*/ 8 h 171"/>
                <a:gd name="T14" fmla="*/ 69 w 171"/>
                <a:gd name="T15" fmla="*/ 2 h 171"/>
                <a:gd name="T16" fmla="*/ 87 w 171"/>
                <a:gd name="T17" fmla="*/ 0 h 171"/>
                <a:gd name="T18" fmla="*/ 104 w 171"/>
                <a:gd name="T19" fmla="*/ 2 h 171"/>
                <a:gd name="T20" fmla="*/ 119 w 171"/>
                <a:gd name="T21" fmla="*/ 8 h 171"/>
                <a:gd name="T22" fmla="*/ 133 w 171"/>
                <a:gd name="T23" fmla="*/ 16 h 171"/>
                <a:gd name="T24" fmla="*/ 146 w 171"/>
                <a:gd name="T25" fmla="*/ 25 h 171"/>
                <a:gd name="T26" fmla="*/ 156 w 171"/>
                <a:gd name="T27" fmla="*/ 39 h 171"/>
                <a:gd name="T28" fmla="*/ 165 w 171"/>
                <a:gd name="T29" fmla="*/ 52 h 171"/>
                <a:gd name="T30" fmla="*/ 169 w 171"/>
                <a:gd name="T31" fmla="*/ 69 h 171"/>
                <a:gd name="T32" fmla="*/ 171 w 171"/>
                <a:gd name="T33" fmla="*/ 87 h 171"/>
                <a:gd name="T34" fmla="*/ 169 w 171"/>
                <a:gd name="T35" fmla="*/ 104 h 171"/>
                <a:gd name="T36" fmla="*/ 165 w 171"/>
                <a:gd name="T37" fmla="*/ 119 h 171"/>
                <a:gd name="T38" fmla="*/ 156 w 171"/>
                <a:gd name="T39" fmla="*/ 133 h 171"/>
                <a:gd name="T40" fmla="*/ 146 w 171"/>
                <a:gd name="T41" fmla="*/ 146 h 171"/>
                <a:gd name="T42" fmla="*/ 133 w 171"/>
                <a:gd name="T43" fmla="*/ 156 h 171"/>
                <a:gd name="T44" fmla="*/ 119 w 171"/>
                <a:gd name="T45" fmla="*/ 165 h 171"/>
                <a:gd name="T46" fmla="*/ 104 w 171"/>
                <a:gd name="T47" fmla="*/ 169 h 171"/>
                <a:gd name="T48" fmla="*/ 87 w 171"/>
                <a:gd name="T49" fmla="*/ 171 h 171"/>
                <a:gd name="T50" fmla="*/ 69 w 171"/>
                <a:gd name="T51" fmla="*/ 169 h 171"/>
                <a:gd name="T52" fmla="*/ 52 w 171"/>
                <a:gd name="T53" fmla="*/ 165 h 171"/>
                <a:gd name="T54" fmla="*/ 39 w 171"/>
                <a:gd name="T55" fmla="*/ 156 h 171"/>
                <a:gd name="T56" fmla="*/ 25 w 171"/>
                <a:gd name="T57" fmla="*/ 146 h 171"/>
                <a:gd name="T58" fmla="*/ 16 w 171"/>
                <a:gd name="T59" fmla="*/ 133 h 171"/>
                <a:gd name="T60" fmla="*/ 8 w 171"/>
                <a:gd name="T61" fmla="*/ 119 h 171"/>
                <a:gd name="T62" fmla="*/ 2 w 171"/>
                <a:gd name="T63" fmla="*/ 104 h 171"/>
                <a:gd name="T64" fmla="*/ 0 w 171"/>
                <a:gd name="T65" fmla="*/ 87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1" h="171">
                  <a:moveTo>
                    <a:pt x="0" y="87"/>
                  </a:moveTo>
                  <a:lnTo>
                    <a:pt x="2" y="69"/>
                  </a:lnTo>
                  <a:lnTo>
                    <a:pt x="8" y="52"/>
                  </a:lnTo>
                  <a:lnTo>
                    <a:pt x="16" y="39"/>
                  </a:lnTo>
                  <a:lnTo>
                    <a:pt x="25" y="25"/>
                  </a:lnTo>
                  <a:lnTo>
                    <a:pt x="39" y="16"/>
                  </a:lnTo>
                  <a:lnTo>
                    <a:pt x="52" y="8"/>
                  </a:lnTo>
                  <a:lnTo>
                    <a:pt x="69" y="2"/>
                  </a:lnTo>
                  <a:lnTo>
                    <a:pt x="87" y="0"/>
                  </a:lnTo>
                  <a:lnTo>
                    <a:pt x="104" y="2"/>
                  </a:lnTo>
                  <a:lnTo>
                    <a:pt x="119" y="8"/>
                  </a:lnTo>
                  <a:lnTo>
                    <a:pt x="133" y="16"/>
                  </a:lnTo>
                  <a:lnTo>
                    <a:pt x="146" y="25"/>
                  </a:lnTo>
                  <a:lnTo>
                    <a:pt x="156" y="39"/>
                  </a:lnTo>
                  <a:lnTo>
                    <a:pt x="165" y="52"/>
                  </a:lnTo>
                  <a:lnTo>
                    <a:pt x="169" y="69"/>
                  </a:lnTo>
                  <a:lnTo>
                    <a:pt x="171" y="87"/>
                  </a:lnTo>
                  <a:lnTo>
                    <a:pt x="169" y="104"/>
                  </a:lnTo>
                  <a:lnTo>
                    <a:pt x="165" y="119"/>
                  </a:lnTo>
                  <a:lnTo>
                    <a:pt x="156" y="133"/>
                  </a:lnTo>
                  <a:lnTo>
                    <a:pt x="146" y="146"/>
                  </a:lnTo>
                  <a:lnTo>
                    <a:pt x="133" y="156"/>
                  </a:lnTo>
                  <a:lnTo>
                    <a:pt x="119" y="165"/>
                  </a:lnTo>
                  <a:lnTo>
                    <a:pt x="104" y="169"/>
                  </a:lnTo>
                  <a:lnTo>
                    <a:pt x="87" y="171"/>
                  </a:lnTo>
                  <a:lnTo>
                    <a:pt x="69" y="169"/>
                  </a:lnTo>
                  <a:lnTo>
                    <a:pt x="52" y="165"/>
                  </a:lnTo>
                  <a:lnTo>
                    <a:pt x="39" y="156"/>
                  </a:lnTo>
                  <a:lnTo>
                    <a:pt x="25" y="146"/>
                  </a:lnTo>
                  <a:lnTo>
                    <a:pt x="16" y="133"/>
                  </a:lnTo>
                  <a:lnTo>
                    <a:pt x="8" y="119"/>
                  </a:lnTo>
                  <a:lnTo>
                    <a:pt x="2" y="104"/>
                  </a:lnTo>
                  <a:lnTo>
                    <a:pt x="0" y="87"/>
                  </a:lnTo>
                </a:path>
              </a:pathLst>
            </a:custGeom>
            <a:noFill/>
            <a:ln w="25400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764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59" name="Rectangle 24"/>
            <p:cNvSpPr>
              <a:spLocks noChangeArrowheads="1"/>
            </p:cNvSpPr>
            <p:nvPr/>
          </p:nvSpPr>
          <p:spPr bwMode="auto">
            <a:xfrm>
              <a:off x="5084241" y="3012993"/>
              <a:ext cx="442429" cy="237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4572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9144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3716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18288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286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743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2004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657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defTabSz="914371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altLang="ru-RU" sz="1544" dirty="0">
                  <a:solidFill>
                    <a:srgbClr val="0000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201</a:t>
              </a:r>
              <a:r>
                <a:rPr lang="en-US" altLang="ru-RU" sz="1544" dirty="0">
                  <a:solidFill>
                    <a:srgbClr val="0000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5</a:t>
              </a:r>
              <a:endParaRPr lang="ru-RU" altLang="ru-RU" sz="1544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60" name="Rectangle 16"/>
            <p:cNvSpPr>
              <a:spLocks noChangeArrowheads="1"/>
            </p:cNvSpPr>
            <p:nvPr/>
          </p:nvSpPr>
          <p:spPr bwMode="auto">
            <a:xfrm>
              <a:off x="6387187" y="2948117"/>
              <a:ext cx="827150" cy="882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4572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9144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3716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18288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286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743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2004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657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defTabSz="914371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ru-RU" sz="2646" b="1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17</a:t>
              </a:r>
              <a:br>
                <a:rPr lang="en-US" altLang="ru-RU" sz="1764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</a:br>
              <a:r>
                <a:rPr lang="ru-RU" altLang="ru-RU" sz="1544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коп. </a:t>
              </a:r>
              <a:br>
                <a:rPr lang="en-US" altLang="ru-RU" sz="1544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</a:br>
              <a:r>
                <a:rPr lang="ru-RU" altLang="ru-RU" sz="1544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за акцию</a:t>
              </a:r>
              <a:endParaRPr lang="ru-RU" altLang="ru-RU" sz="1764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61" name="Rectangle 16"/>
            <p:cNvSpPr>
              <a:spLocks noChangeArrowheads="1"/>
            </p:cNvSpPr>
            <p:nvPr/>
          </p:nvSpPr>
          <p:spPr bwMode="auto">
            <a:xfrm>
              <a:off x="7478886" y="2597051"/>
              <a:ext cx="827150" cy="882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4572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9144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3716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18288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286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743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2004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657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defTabSz="914371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altLang="ru-RU" sz="2646" b="1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20</a:t>
              </a:r>
              <a:br>
                <a:rPr lang="en-US" altLang="ru-RU" sz="1764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</a:br>
              <a:r>
                <a:rPr lang="ru-RU" altLang="ru-RU" sz="1544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коп.</a:t>
              </a:r>
              <a:br>
                <a:rPr lang="en-US" altLang="ru-RU" sz="1544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</a:br>
              <a:r>
                <a:rPr lang="ru-RU" altLang="ru-RU" sz="1544" dirty="0">
                  <a:solidFill>
                    <a:srgbClr val="003264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за акцию</a:t>
              </a:r>
              <a:endParaRPr lang="ru-RU" altLang="ru-RU" sz="1764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62" name="Rectangle 26"/>
            <p:cNvSpPr>
              <a:spLocks noChangeArrowheads="1"/>
            </p:cNvSpPr>
            <p:nvPr/>
          </p:nvSpPr>
          <p:spPr bwMode="auto">
            <a:xfrm>
              <a:off x="7198663" y="1823558"/>
              <a:ext cx="442429" cy="237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4572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9144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3716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18288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286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743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2004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657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defTabSz="914371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altLang="ru-RU" sz="1544" dirty="0">
                  <a:solidFill>
                    <a:srgbClr val="0000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201</a:t>
              </a:r>
              <a:r>
                <a:rPr lang="en-US" altLang="ru-RU" sz="1544" dirty="0">
                  <a:solidFill>
                    <a:srgbClr val="0000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9</a:t>
              </a:r>
              <a:endParaRPr lang="ru-RU" altLang="ru-RU" sz="1544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63" name="Rectangle 26"/>
            <p:cNvSpPr>
              <a:spLocks noChangeArrowheads="1"/>
            </p:cNvSpPr>
            <p:nvPr/>
          </p:nvSpPr>
          <p:spPr bwMode="auto">
            <a:xfrm>
              <a:off x="9605813" y="1159080"/>
              <a:ext cx="442429" cy="237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4572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9144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3716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18288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286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743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2004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657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defTabSz="914371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altLang="ru-RU" sz="1544" dirty="0">
                  <a:solidFill>
                    <a:srgbClr val="0000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20</a:t>
              </a:r>
              <a:r>
                <a:rPr lang="en-US" altLang="ru-RU" sz="1544" dirty="0">
                  <a:solidFill>
                    <a:srgbClr val="0000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30</a:t>
              </a:r>
              <a:endParaRPr lang="ru-RU" altLang="ru-RU" sz="1544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64" name="Rectangle 26"/>
            <p:cNvSpPr>
              <a:spLocks noChangeArrowheads="1"/>
            </p:cNvSpPr>
            <p:nvPr/>
          </p:nvSpPr>
          <p:spPr bwMode="auto">
            <a:xfrm>
              <a:off x="8328483" y="1454343"/>
              <a:ext cx="442429" cy="237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4572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9144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3716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18288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286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743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2004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657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defTabSz="914371" fontAlgn="base">
                <a:spcBef>
                  <a:spcPct val="0"/>
                </a:spcBef>
                <a:spcAft>
                  <a:spcPct val="0"/>
                </a:spcAft>
              </a:pPr>
              <a:r>
                <a:rPr lang="ru-RU" altLang="ru-RU" sz="1544" dirty="0">
                  <a:solidFill>
                    <a:srgbClr val="0000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20</a:t>
              </a:r>
              <a:r>
                <a:rPr lang="en-US" altLang="ru-RU" sz="1544" dirty="0">
                  <a:solidFill>
                    <a:srgbClr val="000000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25</a:t>
              </a:r>
              <a:endParaRPr lang="ru-RU" altLang="ru-RU" sz="1544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</p:grpSp>
      <p:sp>
        <p:nvSpPr>
          <p:cNvPr id="33" name="AutoShape 11"/>
          <p:cNvSpPr>
            <a:spLocks noChangeAspect="1" noChangeArrowheads="1" noTextEdit="1"/>
          </p:cNvSpPr>
          <p:nvPr/>
        </p:nvSpPr>
        <p:spPr bwMode="auto">
          <a:xfrm>
            <a:off x="5994400" y="108224"/>
            <a:ext cx="5840413" cy="5040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180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1368425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ru-RU" sz="2150" dirty="0">
              <a:latin typeface="Calibri"/>
              <a:ea typeface="Tahoma" panose="020B0604030504040204" pitchFamily="34" charset="0"/>
              <a:cs typeface="Tahoma" panose="020B0604030504040204" pitchFamily="34" charset="0"/>
              <a:sym typeface="Calibri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2621999" y="1260352"/>
            <a:ext cx="2033220" cy="6832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ru-RU" sz="1600" dirty="0">
                <a:solidFill>
                  <a:srgbClr val="003264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Целевой объем выплаты дивидендов</a:t>
            </a:r>
          </a:p>
        </p:txBody>
      </p:sp>
      <p:sp>
        <p:nvSpPr>
          <p:cNvPr id="21" name="TextBox 31"/>
          <p:cNvSpPr txBox="1">
            <a:spLocks noChangeArrowheads="1"/>
          </p:cNvSpPr>
          <p:nvPr/>
        </p:nvSpPr>
        <p:spPr bwMode="auto">
          <a:xfrm>
            <a:off x="78640" y="1104959"/>
            <a:ext cx="2384112" cy="872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5pPr>
            <a:lvl6pPr marL="25146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6pPr>
            <a:lvl7pPr marL="29718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7pPr>
            <a:lvl8pPr marL="34290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8pPr>
            <a:lvl9pPr marL="38862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ru-RU" sz="1600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не менее </a:t>
            </a:r>
            <a:r>
              <a:rPr lang="en-US" sz="3528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25</a:t>
            </a:r>
            <a:r>
              <a:rPr lang="en-US" sz="2800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%</a:t>
            </a:r>
            <a:endParaRPr lang="ru-RU" sz="2800" dirty="0">
              <a:solidFill>
                <a:srgbClr val="F184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algn="r" eaLnBrk="1" hangingPunct="1"/>
            <a:r>
              <a:rPr lang="ru-RU" sz="1544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ЧП по МСФО</a:t>
            </a:r>
            <a:endParaRPr lang="id-ID" sz="1158" dirty="0">
              <a:solidFill>
                <a:srgbClr val="F184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5991" y="2660815"/>
            <a:ext cx="2088232" cy="867894"/>
          </a:xfrm>
          <a:prstGeom prst="rect">
            <a:avLst/>
          </a:prstGeom>
          <a:noFill/>
        </p:spPr>
        <p:txBody>
          <a:bodyPr wrap="square" lIns="219419" tIns="109710" rIns="219419" bIns="109710" rtlCol="0">
            <a:spAutoFit/>
          </a:bodyPr>
          <a:lstStyle/>
          <a:p>
            <a:r>
              <a:rPr lang="ru-RU" sz="1400" b="1" cap="all" dirty="0">
                <a:solidFill>
                  <a:schemeClr val="bg1">
                    <a:lumMod val="50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ЗАГОЛОВОК</a:t>
            </a:r>
          </a:p>
          <a:p>
            <a:r>
              <a:rPr lang="ru-RU" sz="1400" b="1" cap="all" dirty="0">
                <a:solidFill>
                  <a:schemeClr val="bg1">
                    <a:lumMod val="50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ДИАГРАММЫ</a:t>
            </a:r>
          </a:p>
          <a:p>
            <a:r>
              <a:rPr lang="ru-RU" sz="1400" b="1" cap="all" dirty="0">
                <a:solidFill>
                  <a:schemeClr val="bg1">
                    <a:lumMod val="50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ИЛИ СХЕМЫ</a:t>
            </a:r>
          </a:p>
        </p:txBody>
      </p:sp>
      <p:grpSp>
        <p:nvGrpSpPr>
          <p:cNvPr id="24" name="Группа 23"/>
          <p:cNvGrpSpPr/>
          <p:nvPr/>
        </p:nvGrpSpPr>
        <p:grpSpPr>
          <a:xfrm>
            <a:off x="2348514" y="2412480"/>
            <a:ext cx="216024" cy="1440160"/>
            <a:chOff x="5283076" y="1332359"/>
            <a:chExt cx="396000" cy="4673592"/>
          </a:xfrm>
        </p:grpSpPr>
        <p:cxnSp>
          <p:nvCxnSpPr>
            <p:cNvPr id="25" name="Прямая соединительная линия 24"/>
            <p:cNvCxnSpPr/>
            <p:nvPr/>
          </p:nvCxnSpPr>
          <p:spPr>
            <a:xfrm>
              <a:off x="5283076" y="1332359"/>
              <a:ext cx="396000" cy="2340000"/>
            </a:xfrm>
            <a:prstGeom prst="line">
              <a:avLst/>
            </a:prstGeom>
            <a:ln>
              <a:gradFill>
                <a:gsLst>
                  <a:gs pos="0">
                    <a:schemeClr val="bg1"/>
                  </a:gs>
                  <a:gs pos="99000">
                    <a:schemeClr val="tx1">
                      <a:lumMod val="50000"/>
                      <a:lumOff val="5000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Прямая соединительная линия 25"/>
            <p:cNvCxnSpPr/>
            <p:nvPr/>
          </p:nvCxnSpPr>
          <p:spPr>
            <a:xfrm flipV="1">
              <a:off x="5283076" y="3665951"/>
              <a:ext cx="396000" cy="2340000"/>
            </a:xfrm>
            <a:prstGeom prst="line">
              <a:avLst/>
            </a:prstGeom>
            <a:ln>
              <a:gradFill>
                <a:gsLst>
                  <a:gs pos="0">
                    <a:schemeClr val="bg1"/>
                  </a:gs>
                  <a:gs pos="99000">
                    <a:schemeClr val="tx1">
                      <a:lumMod val="50000"/>
                      <a:lumOff val="5000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481571" y="4438452"/>
            <a:ext cx="4901084" cy="467784"/>
          </a:xfrm>
          <a:prstGeom prst="rect">
            <a:avLst/>
          </a:prstGeom>
          <a:noFill/>
        </p:spPr>
        <p:txBody>
          <a:bodyPr wrap="square" lIns="219419" tIns="109710" rIns="219419" bIns="109710" rtlCol="0">
            <a:spAutoFit/>
          </a:bodyPr>
          <a:lstStyle/>
          <a:p>
            <a:r>
              <a:rPr lang="ru-RU" sz="16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 ТЕМЫ ИЛИ ЗАГОЛОВКА</a:t>
            </a:r>
            <a:endParaRPr lang="en-US" sz="1600" b="1" dirty="0">
              <a:solidFill>
                <a:srgbClr val="F184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8" name="Скругленный прямоугольник 27"/>
          <p:cNvSpPr/>
          <p:nvPr/>
        </p:nvSpPr>
        <p:spPr>
          <a:xfrm>
            <a:off x="823802" y="5029178"/>
            <a:ext cx="2952527" cy="555797"/>
          </a:xfrm>
          <a:prstGeom prst="roundRect">
            <a:avLst>
              <a:gd name="adj" fmla="val 50000"/>
            </a:avLst>
          </a:prstGeom>
          <a:solidFill>
            <a:srgbClr val="0040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ru-RU" sz="1544" b="1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ШАБЛОН БЛОКА</a:t>
            </a:r>
          </a:p>
        </p:txBody>
      </p:sp>
      <p:sp>
        <p:nvSpPr>
          <p:cNvPr id="29" name="Скругленный прямоугольник 28"/>
          <p:cNvSpPr/>
          <p:nvPr/>
        </p:nvSpPr>
        <p:spPr>
          <a:xfrm>
            <a:off x="5058941" y="5029178"/>
            <a:ext cx="3024336" cy="555797"/>
          </a:xfrm>
          <a:prstGeom prst="roundRect">
            <a:avLst>
              <a:gd name="adj" fmla="val 50000"/>
            </a:avLst>
          </a:prstGeom>
          <a:solidFill>
            <a:srgbClr val="0040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ru-RU" sz="1544" b="1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ШАБЛОН БЛОКА</a:t>
            </a:r>
          </a:p>
        </p:txBody>
      </p:sp>
      <p:sp>
        <p:nvSpPr>
          <p:cNvPr id="30" name="Скругленный прямоугольник 29"/>
          <p:cNvSpPr/>
          <p:nvPr/>
        </p:nvSpPr>
        <p:spPr>
          <a:xfrm>
            <a:off x="9222272" y="5029178"/>
            <a:ext cx="3168352" cy="555797"/>
          </a:xfrm>
          <a:prstGeom prst="roundRect">
            <a:avLst>
              <a:gd name="adj" fmla="val 50000"/>
            </a:avLst>
          </a:prstGeom>
          <a:solidFill>
            <a:srgbClr val="0040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ru-RU" sz="1544" b="1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ШАБЛОН БЛОКА</a:t>
            </a:r>
          </a:p>
        </p:txBody>
      </p:sp>
      <p:sp>
        <p:nvSpPr>
          <p:cNvPr id="31" name="Прямоугольник 30"/>
          <p:cNvSpPr/>
          <p:nvPr/>
        </p:nvSpPr>
        <p:spPr>
          <a:xfrm>
            <a:off x="751993" y="5765263"/>
            <a:ext cx="3024336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4619" indent="-174619"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4619" indent="-174619"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4619" indent="-174619"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</p:txBody>
      </p:sp>
      <p:sp>
        <p:nvSpPr>
          <p:cNvPr id="32" name="Прямоугольник 31"/>
          <p:cNvSpPr/>
          <p:nvPr/>
        </p:nvSpPr>
        <p:spPr>
          <a:xfrm>
            <a:off x="5058941" y="5765263"/>
            <a:ext cx="3024336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4619" indent="-174619"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4619" indent="-174619"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4619" indent="-174619"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</p:txBody>
      </p:sp>
      <p:sp>
        <p:nvSpPr>
          <p:cNvPr id="40" name="Прямоугольник 39"/>
          <p:cNvSpPr/>
          <p:nvPr/>
        </p:nvSpPr>
        <p:spPr>
          <a:xfrm>
            <a:off x="9294280" y="5765263"/>
            <a:ext cx="3024336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4619" indent="-174619"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4619" indent="-174619"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174619" indent="-174619"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8457" y="240858"/>
            <a:ext cx="11509530" cy="43771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99" tIns="52150" rIns="104299" bIns="5215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4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слайда</a:t>
            </a:r>
          </a:p>
        </p:txBody>
      </p:sp>
      <p:sp>
        <p:nvSpPr>
          <p:cNvPr id="42" name="Round Same Side Corner Rectangle 58">
            <a:extLst>
              <a:ext uri="{FF2B5EF4-FFF2-40B4-BE49-F238E27FC236}">
                <a16:creationId xmlns:a16="http://schemas.microsoft.com/office/drawing/2014/main" id="{D2254D86-FCDE-4A1C-AB62-388FD2003693}"/>
              </a:ext>
            </a:extLst>
          </p:cNvPr>
          <p:cNvSpPr/>
          <p:nvPr/>
        </p:nvSpPr>
        <p:spPr>
          <a:xfrm rot="10800000" flipH="1">
            <a:off x="2506095" y="1229715"/>
            <a:ext cx="43896" cy="6840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F18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9419" tIns="109710" rIns="219419" bIns="109710" rtlCol="0" anchor="ctr"/>
          <a:lstStyle/>
          <a:p>
            <a:pPr algn="just"/>
            <a:endParaRPr lang="bg-BG" sz="1800" dirty="0">
              <a:solidFill>
                <a:schemeClr val="accent6">
                  <a:lumMod val="7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2783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370013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Слайд think-cell" r:id="rId11" imgW="270" imgH="270" progId="TCLayout.ActiveDocument.1">
                  <p:embed/>
                </p:oleObj>
              </mc:Choice>
              <mc:Fallback>
                <p:oleObj name="Слайд think-cell" r:id="rId11" imgW="270" imgH="270" progId="TCLayout.ActiveDocument.1">
                  <p:embed/>
                  <p:pic>
                    <p:nvPicPr>
                      <p:cNvPr id="4" name="Объект 3" hidden="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70013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1368425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ru-RU" sz="2150" dirty="0">
              <a:latin typeface="Calibri"/>
              <a:sym typeface="Calibri"/>
            </a:endParaRPr>
          </a:p>
        </p:txBody>
      </p:sp>
      <p:sp>
        <p:nvSpPr>
          <p:cNvPr id="6" name="Заголовок 1"/>
          <p:cNvSpPr txBox="1">
            <a:spLocks/>
          </p:cNvSpPr>
          <p:nvPr/>
        </p:nvSpPr>
        <p:spPr bwMode="auto">
          <a:xfrm>
            <a:off x="2920172" y="17931"/>
            <a:ext cx="9051537" cy="828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99" tIns="52150" rIns="104299" bIns="52150" numCol="1" anchor="ctr" anchorCtr="0" compatLnSpc="1">
            <a:prstTxWarp prst="textNoShape">
              <a:avLst/>
            </a:prstTxWarp>
          </a:bodyPr>
          <a:lstStyle>
            <a:lvl1pPr algn="ctr" defTabSz="1042364" rtl="0" eaLnBrk="0" fontAlgn="base" hangingPunct="0">
              <a:spcBef>
                <a:spcPct val="0"/>
              </a:spcBef>
              <a:spcAft>
                <a:spcPct val="0"/>
              </a:spcAft>
              <a:defRPr sz="1800" b="1" kern="1200" baseline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defTabSz="1042364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pitchFamily="34" charset="0"/>
              </a:defRPr>
            </a:lvl2pPr>
            <a:lvl3pPr algn="ctr" defTabSz="1042364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pitchFamily="34" charset="0"/>
              </a:defRPr>
            </a:lvl3pPr>
            <a:lvl4pPr algn="ctr" defTabSz="1042364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pitchFamily="34" charset="0"/>
              </a:defRPr>
            </a:lvl4pPr>
            <a:lvl5pPr algn="ctr" defTabSz="1042364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pitchFamily="34" charset="0"/>
              </a:defRPr>
            </a:lvl5pPr>
            <a:lvl6pPr marL="457171" algn="ctr" defTabSz="1042922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pitchFamily="34" charset="0"/>
              </a:defRPr>
            </a:lvl6pPr>
            <a:lvl7pPr marL="914343" algn="ctr" defTabSz="1042922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pitchFamily="34" charset="0"/>
              </a:defRPr>
            </a:lvl7pPr>
            <a:lvl8pPr marL="1371513" algn="ctr" defTabSz="1042922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pitchFamily="34" charset="0"/>
              </a:defRPr>
            </a:lvl8pPr>
            <a:lvl9pPr marL="1828685" algn="ctr" defTabSz="1042922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ru-RU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Целевая структура акционерного капитала</a:t>
            </a:r>
            <a:endParaRPr lang="ru-RU" b="0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16" name="Rectangle 1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42281" y="4068664"/>
            <a:ext cx="4032448" cy="2380201"/>
          </a:xfrm>
          <a:prstGeom prst="homePlate">
            <a:avLst>
              <a:gd name="adj" fmla="val 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just" defTabSz="1043550">
              <a:spcAft>
                <a:spcPts val="600"/>
              </a:spcAft>
              <a:buClr>
                <a:srgbClr val="F76C03"/>
              </a:buClr>
              <a:buSzPct val="90000"/>
              <a:defRPr/>
            </a:pPr>
            <a:endParaRPr lang="ru-RU" sz="900" dirty="0">
              <a:solidFill>
                <a:schemeClr val="tx1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7593491" y="2328014"/>
            <a:ext cx="4464496" cy="37600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4619" indent="-174619"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</a:t>
            </a:r>
            <a:b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с буллитами. Образец текста с буллитами</a:t>
            </a:r>
          </a:p>
          <a:p>
            <a:pPr marL="174619" indent="-174619"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</a:t>
            </a:r>
            <a:b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с буллитами. Образец текста с буллитами</a:t>
            </a:r>
          </a:p>
          <a:p>
            <a:pPr marL="174619" indent="-174619"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</a:t>
            </a:r>
            <a:b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с буллитами. Образец текста с буллитами</a:t>
            </a:r>
          </a:p>
          <a:p>
            <a:pPr marL="174619" indent="-174619"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</a:t>
            </a:r>
            <a:b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с буллитами. Образец текста с буллитами</a:t>
            </a:r>
          </a:p>
          <a:p>
            <a:pPr marL="174619" indent="-174619"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</a:t>
            </a:r>
            <a:b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с буллитами. Образец текста с буллитами</a:t>
            </a:r>
          </a:p>
          <a:p>
            <a:pPr marL="174619" indent="-174619"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</a:t>
            </a:r>
            <a:b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с буллитами. Образец текста с буллитами</a:t>
            </a:r>
          </a:p>
          <a:p>
            <a:pPr marL="174619" indent="-174619"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</a:t>
            </a:r>
            <a:b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с буллитами. Образец текста с буллитами</a:t>
            </a:r>
          </a:p>
          <a:p>
            <a:pPr>
              <a:spcAft>
                <a:spcPts val="1000"/>
              </a:spcAft>
              <a:tabLst>
                <a:tab pos="591172" algn="r"/>
                <a:tab pos="881572" algn="r"/>
              </a:tabLst>
            </a:pPr>
            <a:endParaRPr lang="ru-RU" sz="1200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graphicFrame>
        <p:nvGraphicFramePr>
          <p:cNvPr id="20" name="Chart 3"/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673951414"/>
              </p:ext>
            </p:extLst>
          </p:nvPr>
        </p:nvGraphicFramePr>
        <p:xfrm>
          <a:off x="1657041" y="2767199"/>
          <a:ext cx="2602929" cy="26029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26" name="Текст 2"/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1210556" y="2829821"/>
            <a:ext cx="709613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0" tIns="0" rIns="0" bIns="0" numCol="1" spcCol="0" anchor="ctr" anchorCtr="0" compatLnSpc="1">
            <a:prstTxWarp prst="textNoShape">
              <a:avLst/>
            </a:prstTxWarp>
            <a:noAutofit/>
          </a:bodyPr>
          <a:lstStyle>
            <a:lvl1pPr marL="388942" indent="-38894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5300" indent="-32498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1658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3704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5750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8222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71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1213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70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ru-RU" altLang="en-US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Arial Narrow" panose="020B0606020202030204" pitchFamily="34" charset="0"/>
              </a:rPr>
              <a:t>Название </a:t>
            </a:r>
          </a:p>
          <a:p>
            <a:pPr marL="0" indent="0">
              <a:spcBef>
                <a:spcPct val="0"/>
              </a:spcBef>
              <a:buNone/>
            </a:pPr>
            <a:r>
              <a:rPr lang="ru-RU" altLang="en-US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Arial Narrow" panose="020B0606020202030204" pitchFamily="34" charset="0"/>
              </a:rPr>
              <a:t>параметра</a:t>
            </a:r>
            <a:br>
              <a:rPr lang="en-US" altLang="en-US" sz="14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Arial Narrow"/>
              </a:rPr>
            </a:br>
            <a:fld id="{58188610-159D-4583-B028-3765D77D3E4D}" type="datetime'''''''''''''3''''''''''4'''''''',''''''''2''''''''''%'">
              <a:rPr lang="en-US" altLang="en-US" sz="1544" b="1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Arial Narrow" panose="020B0606020202030204" pitchFamily="34" charset="0"/>
              </a:rPr>
              <a:pPr marL="0" indent="0">
                <a:spcBef>
                  <a:spcPct val="0"/>
                </a:spcBef>
                <a:buNone/>
              </a:pPr>
              <a:t>34,2%</a:t>
            </a:fld>
            <a:endParaRPr lang="ru-RU" altLang="ru-RU" sz="1400" b="1" dirty="0">
              <a:solidFill>
                <a:srgbClr val="F184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Arial Narrow" panose="020B0606020202030204" pitchFamily="34" charset="0"/>
            </a:endParaRPr>
          </a:p>
        </p:txBody>
      </p:sp>
      <p:sp>
        <p:nvSpPr>
          <p:cNvPr id="23" name="Текст 2"/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4085740" y="2736667"/>
            <a:ext cx="1122363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0" tIns="0" rIns="0" bIns="0" numCol="1" spcCol="0" anchor="ctr" anchorCtr="0" compatLnSpc="1">
            <a:prstTxWarp prst="textNoShape">
              <a:avLst/>
            </a:prstTxWarp>
            <a:noAutofit/>
          </a:bodyPr>
          <a:lstStyle>
            <a:lvl1pPr marL="388942" indent="-38894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5300" indent="-32498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1658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3704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5750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8222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71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1213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70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ru-RU" altLang="en-US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Arial Narrow" panose="020B0606020202030204" pitchFamily="34" charset="0"/>
              </a:rPr>
              <a:t>Название </a:t>
            </a:r>
          </a:p>
          <a:p>
            <a:pPr marL="0" indent="0">
              <a:spcBef>
                <a:spcPct val="0"/>
              </a:spcBef>
              <a:buNone/>
            </a:pPr>
            <a:r>
              <a:rPr lang="ru-RU" altLang="en-US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Arial Narrow" panose="020B0606020202030204" pitchFamily="34" charset="0"/>
              </a:rPr>
              <a:t>параметра</a:t>
            </a:r>
            <a:br>
              <a:rPr lang="ru-RU" altLang="en-US" sz="14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Arial Narrow"/>
              </a:rPr>
            </a:br>
            <a:fld id="{47F14178-B626-48A9-A437-73C1A9521103}" type="datetime'2''''''''7'''''''',''6%'">
              <a:rPr lang="ru-RU" altLang="en-US" sz="1544" b="1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Arial Narrow" panose="020B0606020202030204" pitchFamily="34" charset="0"/>
              </a:rPr>
              <a:pPr marL="0" indent="0">
                <a:spcBef>
                  <a:spcPct val="0"/>
                </a:spcBef>
                <a:buNone/>
              </a:pPr>
              <a:t>27,6%</a:t>
            </a:fld>
            <a:endParaRPr lang="ru-RU" altLang="ru-RU" sz="1400" b="1" dirty="0">
              <a:solidFill>
                <a:srgbClr val="F184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Arial Narrow" panose="020B0606020202030204" pitchFamily="34" charset="0"/>
            </a:endParaRPr>
          </a:p>
        </p:txBody>
      </p:sp>
      <p:sp>
        <p:nvSpPr>
          <p:cNvPr id="24" name="Текст 2"/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4232523" y="4470016"/>
            <a:ext cx="12668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0" tIns="0" rIns="0" bIns="0" numCol="1" spcCol="0" anchor="ctr" anchorCtr="0" compatLnSpc="1">
            <a:prstTxWarp prst="textNoShape">
              <a:avLst/>
            </a:prstTxWarp>
            <a:noAutofit/>
          </a:bodyPr>
          <a:lstStyle>
            <a:lvl1pPr marL="388942" indent="-38894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5300" indent="-32498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1658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3704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5750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8222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71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1213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70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ru-RU" altLang="en-US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Arial Narrow" panose="020B0606020202030204" pitchFamily="34" charset="0"/>
              </a:rPr>
              <a:t>Название </a:t>
            </a:r>
          </a:p>
          <a:p>
            <a:pPr marL="0" indent="0">
              <a:spcBef>
                <a:spcPct val="0"/>
              </a:spcBef>
              <a:buNone/>
            </a:pPr>
            <a:r>
              <a:rPr lang="ru-RU" altLang="en-US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Arial Narrow" panose="020B0606020202030204" pitchFamily="34" charset="0"/>
              </a:rPr>
              <a:t>параметра</a:t>
            </a:r>
            <a:br>
              <a:rPr lang="ru-RU" altLang="en-US" sz="14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Arial Narrow"/>
              </a:rPr>
            </a:br>
            <a:fld id="{D52AE29D-44D7-4AFD-BCD9-C9049F7C4DF3}" type="datetime'''''''''8'',''''6''''''''''''''''''%'''''''''''">
              <a:rPr lang="ru-RU" altLang="en-US" sz="1544" b="1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Arial Narrow" panose="020B0606020202030204" pitchFamily="34" charset="0"/>
              </a:rPr>
              <a:pPr marL="0" indent="0">
                <a:spcBef>
                  <a:spcPct val="0"/>
                </a:spcBef>
                <a:buNone/>
              </a:pPr>
              <a:t>8,6%</a:t>
            </a:fld>
            <a:endParaRPr lang="ru-RU" altLang="ru-RU" sz="1400" b="1" dirty="0">
              <a:solidFill>
                <a:srgbClr val="F184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Arial Narrow" panose="020B0606020202030204" pitchFamily="34" charset="0"/>
            </a:endParaRPr>
          </a:p>
        </p:txBody>
      </p:sp>
      <p:sp>
        <p:nvSpPr>
          <p:cNvPr id="25" name="Текст 2"/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1372263" y="4977980"/>
            <a:ext cx="1671638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0" tIns="0" rIns="0" bIns="0" numCol="1" spcCol="0" anchor="ctr" anchorCtr="0" compatLnSpc="1">
            <a:prstTxWarp prst="textNoShape">
              <a:avLst/>
            </a:prstTxWarp>
            <a:noAutofit/>
          </a:bodyPr>
          <a:lstStyle>
            <a:lvl1pPr marL="388942" indent="-38894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5300" indent="-32498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1658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3704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5750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8222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71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1213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70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ru-RU" altLang="en-US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Arial Narrow" panose="020B0606020202030204" pitchFamily="34" charset="0"/>
              </a:rPr>
              <a:t>Название </a:t>
            </a:r>
          </a:p>
          <a:p>
            <a:pPr marL="0" indent="0">
              <a:spcBef>
                <a:spcPct val="0"/>
              </a:spcBef>
              <a:buNone/>
            </a:pPr>
            <a:r>
              <a:rPr lang="ru-RU" altLang="en-US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Arial Narrow" panose="020B0606020202030204" pitchFamily="34" charset="0"/>
              </a:rPr>
              <a:t>параметра</a:t>
            </a:r>
            <a:br>
              <a:rPr lang="ru-RU" altLang="en-US" sz="14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Arial Narrow"/>
              </a:rPr>
            </a:br>
            <a:fld id="{1725659D-FA13-4D41-B0A9-4178605FF111}" type="datetime'2''''''''''''''9'''''''''''''''''''''''',''''''''''''''''6%'">
              <a:rPr lang="ru-RU" altLang="en-US" sz="1544" b="1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Arial Narrow" panose="020B0606020202030204" pitchFamily="34" charset="0"/>
              </a:rPr>
              <a:pPr marL="0" indent="0">
                <a:spcBef>
                  <a:spcPct val="0"/>
                </a:spcBef>
                <a:buNone/>
              </a:pPr>
              <a:t>29,6%</a:t>
            </a:fld>
            <a:endParaRPr lang="ru-RU" altLang="ru-RU" sz="1400" b="1" dirty="0">
              <a:solidFill>
                <a:srgbClr val="F184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Arial Narrow" panose="020B0606020202030204" pitchFamily="34" charset="0"/>
            </a:endParaRPr>
          </a:p>
        </p:txBody>
      </p:sp>
      <p:grpSp>
        <p:nvGrpSpPr>
          <p:cNvPr id="27" name="Группа 26"/>
          <p:cNvGrpSpPr/>
          <p:nvPr/>
        </p:nvGrpSpPr>
        <p:grpSpPr>
          <a:xfrm>
            <a:off x="6163351" y="2279129"/>
            <a:ext cx="396000" cy="3744913"/>
            <a:chOff x="5283076" y="1332359"/>
            <a:chExt cx="396000" cy="4673592"/>
          </a:xfrm>
        </p:grpSpPr>
        <p:cxnSp>
          <p:nvCxnSpPr>
            <p:cNvPr id="28" name="Прямая соединительная линия 27"/>
            <p:cNvCxnSpPr/>
            <p:nvPr/>
          </p:nvCxnSpPr>
          <p:spPr>
            <a:xfrm>
              <a:off x="5283076" y="1332359"/>
              <a:ext cx="396000" cy="2340000"/>
            </a:xfrm>
            <a:prstGeom prst="line">
              <a:avLst/>
            </a:prstGeom>
            <a:ln>
              <a:gradFill>
                <a:gsLst>
                  <a:gs pos="0">
                    <a:schemeClr val="bg1"/>
                  </a:gs>
                  <a:gs pos="99000">
                    <a:schemeClr val="tx1">
                      <a:lumMod val="50000"/>
                      <a:lumOff val="5000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/>
            <p:nvPr/>
          </p:nvCxnSpPr>
          <p:spPr>
            <a:xfrm flipV="1">
              <a:off x="5283076" y="3665951"/>
              <a:ext cx="396000" cy="2340000"/>
            </a:xfrm>
            <a:prstGeom prst="line">
              <a:avLst/>
            </a:prstGeom>
            <a:ln>
              <a:gradFill>
                <a:gsLst>
                  <a:gs pos="0">
                    <a:schemeClr val="bg1"/>
                  </a:gs>
                  <a:gs pos="99000">
                    <a:schemeClr val="tx1">
                      <a:lumMod val="50000"/>
                      <a:lumOff val="5000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/>
          <p:cNvSpPr txBox="1"/>
          <p:nvPr/>
        </p:nvSpPr>
        <p:spPr>
          <a:xfrm>
            <a:off x="942281" y="1390292"/>
            <a:ext cx="4392488" cy="714005"/>
          </a:xfrm>
          <a:prstGeom prst="rect">
            <a:avLst/>
          </a:prstGeom>
          <a:noFill/>
        </p:spPr>
        <p:txBody>
          <a:bodyPr wrap="square" lIns="219419" tIns="109710" rIns="219419" bIns="109710" rtlCol="0">
            <a:spAutoFit/>
          </a:bodyPr>
          <a:lstStyle/>
          <a:p>
            <a:pPr algn="ctr"/>
            <a:r>
              <a:rPr lang="ru-RU" sz="16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 ГРАФИКА </a:t>
            </a:r>
          </a:p>
          <a:p>
            <a:pPr algn="ctr"/>
            <a:r>
              <a:rPr lang="ru-RU" sz="16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ИЛИ ДИАГРАММЫ</a:t>
            </a:r>
            <a:endParaRPr lang="en-US" sz="1600" b="1" dirty="0">
              <a:solidFill>
                <a:srgbClr val="F184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157452" y="1390292"/>
            <a:ext cx="4597664" cy="714005"/>
          </a:xfrm>
          <a:prstGeom prst="rect">
            <a:avLst/>
          </a:prstGeom>
          <a:noFill/>
        </p:spPr>
        <p:txBody>
          <a:bodyPr wrap="square" lIns="219419" tIns="109710" rIns="219419" bIns="109710" rtlCol="0">
            <a:spAutoFit/>
          </a:bodyPr>
          <a:lstStyle/>
          <a:p>
            <a:pPr algn="ctr"/>
            <a:r>
              <a:rPr lang="ru-RU" sz="16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ЗАГОЛОВОК ТЕМЫ </a:t>
            </a:r>
          </a:p>
          <a:p>
            <a:pPr algn="ctr"/>
            <a:r>
              <a:rPr lang="ru-RU" sz="16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ИЛИ БЛОКА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8457" y="240858"/>
            <a:ext cx="11509530" cy="43771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99" tIns="52150" rIns="104299" bIns="5215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4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слайда</a:t>
            </a:r>
          </a:p>
        </p:txBody>
      </p:sp>
    </p:spTree>
    <p:extLst>
      <p:ext uri="{BB962C8B-B14F-4D97-AF65-F5344CB8AC3E}">
        <p14:creationId xmlns:p14="http://schemas.microsoft.com/office/powerpoint/2010/main" val="466091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370013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Слайд think-cell" r:id="rId5" imgW="270" imgH="270" progId="TCLayout.ActiveDocument.1">
                  <p:embed/>
                </p:oleObj>
              </mc:Choice>
              <mc:Fallback>
                <p:oleObj name="Слайд think-cell" r:id="rId5" imgW="270" imgH="270" progId="TCLayout.ActiveDocument.1">
                  <p:embed/>
                  <p:pic>
                    <p:nvPicPr>
                      <p:cNvPr id="4" name="Объект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70013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1368425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ru-RU" sz="2150" dirty="0">
              <a:latin typeface="Calibri"/>
              <a:sym typeface="Calibri"/>
            </a:endParaRPr>
          </a:p>
        </p:txBody>
      </p:sp>
      <p:sp>
        <p:nvSpPr>
          <p:cNvPr id="6" name="Заголовок 1"/>
          <p:cNvSpPr txBox="1">
            <a:spLocks/>
          </p:cNvSpPr>
          <p:nvPr/>
        </p:nvSpPr>
        <p:spPr bwMode="auto">
          <a:xfrm>
            <a:off x="2920172" y="17931"/>
            <a:ext cx="9051537" cy="828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99" tIns="52150" rIns="104299" bIns="52150" numCol="1" anchor="ctr" anchorCtr="0" compatLnSpc="1">
            <a:prstTxWarp prst="textNoShape">
              <a:avLst/>
            </a:prstTxWarp>
          </a:bodyPr>
          <a:lstStyle>
            <a:lvl1pPr algn="ctr" defTabSz="1042364" rtl="0" eaLnBrk="0" fontAlgn="base" hangingPunct="0">
              <a:spcBef>
                <a:spcPct val="0"/>
              </a:spcBef>
              <a:spcAft>
                <a:spcPct val="0"/>
              </a:spcAft>
              <a:defRPr sz="1800" b="1" kern="1200" baseline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defTabSz="1042364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pitchFamily="34" charset="0"/>
              </a:defRPr>
            </a:lvl2pPr>
            <a:lvl3pPr algn="ctr" defTabSz="1042364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pitchFamily="34" charset="0"/>
              </a:defRPr>
            </a:lvl3pPr>
            <a:lvl4pPr algn="ctr" defTabSz="1042364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pitchFamily="34" charset="0"/>
              </a:defRPr>
            </a:lvl4pPr>
            <a:lvl5pPr algn="ctr" defTabSz="1042364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pitchFamily="34" charset="0"/>
              </a:defRPr>
            </a:lvl5pPr>
            <a:lvl6pPr marL="457171" algn="ctr" defTabSz="1042922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pitchFamily="34" charset="0"/>
              </a:defRPr>
            </a:lvl6pPr>
            <a:lvl7pPr marL="914343" algn="ctr" defTabSz="1042922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pitchFamily="34" charset="0"/>
              </a:defRPr>
            </a:lvl7pPr>
            <a:lvl8pPr marL="1371513" algn="ctr" defTabSz="1042922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pitchFamily="34" charset="0"/>
              </a:defRPr>
            </a:lvl8pPr>
            <a:lvl9pPr marL="1828685" algn="ctr" defTabSz="1042922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ru-RU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Принципы инвестирования свободного инвестиционного ресурса</a:t>
            </a:r>
            <a:endParaRPr lang="ru-RU" b="0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8457" y="240858"/>
            <a:ext cx="11509530" cy="43771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99" tIns="52150" rIns="104299" bIns="5215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4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слайда</a:t>
            </a:r>
          </a:p>
        </p:txBody>
      </p:sp>
      <p:sp>
        <p:nvSpPr>
          <p:cNvPr id="31" name="Rectangle 33">
            <a:extLst>
              <a:ext uri="{FF2B5EF4-FFF2-40B4-BE49-F238E27FC236}">
                <a16:creationId xmlns:a16="http://schemas.microsoft.com/office/drawing/2014/main" id="{D0D39E87-F250-4714-97B2-695BF1E64900}"/>
              </a:ext>
            </a:extLst>
          </p:cNvPr>
          <p:cNvSpPr/>
          <p:nvPr/>
        </p:nvSpPr>
        <p:spPr>
          <a:xfrm>
            <a:off x="893294" y="1055361"/>
            <a:ext cx="29273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 ГРАФИКА</a:t>
            </a:r>
          </a:p>
        </p:txBody>
      </p:sp>
      <p:sp>
        <p:nvSpPr>
          <p:cNvPr id="32" name="Rectangle 33">
            <a:extLst>
              <a:ext uri="{FF2B5EF4-FFF2-40B4-BE49-F238E27FC236}">
                <a16:creationId xmlns:a16="http://schemas.microsoft.com/office/drawing/2014/main" id="{E839D4E6-7F84-43B9-8D0B-75A76B393EF0}"/>
              </a:ext>
            </a:extLst>
          </p:cNvPr>
          <p:cNvSpPr/>
          <p:nvPr/>
        </p:nvSpPr>
        <p:spPr>
          <a:xfrm>
            <a:off x="9219574" y="1055361"/>
            <a:ext cx="20903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 ГРАФИКА</a:t>
            </a:r>
          </a:p>
        </p:txBody>
      </p:sp>
      <p:sp>
        <p:nvSpPr>
          <p:cNvPr id="35" name="Rectangle 33">
            <a:extLst>
              <a:ext uri="{FF2B5EF4-FFF2-40B4-BE49-F238E27FC236}">
                <a16:creationId xmlns:a16="http://schemas.microsoft.com/office/drawing/2014/main" id="{96175CC6-3879-4E4F-88D2-6B3859CF69BA}"/>
              </a:ext>
            </a:extLst>
          </p:cNvPr>
          <p:cNvSpPr/>
          <p:nvPr/>
        </p:nvSpPr>
        <p:spPr>
          <a:xfrm>
            <a:off x="5381086" y="1055361"/>
            <a:ext cx="20903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 ГРАФИКА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EE926F-3DD8-4A88-A3A4-A2375AF58DCE}"/>
              </a:ext>
            </a:extLst>
          </p:cNvPr>
          <p:cNvSpPr txBox="1"/>
          <p:nvPr/>
        </p:nvSpPr>
        <p:spPr>
          <a:xfrm>
            <a:off x="6114689" y="4564097"/>
            <a:ext cx="6772636" cy="2467336"/>
          </a:xfrm>
          <a:prstGeom prst="rect">
            <a:avLst/>
          </a:prstGeom>
          <a:noFill/>
          <a:ln>
            <a:noFill/>
          </a:ln>
        </p:spPr>
        <p:txBody>
          <a:bodyPr wrap="square" lIns="91434" tIns="45717" rIns="91434" bIns="45717" rtlCol="0">
            <a:spAutoFit/>
          </a:bodyPr>
          <a:lstStyle/>
          <a:p>
            <a:pPr marL="174619" indent="-174619"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с буллитами. Образец текста с буллитами</a:t>
            </a:r>
          </a:p>
          <a:p>
            <a:pPr marL="174619" indent="-174619"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с буллитами. Образец текста с буллитами</a:t>
            </a:r>
          </a:p>
          <a:p>
            <a:pPr marL="174619" indent="-174619"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с буллитами. Образец текста с буллитами</a:t>
            </a:r>
          </a:p>
          <a:p>
            <a:pPr marL="174619" indent="-174619"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с буллитами. Образец текста с буллитами</a:t>
            </a:r>
          </a:p>
          <a:p>
            <a:pPr marL="174619" indent="-174619"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с буллитами. Образец текста с буллитами</a:t>
            </a:r>
          </a:p>
          <a:p>
            <a:pPr marL="174619" indent="-174619"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с буллитами. Образец текста с буллитами</a:t>
            </a:r>
          </a:p>
          <a:p>
            <a:pPr marL="174619" indent="-174619"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буллитами. Образец текста с буллитами. Образец текста с буллитами</a:t>
            </a:r>
          </a:p>
          <a:p>
            <a:pPr marL="174619" indent="-174619"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591172" algn="r"/>
                <a:tab pos="881572" algn="r"/>
              </a:tabLst>
            </a:pPr>
            <a:endParaRPr lang="ru-RU" sz="1200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37" name="Rectangle 33">
            <a:extLst>
              <a:ext uri="{FF2B5EF4-FFF2-40B4-BE49-F238E27FC236}">
                <a16:creationId xmlns:a16="http://schemas.microsoft.com/office/drawing/2014/main" id="{491E7253-A263-4DA0-BC87-5B4C3A2CCDF3}"/>
              </a:ext>
            </a:extLst>
          </p:cNvPr>
          <p:cNvSpPr/>
          <p:nvPr/>
        </p:nvSpPr>
        <p:spPr>
          <a:xfrm>
            <a:off x="6211529" y="3929564"/>
            <a:ext cx="33877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 ТЕМЫ ИЛИ ЗАГОЛОВКА</a:t>
            </a:r>
            <a:endParaRPr lang="en-US" sz="1400" b="1" dirty="0">
              <a:solidFill>
                <a:srgbClr val="F184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3A9F78-2385-4B94-B8BF-9B80A54D5CA0}"/>
              </a:ext>
            </a:extLst>
          </p:cNvPr>
          <p:cNvSpPr txBox="1"/>
          <p:nvPr/>
        </p:nvSpPr>
        <p:spPr>
          <a:xfrm>
            <a:off x="941365" y="4326598"/>
            <a:ext cx="905903" cy="236285"/>
          </a:xfrm>
          <a:prstGeom prst="rect">
            <a:avLst/>
          </a:prstGeom>
          <a:noFill/>
        </p:spPr>
        <p:txBody>
          <a:bodyPr wrap="square" lIns="99569" tIns="49785" rIns="99569" bIns="49785" rtlCol="0">
            <a:spAutoFit/>
          </a:bodyPr>
          <a:lstStyle/>
          <a:p>
            <a:r>
              <a:rPr lang="ru-RU" sz="882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млн руб.</a:t>
            </a:r>
          </a:p>
        </p:txBody>
      </p:sp>
      <p:sp>
        <p:nvSpPr>
          <p:cNvPr id="39" name="AutoShape 17">
            <a:extLst>
              <a:ext uri="{FF2B5EF4-FFF2-40B4-BE49-F238E27FC236}">
                <a16:creationId xmlns:a16="http://schemas.microsoft.com/office/drawing/2014/main" id="{F3B9FA84-114D-43C3-8D36-5AA62D67F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355" y="3913553"/>
            <a:ext cx="41849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 ГРАФИКА ИЛИ ДИАГРАММЫ</a:t>
            </a:r>
            <a:endParaRPr lang="en-US" sz="1400" b="1" dirty="0">
              <a:solidFill>
                <a:srgbClr val="F184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86D5709E-3475-4DA6-8266-1E557E3CEA71}"/>
              </a:ext>
            </a:extLst>
          </p:cNvPr>
          <p:cNvGrpSpPr/>
          <p:nvPr/>
        </p:nvGrpSpPr>
        <p:grpSpPr>
          <a:xfrm>
            <a:off x="695139" y="4478243"/>
            <a:ext cx="3816424" cy="2332492"/>
            <a:chOff x="289613" y="4096849"/>
            <a:chExt cx="4841063" cy="2686764"/>
          </a:xfrm>
        </p:grpSpPr>
        <p:graphicFrame>
          <p:nvGraphicFramePr>
            <p:cNvPr id="43" name="Диаграмма 42">
              <a:extLst>
                <a:ext uri="{FF2B5EF4-FFF2-40B4-BE49-F238E27FC236}">
                  <a16:creationId xmlns:a16="http://schemas.microsoft.com/office/drawing/2014/main" id="{1D8D7800-3B11-4831-BA13-2792C6AA9FD9}"/>
                </a:ext>
              </a:extLst>
            </p:cNvPr>
            <p:cNvGraphicFramePr/>
            <p:nvPr/>
          </p:nvGraphicFramePr>
          <p:xfrm>
            <a:off x="289613" y="4428868"/>
            <a:ext cx="4841063" cy="235474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7900872-6407-485F-93C3-F8D4FE1AD055}"/>
                </a:ext>
              </a:extLst>
            </p:cNvPr>
            <p:cNvSpPr txBox="1"/>
            <p:nvPr/>
          </p:nvSpPr>
          <p:spPr>
            <a:xfrm>
              <a:off x="927743" y="4906193"/>
              <a:ext cx="597386" cy="263263"/>
            </a:xfrm>
            <a:prstGeom prst="rect">
              <a:avLst/>
            </a:prstGeom>
            <a:noFill/>
            <a:ln>
              <a:solidFill>
                <a:srgbClr val="3E88C6"/>
              </a:solidFill>
            </a:ln>
          </p:spPr>
          <p:txBody>
            <a:bodyPr wrap="square" lIns="0" tIns="44590" rIns="0" bIns="44590" rtlCol="0">
              <a:spAutoFit/>
            </a:bodyPr>
            <a:lstStyle>
              <a:defPPr>
                <a:defRPr lang="ru-RU"/>
              </a:defPPr>
              <a:lvl1pPr algn="ctr">
                <a:defRPr sz="900">
                  <a:solidFill>
                    <a:prstClr val="black"/>
                  </a:solidFill>
                  <a:latin typeface="Tahoma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r>
                <a:rPr lang="en-US" dirty="0"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405 020</a:t>
              </a:r>
              <a:endParaRPr lang="ru-RU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6E4E381-8C16-4D36-8960-48E4D8A1E64E}"/>
                </a:ext>
              </a:extLst>
            </p:cNvPr>
            <p:cNvSpPr txBox="1"/>
            <p:nvPr/>
          </p:nvSpPr>
          <p:spPr>
            <a:xfrm>
              <a:off x="2408393" y="4536611"/>
              <a:ext cx="603499" cy="263263"/>
            </a:xfrm>
            <a:prstGeom prst="rect">
              <a:avLst/>
            </a:prstGeom>
            <a:noFill/>
            <a:ln>
              <a:solidFill>
                <a:srgbClr val="3E88C6"/>
              </a:solidFill>
            </a:ln>
          </p:spPr>
          <p:txBody>
            <a:bodyPr wrap="square" lIns="0" tIns="44590" rIns="0" bIns="44590" rtlCol="0">
              <a:spAutoFit/>
            </a:bodyPr>
            <a:lstStyle>
              <a:defPPr>
                <a:defRPr lang="ru-RU"/>
              </a:defPPr>
              <a:lvl1pPr algn="ctr">
                <a:defRPr sz="900">
                  <a:solidFill>
                    <a:prstClr val="black"/>
                  </a:solidFill>
                  <a:latin typeface="Tahoma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r>
                <a:rPr lang="en-US" dirty="0"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526 385</a:t>
              </a:r>
              <a:endParaRPr lang="ru-RU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E214CFA-695C-46AA-A629-24D34896A9F3}"/>
                </a:ext>
              </a:extLst>
            </p:cNvPr>
            <p:cNvSpPr txBox="1"/>
            <p:nvPr/>
          </p:nvSpPr>
          <p:spPr>
            <a:xfrm>
              <a:off x="3889299" y="4459997"/>
              <a:ext cx="593307" cy="263263"/>
            </a:xfrm>
            <a:prstGeom prst="rect">
              <a:avLst/>
            </a:prstGeom>
            <a:noFill/>
            <a:ln>
              <a:solidFill>
                <a:srgbClr val="3E88C6"/>
              </a:solidFill>
            </a:ln>
          </p:spPr>
          <p:txBody>
            <a:bodyPr wrap="square" lIns="0" tIns="44590" rIns="0" bIns="44590" rtlCol="0">
              <a:spAutoFit/>
            </a:bodyPr>
            <a:lstStyle>
              <a:defPPr>
                <a:defRPr lang="ru-RU"/>
              </a:defPPr>
              <a:lvl1pPr algn="ctr">
                <a:defRPr sz="900">
                  <a:solidFill>
                    <a:prstClr val="black"/>
                  </a:solidFill>
                  <a:latin typeface="Tahoma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r>
                <a:rPr lang="en-US" dirty="0"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554 625</a:t>
              </a:r>
            </a:p>
          </p:txBody>
        </p:sp>
        <p:cxnSp>
          <p:nvCxnSpPr>
            <p:cNvPr id="52" name="Соединительная линия уступом 14">
              <a:extLst>
                <a:ext uri="{FF2B5EF4-FFF2-40B4-BE49-F238E27FC236}">
                  <a16:creationId xmlns:a16="http://schemas.microsoft.com/office/drawing/2014/main" id="{741DD8C3-EF52-48D5-95A9-0F612FAB1D08}"/>
                </a:ext>
              </a:extLst>
            </p:cNvPr>
            <p:cNvCxnSpPr>
              <a:cxnSpLocks/>
              <a:stCxn id="45" idx="0"/>
              <a:endCxn id="46" idx="0"/>
            </p:cNvCxnSpPr>
            <p:nvPr/>
          </p:nvCxnSpPr>
          <p:spPr>
            <a:xfrm rot="5400000" flipH="1" flipV="1">
              <a:off x="3409741" y="3760399"/>
              <a:ext cx="76614" cy="1475810"/>
            </a:xfrm>
            <a:prstGeom prst="bentConnector3">
              <a:avLst>
                <a:gd name="adj1" fmla="val 44369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Скругленный прямоугольник 44">
              <a:extLst>
                <a:ext uri="{FF2B5EF4-FFF2-40B4-BE49-F238E27FC236}">
                  <a16:creationId xmlns:a16="http://schemas.microsoft.com/office/drawing/2014/main" id="{26746818-6421-4282-8353-8EFA981FAF41}"/>
                </a:ext>
              </a:extLst>
            </p:cNvPr>
            <p:cNvSpPr/>
            <p:nvPr/>
          </p:nvSpPr>
          <p:spPr bwMode="auto">
            <a:xfrm>
              <a:off x="3114452" y="4096849"/>
              <a:ext cx="582945" cy="259846"/>
            </a:xfrm>
            <a:prstGeom prst="roundRect">
              <a:avLst/>
            </a:prstGeom>
            <a:solidFill>
              <a:srgbClr val="F1840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17" rIns="0" bIns="45717" anchor="ctr"/>
            <a:lstStyle/>
            <a:p>
              <a:pPr algn="ctr" defTabSz="1040777">
                <a:defRPr/>
              </a:pPr>
              <a:r>
                <a:rPr lang="ru-RU" sz="1050" dirty="0">
                  <a:solidFill>
                    <a:prstClr val="white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+</a:t>
              </a:r>
              <a:r>
                <a:rPr lang="en-US" sz="1050" dirty="0">
                  <a:solidFill>
                    <a:prstClr val="white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5</a:t>
              </a:r>
              <a:r>
                <a:rPr lang="ru-RU" sz="1050" dirty="0">
                  <a:solidFill>
                    <a:prstClr val="white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.4%</a:t>
              </a:r>
            </a:p>
          </p:txBody>
        </p:sp>
        <p:cxnSp>
          <p:nvCxnSpPr>
            <p:cNvPr id="33" name="Соединительная линия уступом 14">
              <a:extLst>
                <a:ext uri="{FF2B5EF4-FFF2-40B4-BE49-F238E27FC236}">
                  <a16:creationId xmlns:a16="http://schemas.microsoft.com/office/drawing/2014/main" id="{DD2EFB9C-4F6E-402C-ABDE-26BA9BB193F2}"/>
                </a:ext>
              </a:extLst>
            </p:cNvPr>
            <p:cNvCxnSpPr>
              <a:cxnSpLocks/>
              <a:stCxn id="44" idx="0"/>
              <a:endCxn id="45" idx="0"/>
            </p:cNvCxnSpPr>
            <p:nvPr/>
          </p:nvCxnSpPr>
          <p:spPr>
            <a:xfrm rot="5400000" flipH="1" flipV="1">
              <a:off x="1783500" y="3979549"/>
              <a:ext cx="369581" cy="1483707"/>
            </a:xfrm>
            <a:prstGeom prst="bentConnector3">
              <a:avLst>
                <a:gd name="adj1" fmla="val 171248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Скругленный прямоугольник 45">
              <a:extLst>
                <a:ext uri="{FF2B5EF4-FFF2-40B4-BE49-F238E27FC236}">
                  <a16:creationId xmlns:a16="http://schemas.microsoft.com/office/drawing/2014/main" id="{83262414-81CA-4CA9-81B8-8232458FF3DA}"/>
                </a:ext>
              </a:extLst>
            </p:cNvPr>
            <p:cNvSpPr/>
            <p:nvPr/>
          </p:nvSpPr>
          <p:spPr bwMode="auto">
            <a:xfrm>
              <a:off x="1600793" y="4169022"/>
              <a:ext cx="716689" cy="259846"/>
            </a:xfrm>
            <a:prstGeom prst="roundRect">
              <a:avLst/>
            </a:prstGeom>
            <a:solidFill>
              <a:srgbClr val="F1840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17" rIns="0" bIns="45717" anchor="ctr"/>
            <a:lstStyle/>
            <a:p>
              <a:pPr algn="ctr" defTabSz="1040777">
                <a:defRPr/>
              </a:pPr>
              <a:r>
                <a:rPr lang="en-US" sz="1050" dirty="0">
                  <a:solidFill>
                    <a:prstClr val="white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+30</a:t>
              </a:r>
              <a:r>
                <a:rPr lang="ru-RU" sz="1050" dirty="0">
                  <a:solidFill>
                    <a:prstClr val="white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.0%</a:t>
              </a:r>
            </a:p>
          </p:txBody>
        </p:sp>
      </p:grpSp>
      <p:graphicFrame>
        <p:nvGraphicFramePr>
          <p:cNvPr id="25" name="Диаграмма 24">
            <a:extLst>
              <a:ext uri="{FF2B5EF4-FFF2-40B4-BE49-F238E27FC236}">
                <a16:creationId xmlns:a16="http://schemas.microsoft.com/office/drawing/2014/main" id="{4A9DC9C7-B382-4A31-9F06-9DFB4CEAA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43430"/>
              </p:ext>
            </p:extLst>
          </p:nvPr>
        </p:nvGraphicFramePr>
        <p:xfrm>
          <a:off x="695139" y="1433770"/>
          <a:ext cx="3134032" cy="22055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6" name="Диаграмма 25">
            <a:extLst>
              <a:ext uri="{FF2B5EF4-FFF2-40B4-BE49-F238E27FC236}">
                <a16:creationId xmlns:a16="http://schemas.microsoft.com/office/drawing/2014/main" id="{2F8DA1C3-93F2-481D-AE08-D6A89AB379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123687"/>
              </p:ext>
            </p:extLst>
          </p:nvPr>
        </p:nvGraphicFramePr>
        <p:xfrm>
          <a:off x="4834642" y="1411091"/>
          <a:ext cx="3550227" cy="2337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7" name="Диаграмма 26">
            <a:extLst>
              <a:ext uri="{FF2B5EF4-FFF2-40B4-BE49-F238E27FC236}">
                <a16:creationId xmlns:a16="http://schemas.microsoft.com/office/drawing/2014/main" id="{3F27AD48-D0F8-466B-A634-BBCC54340F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717289"/>
              </p:ext>
            </p:extLst>
          </p:nvPr>
        </p:nvGraphicFramePr>
        <p:xfrm>
          <a:off x="8736975" y="1444263"/>
          <a:ext cx="2963334" cy="2286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1775714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3936FDBD-3271-4AEA-938D-00BFFDA6AABF}"/>
              </a:ext>
            </a:extLst>
          </p:cNvPr>
          <p:cNvSpPr/>
          <p:nvPr/>
        </p:nvSpPr>
        <p:spPr>
          <a:xfrm>
            <a:off x="548456" y="4498421"/>
            <a:ext cx="7509693" cy="2486048"/>
          </a:xfrm>
          <a:prstGeom prst="roundRect">
            <a:avLst>
              <a:gd name="adj" fmla="val 4375"/>
            </a:avLst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CCD2AE76-CFB5-4222-A138-55AFD432ADF2}"/>
              </a:ext>
            </a:extLst>
          </p:cNvPr>
          <p:cNvSpPr/>
          <p:nvPr/>
        </p:nvSpPr>
        <p:spPr>
          <a:xfrm>
            <a:off x="548456" y="1680779"/>
            <a:ext cx="7509693" cy="2486048"/>
          </a:xfrm>
          <a:prstGeom prst="roundRect">
            <a:avLst>
              <a:gd name="adj" fmla="val 4375"/>
            </a:avLst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AF1FECB-10A4-4AD7-8140-25FA9B973F4B}"/>
              </a:ext>
            </a:extLst>
          </p:cNvPr>
          <p:cNvSpPr/>
          <p:nvPr/>
        </p:nvSpPr>
        <p:spPr>
          <a:xfrm>
            <a:off x="548456" y="1636258"/>
            <a:ext cx="7509693" cy="370329"/>
          </a:xfrm>
          <a:prstGeom prst="roundRect">
            <a:avLst>
              <a:gd name="adj" fmla="val 38016"/>
            </a:avLst>
          </a:prstGeom>
          <a:solidFill>
            <a:srgbClr val="00407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81922" name="Заголовок 1"/>
          <p:cNvSpPr>
            <a:spLocks noGrp="1"/>
          </p:cNvSpPr>
          <p:nvPr>
            <p:ph type="title"/>
          </p:nvPr>
        </p:nvSpPr>
        <p:spPr>
          <a:xfrm>
            <a:off x="548457" y="240858"/>
            <a:ext cx="11509530" cy="43771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99" tIns="52150" rIns="104299" bIns="5215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4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слайда</a:t>
            </a:r>
          </a:p>
        </p:txBody>
      </p:sp>
      <p:sp>
        <p:nvSpPr>
          <p:cNvPr id="81925" name="TextBox 4"/>
          <p:cNvSpPr txBox="1">
            <a:spLocks noChangeArrowheads="1"/>
          </p:cNvSpPr>
          <p:nvPr/>
        </p:nvSpPr>
        <p:spPr bwMode="auto">
          <a:xfrm>
            <a:off x="798388" y="1659327"/>
            <a:ext cx="840966" cy="311375"/>
          </a:xfrm>
          <a:prstGeom prst="rect">
            <a:avLst/>
          </a:prstGeom>
        </p:spPr>
        <p:txBody>
          <a:bodyPr wrap="none" lIns="94789" tIns="47502" rIns="94789" bIns="47502">
            <a:spAutoFit/>
          </a:bodyPr>
          <a:lstStyle>
            <a:defPPr>
              <a:defRPr lang="ru-RU"/>
            </a:defPPr>
            <a:lvl1pPr>
              <a:defRPr sz="1400" baseline="0">
                <a:solidFill>
                  <a:schemeClr val="accent6">
                    <a:lumMod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БЛОК 1</a:t>
            </a:r>
          </a:p>
        </p:txBody>
      </p:sp>
      <p:sp>
        <p:nvSpPr>
          <p:cNvPr id="81927" name="TextBox 6"/>
          <p:cNvSpPr txBox="1">
            <a:spLocks noChangeArrowheads="1"/>
          </p:cNvSpPr>
          <p:nvPr/>
        </p:nvSpPr>
        <p:spPr bwMode="auto">
          <a:xfrm>
            <a:off x="639538" y="2146963"/>
            <a:ext cx="2894237" cy="2160240"/>
          </a:xfrm>
          <a:prstGeom prst="rect">
            <a:avLst/>
          </a:prstGeom>
          <a:noFill/>
          <a:ln w="19050">
            <a:noFill/>
          </a:ln>
        </p:spPr>
        <p:txBody>
          <a:bodyPr wrap="square" lIns="94789" tIns="47502" rIns="94789" bIns="47502">
            <a:noAutofit/>
          </a:bodyPr>
          <a:lstStyle>
            <a:defPPr>
              <a:defRPr lang="ru-RU"/>
            </a:defPPr>
            <a:lvl1pPr marL="85725" algn="just" defTabSz="965200">
              <a:spcAft>
                <a:spcPts val="300"/>
              </a:spcAft>
              <a:buClr>
                <a:srgbClr val="F76C03"/>
              </a:buClr>
              <a:buSzPct val="120000"/>
              <a:tabLst>
                <a:tab pos="354013" algn="l"/>
              </a:tabLst>
              <a:defRPr sz="1100" baseline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</p:txBody>
      </p:sp>
      <p:sp>
        <p:nvSpPr>
          <p:cNvPr id="81928" name="TextBox 7"/>
          <p:cNvSpPr txBox="1">
            <a:spLocks noChangeArrowheads="1"/>
          </p:cNvSpPr>
          <p:nvPr/>
        </p:nvSpPr>
        <p:spPr bwMode="auto">
          <a:xfrm>
            <a:off x="639538" y="4985682"/>
            <a:ext cx="2894237" cy="1998786"/>
          </a:xfrm>
          <a:prstGeom prst="rect">
            <a:avLst/>
          </a:prstGeom>
          <a:noFill/>
          <a:ln w="19050">
            <a:noFill/>
          </a:ln>
        </p:spPr>
        <p:txBody>
          <a:bodyPr wrap="square" lIns="94789" tIns="47502" rIns="94789" bIns="47502">
            <a:noAutofit/>
          </a:bodyPr>
          <a:lstStyle>
            <a:defPPr>
              <a:defRPr lang="ru-RU"/>
            </a:defPPr>
            <a:lvl1pPr marL="85725" algn="just" defTabSz="965200">
              <a:spcAft>
                <a:spcPts val="300"/>
              </a:spcAft>
              <a:buClr>
                <a:srgbClr val="F76C03"/>
              </a:buClr>
              <a:buSzPct val="120000"/>
              <a:tabLst>
                <a:tab pos="354013" algn="l"/>
              </a:tabLst>
              <a:defRPr sz="1100" baseline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639538" y="1188343"/>
            <a:ext cx="5926662" cy="37467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r>
              <a:rPr lang="ru-RU" sz="16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ЗАГОЛОВОК ТЕМЫ ИЛИ БЛОКА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3781" y="2534561"/>
            <a:ext cx="3296931" cy="3748133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1247" tIns="43475" rIns="86966" bIns="43475" anchor="ctr"/>
          <a:lstStyle>
            <a:defPPr>
              <a:defRPr lang="ru-RU"/>
            </a:defPPr>
            <a:lvl1pPr lvl="0">
              <a:defRPr>
                <a:solidFill>
                  <a:prstClr val="white"/>
                </a:solidFill>
              </a:defRPr>
            </a:lvl1pPr>
          </a:lstStyle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endParaRPr lang="ru-RU" sz="1400" dirty="0">
              <a:solidFill>
                <a:schemeClr val="tx1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368425" y="-182398"/>
            <a:ext cx="10693400" cy="364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6966" tIns="43475" rIns="86966" bIns="43475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80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874782" y="2534561"/>
            <a:ext cx="1756891" cy="307777"/>
          </a:xfrm>
          <a:prstGeom prst="rect">
            <a:avLst/>
          </a:prstGeom>
        </p:spPr>
        <p:txBody>
          <a:bodyPr wrap="none" anchor="t">
            <a:spAutoFit/>
          </a:bodyPr>
          <a:lstStyle/>
          <a:p>
            <a:r>
              <a:rPr lang="ru-RU" sz="1400" b="1" dirty="0">
                <a:solidFill>
                  <a:schemeClr val="bg1">
                    <a:lumMod val="6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ПОДЗАГОЛОВОК: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163AF733-129A-47F2-860A-F379514DEDBC}"/>
              </a:ext>
            </a:extLst>
          </p:cNvPr>
          <p:cNvSpPr/>
          <p:nvPr/>
        </p:nvSpPr>
        <p:spPr>
          <a:xfrm>
            <a:off x="548456" y="4447580"/>
            <a:ext cx="7509693" cy="370329"/>
          </a:xfrm>
          <a:prstGeom prst="roundRect">
            <a:avLst>
              <a:gd name="adj" fmla="val 38016"/>
            </a:avLst>
          </a:prstGeom>
          <a:solidFill>
            <a:srgbClr val="00407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8CB48A4C-DC0F-46B8-898E-E5F2CEE97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88" y="4492100"/>
            <a:ext cx="840966" cy="311375"/>
          </a:xfrm>
          <a:prstGeom prst="rect">
            <a:avLst/>
          </a:prstGeom>
        </p:spPr>
        <p:txBody>
          <a:bodyPr wrap="none" lIns="94789" tIns="47502" rIns="94789" bIns="47502">
            <a:spAutoFit/>
          </a:bodyPr>
          <a:lstStyle>
            <a:defPPr>
              <a:defRPr lang="ru-RU"/>
            </a:defPPr>
            <a:lvl1pPr>
              <a:defRPr sz="1400" baseline="0">
                <a:solidFill>
                  <a:schemeClr val="accent6">
                    <a:lumMod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БЛОК 2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6E95A8BB-CA29-473D-9EB8-7ABC7D78F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9447" y="2146963"/>
            <a:ext cx="2894237" cy="2160240"/>
          </a:xfrm>
          <a:prstGeom prst="rect">
            <a:avLst/>
          </a:prstGeom>
          <a:noFill/>
          <a:ln w="19050">
            <a:noFill/>
          </a:ln>
        </p:spPr>
        <p:txBody>
          <a:bodyPr wrap="square" lIns="94789" tIns="47502" rIns="94789" bIns="47502">
            <a:noAutofit/>
          </a:bodyPr>
          <a:lstStyle>
            <a:defPPr>
              <a:defRPr lang="ru-RU"/>
            </a:defPPr>
            <a:lvl1pPr marL="85725" algn="just" defTabSz="965200">
              <a:spcAft>
                <a:spcPts val="300"/>
              </a:spcAft>
              <a:buClr>
                <a:srgbClr val="F76C03"/>
              </a:buClr>
              <a:buSzPct val="120000"/>
              <a:tabLst>
                <a:tab pos="354013" algn="l"/>
              </a:tabLst>
              <a:defRPr sz="1100" baseline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7DFB0CEB-3C88-4E80-8A1F-658E18B1F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9446" y="4985682"/>
            <a:ext cx="2894237" cy="1998786"/>
          </a:xfrm>
          <a:prstGeom prst="rect">
            <a:avLst/>
          </a:prstGeom>
          <a:noFill/>
          <a:ln w="19050">
            <a:noFill/>
          </a:ln>
        </p:spPr>
        <p:txBody>
          <a:bodyPr wrap="square" lIns="94789" tIns="47502" rIns="94789" bIns="47502">
            <a:noAutofit/>
          </a:bodyPr>
          <a:lstStyle>
            <a:defPPr>
              <a:defRPr lang="ru-RU"/>
            </a:defPPr>
            <a:lvl1pPr marL="85725" algn="just" defTabSz="965200">
              <a:spcAft>
                <a:spcPts val="300"/>
              </a:spcAft>
              <a:buClr>
                <a:srgbClr val="F76C03"/>
              </a:buClr>
              <a:buSzPct val="120000"/>
              <a:tabLst>
                <a:tab pos="354013" algn="l"/>
              </a:tabLst>
              <a:defRPr sz="1100" baseline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</p:txBody>
      </p:sp>
    </p:spTree>
    <p:extLst>
      <p:ext uri="{BB962C8B-B14F-4D97-AF65-F5344CB8AC3E}">
        <p14:creationId xmlns:p14="http://schemas.microsoft.com/office/powerpoint/2010/main" val="38155554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80C5C98F-5DC8-4CD9-9FB1-72F4CCB84B10}"/>
              </a:ext>
            </a:extLst>
          </p:cNvPr>
          <p:cNvSpPr/>
          <p:nvPr/>
        </p:nvSpPr>
        <p:spPr>
          <a:xfrm>
            <a:off x="579102" y="1281280"/>
            <a:ext cx="7602873" cy="5307664"/>
          </a:xfrm>
          <a:prstGeom prst="roundRect">
            <a:avLst>
              <a:gd name="adj" fmla="val 3012"/>
            </a:avLst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77884" y="2627343"/>
            <a:ext cx="3240359" cy="3247033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1247" tIns="43475" rIns="86966" bIns="43475" anchor="ctr"/>
          <a:lstStyle>
            <a:defPPr>
              <a:defRPr lang="ru-RU"/>
            </a:defPPr>
            <a:lvl1pPr lvl="0">
              <a:defRPr>
                <a:solidFill>
                  <a:prstClr val="white"/>
                </a:solidFill>
              </a:defRPr>
            </a:lvl1pPr>
          </a:lstStyle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  <a:p>
            <a:pPr marL="296066" indent="-296066">
              <a:spcAft>
                <a:spcPts val="662"/>
              </a:spcAft>
              <a:buFont typeface="Arial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</a:t>
            </a:r>
          </a:p>
        </p:txBody>
      </p:sp>
      <p:sp>
        <p:nvSpPr>
          <p:cNvPr id="83970" name="Заголовок 1"/>
          <p:cNvSpPr>
            <a:spLocks noGrp="1"/>
          </p:cNvSpPr>
          <p:nvPr>
            <p:ph type="title"/>
          </p:nvPr>
        </p:nvSpPr>
        <p:spPr>
          <a:xfrm>
            <a:off x="548457" y="240858"/>
            <a:ext cx="11509530" cy="43771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99" tIns="52150" rIns="104299" bIns="5215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4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слайда</a:t>
            </a: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2609460" y="1955850"/>
            <a:ext cx="5248665" cy="942776"/>
          </a:xfrm>
          <a:prstGeom prst="rect">
            <a:avLst/>
          </a:prstGeom>
          <a:noFill/>
          <a:ln w="19050">
            <a:noFill/>
          </a:ln>
        </p:spPr>
        <p:txBody>
          <a:bodyPr wrap="square" lIns="94789" tIns="47502" rIns="94789" bIns="47502" anchor="ctr">
            <a:noAutofit/>
          </a:bodyPr>
          <a:lstStyle/>
          <a:p>
            <a:pPr marL="8878" defTabSz="1000040">
              <a:spcAft>
                <a:spcPts val="327"/>
              </a:spcAft>
              <a:buClr>
                <a:srgbClr val="F76C03"/>
              </a:buClr>
              <a:buSzPct val="120000"/>
              <a:tabLst>
                <a:tab pos="366818" algn="l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Описание или значение основного параметра. Описание или значение основного параметра</a:t>
            </a:r>
          </a:p>
        </p:txBody>
      </p:sp>
      <p:sp>
        <p:nvSpPr>
          <p:cNvPr id="22" name="Пятиугольник 21"/>
          <p:cNvSpPr/>
          <p:nvPr/>
        </p:nvSpPr>
        <p:spPr bwMode="auto">
          <a:xfrm>
            <a:off x="829033" y="1955850"/>
            <a:ext cx="1386555" cy="94277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ru-RU" sz="1400" b="1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Основной </a:t>
            </a:r>
          </a:p>
          <a:p>
            <a:r>
              <a:rPr lang="ru-RU" sz="1400" b="1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параметр</a:t>
            </a:r>
          </a:p>
        </p:txBody>
      </p:sp>
      <p:sp>
        <p:nvSpPr>
          <p:cNvPr id="25" name="Пятиугольник 24"/>
          <p:cNvSpPr/>
          <p:nvPr/>
        </p:nvSpPr>
        <p:spPr bwMode="auto">
          <a:xfrm>
            <a:off x="829033" y="3035970"/>
            <a:ext cx="1386555" cy="94277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ru-RU" sz="1400" b="1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Основной </a:t>
            </a:r>
          </a:p>
          <a:p>
            <a:r>
              <a:rPr lang="ru-RU" sz="1400" b="1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параметр</a:t>
            </a:r>
          </a:p>
        </p:txBody>
      </p:sp>
      <p:sp>
        <p:nvSpPr>
          <p:cNvPr id="26" name="Пятиугольник 25"/>
          <p:cNvSpPr/>
          <p:nvPr/>
        </p:nvSpPr>
        <p:spPr bwMode="auto">
          <a:xfrm>
            <a:off x="829033" y="4122762"/>
            <a:ext cx="1386556" cy="94277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ru-RU" sz="1400" b="1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Основной </a:t>
            </a:r>
          </a:p>
          <a:p>
            <a:r>
              <a:rPr lang="ru-RU" sz="1400" b="1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параметр</a:t>
            </a:r>
          </a:p>
        </p:txBody>
      </p:sp>
      <p:sp>
        <p:nvSpPr>
          <p:cNvPr id="27" name="Пятиугольник 26"/>
          <p:cNvSpPr/>
          <p:nvPr/>
        </p:nvSpPr>
        <p:spPr bwMode="auto">
          <a:xfrm>
            <a:off x="829032" y="5137546"/>
            <a:ext cx="1386556" cy="94277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ru-RU" sz="1400" b="1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Основной </a:t>
            </a:r>
          </a:p>
          <a:p>
            <a:r>
              <a:rPr lang="ru-RU" sz="1400" b="1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параметр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9500390" y="2232534"/>
            <a:ext cx="2917853" cy="30777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r>
              <a:rPr lang="ru-RU" sz="1600" b="1" dirty="0">
                <a:solidFill>
                  <a:schemeClr val="bg1">
                    <a:lumMod val="6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ПОДЗАГОЛОВОК </a:t>
            </a:r>
          </a:p>
          <a:p>
            <a:r>
              <a:rPr lang="ru-RU" sz="1600" b="1" dirty="0">
                <a:solidFill>
                  <a:schemeClr val="bg1">
                    <a:lumMod val="6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БЛОКА </a:t>
            </a:r>
            <a:endParaRPr lang="ru-RU" sz="1600" b="1" dirty="0">
              <a:solidFill>
                <a:srgbClr val="F088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4" name="Round Same Side Corner Rectangle 58">
            <a:extLst>
              <a:ext uri="{FF2B5EF4-FFF2-40B4-BE49-F238E27FC236}">
                <a16:creationId xmlns:a16="http://schemas.microsoft.com/office/drawing/2014/main" id="{868859C2-4D35-4F8C-91E0-6CFCE3CC3547}"/>
              </a:ext>
            </a:extLst>
          </p:cNvPr>
          <p:cNvSpPr/>
          <p:nvPr/>
        </p:nvSpPr>
        <p:spPr>
          <a:xfrm rot="10800000" flipH="1">
            <a:off x="2301652" y="2070609"/>
            <a:ext cx="43896" cy="6840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F18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9419" tIns="109710" rIns="219419" bIns="109710" rtlCol="0" anchor="ctr"/>
          <a:lstStyle/>
          <a:p>
            <a:pPr algn="just"/>
            <a:endParaRPr lang="bg-BG" sz="1800" dirty="0">
              <a:solidFill>
                <a:schemeClr val="accent6">
                  <a:lumMod val="7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8" name="Round Same Side Corner Rectangle 58">
            <a:extLst>
              <a:ext uri="{FF2B5EF4-FFF2-40B4-BE49-F238E27FC236}">
                <a16:creationId xmlns:a16="http://schemas.microsoft.com/office/drawing/2014/main" id="{2D66C1B6-0AC4-4A7A-AE17-9D0DC4188F2A}"/>
              </a:ext>
            </a:extLst>
          </p:cNvPr>
          <p:cNvSpPr/>
          <p:nvPr/>
        </p:nvSpPr>
        <p:spPr>
          <a:xfrm rot="10800000" flipH="1">
            <a:off x="2301652" y="3148468"/>
            <a:ext cx="43896" cy="6840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F18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9419" tIns="109710" rIns="219419" bIns="109710" rtlCol="0" anchor="ctr"/>
          <a:lstStyle/>
          <a:p>
            <a:pPr algn="just"/>
            <a:endParaRPr lang="bg-BG" sz="1800" dirty="0">
              <a:solidFill>
                <a:schemeClr val="accent6">
                  <a:lumMod val="7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9" name="Round Same Side Corner Rectangle 58">
            <a:extLst>
              <a:ext uri="{FF2B5EF4-FFF2-40B4-BE49-F238E27FC236}">
                <a16:creationId xmlns:a16="http://schemas.microsoft.com/office/drawing/2014/main" id="{609C0AF7-DEE1-4F07-ABB7-C63C384B6C3D}"/>
              </a:ext>
            </a:extLst>
          </p:cNvPr>
          <p:cNvSpPr/>
          <p:nvPr/>
        </p:nvSpPr>
        <p:spPr>
          <a:xfrm rot="10800000" flipH="1">
            <a:off x="2301652" y="4260106"/>
            <a:ext cx="43896" cy="6840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F18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9419" tIns="109710" rIns="219419" bIns="109710" rtlCol="0" anchor="ctr"/>
          <a:lstStyle/>
          <a:p>
            <a:pPr algn="just"/>
            <a:endParaRPr lang="bg-BG" sz="1800" dirty="0">
              <a:solidFill>
                <a:schemeClr val="accent6">
                  <a:lumMod val="7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30" name="Round Same Side Corner Rectangle 58">
            <a:extLst>
              <a:ext uri="{FF2B5EF4-FFF2-40B4-BE49-F238E27FC236}">
                <a16:creationId xmlns:a16="http://schemas.microsoft.com/office/drawing/2014/main" id="{168208F5-DE1F-4E95-AA12-B201B4652CE8}"/>
              </a:ext>
            </a:extLst>
          </p:cNvPr>
          <p:cNvSpPr/>
          <p:nvPr/>
        </p:nvSpPr>
        <p:spPr>
          <a:xfrm rot="10800000" flipH="1">
            <a:off x="2301652" y="5245634"/>
            <a:ext cx="43896" cy="6840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F18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9419" tIns="109710" rIns="219419" bIns="109710" rtlCol="0" anchor="ctr"/>
          <a:lstStyle/>
          <a:p>
            <a:pPr algn="just"/>
            <a:endParaRPr lang="bg-BG" sz="1800" dirty="0">
              <a:solidFill>
                <a:schemeClr val="accent6">
                  <a:lumMod val="7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D58F00D8-1683-4978-AF19-40F64D0CCF66}"/>
              </a:ext>
            </a:extLst>
          </p:cNvPr>
          <p:cNvSpPr/>
          <p:nvPr/>
        </p:nvSpPr>
        <p:spPr>
          <a:xfrm>
            <a:off x="579102" y="1281279"/>
            <a:ext cx="7602873" cy="370329"/>
          </a:xfrm>
          <a:prstGeom prst="roundRect">
            <a:avLst>
              <a:gd name="adj" fmla="val 38016"/>
            </a:avLst>
          </a:prstGeom>
          <a:solidFill>
            <a:srgbClr val="00407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32" name="TextBox 4">
            <a:extLst>
              <a:ext uri="{FF2B5EF4-FFF2-40B4-BE49-F238E27FC236}">
                <a16:creationId xmlns:a16="http://schemas.microsoft.com/office/drawing/2014/main" id="{74E74A04-2EB0-482B-BADA-B3E26E693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033" y="1293622"/>
            <a:ext cx="1874006" cy="311375"/>
          </a:xfrm>
          <a:prstGeom prst="rect">
            <a:avLst/>
          </a:prstGeom>
        </p:spPr>
        <p:txBody>
          <a:bodyPr wrap="none" lIns="94789" tIns="47502" rIns="94789" bIns="47502">
            <a:spAutoFit/>
          </a:bodyPr>
          <a:lstStyle>
            <a:defPPr>
              <a:defRPr lang="ru-RU"/>
            </a:defPPr>
            <a:lvl1pPr>
              <a:defRPr sz="1400" baseline="0">
                <a:solidFill>
                  <a:schemeClr val="accent6">
                    <a:lumMod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 БЛОКА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E8A6CF2-2C2A-42D9-A957-AEAFD75F4DB7}"/>
              </a:ext>
            </a:extLst>
          </p:cNvPr>
          <p:cNvSpPr/>
          <p:nvPr/>
        </p:nvSpPr>
        <p:spPr bwMode="auto">
          <a:xfrm>
            <a:off x="2609460" y="3035970"/>
            <a:ext cx="5248665" cy="942776"/>
          </a:xfrm>
          <a:prstGeom prst="rect">
            <a:avLst/>
          </a:prstGeom>
          <a:noFill/>
          <a:ln w="19050">
            <a:noFill/>
          </a:ln>
        </p:spPr>
        <p:txBody>
          <a:bodyPr wrap="square" lIns="94789" tIns="47502" rIns="94789" bIns="47502" anchor="ctr">
            <a:noAutofit/>
          </a:bodyPr>
          <a:lstStyle/>
          <a:p>
            <a:pPr marL="8878" defTabSz="1000040">
              <a:spcAft>
                <a:spcPts val="327"/>
              </a:spcAft>
              <a:buClr>
                <a:srgbClr val="F76C03"/>
              </a:buClr>
              <a:buSzPct val="120000"/>
              <a:tabLst>
                <a:tab pos="366818" algn="l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Описание или значение основного параметра. Описание или значение основного параметра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2C8E396-9FD5-49F9-A28F-173852EDB7AF}"/>
              </a:ext>
            </a:extLst>
          </p:cNvPr>
          <p:cNvSpPr/>
          <p:nvPr/>
        </p:nvSpPr>
        <p:spPr bwMode="auto">
          <a:xfrm>
            <a:off x="2609460" y="4116090"/>
            <a:ext cx="5248665" cy="942776"/>
          </a:xfrm>
          <a:prstGeom prst="rect">
            <a:avLst/>
          </a:prstGeom>
          <a:noFill/>
          <a:ln w="19050">
            <a:noFill/>
          </a:ln>
        </p:spPr>
        <p:txBody>
          <a:bodyPr wrap="square" lIns="94789" tIns="47502" rIns="94789" bIns="47502" anchor="ctr">
            <a:noAutofit/>
          </a:bodyPr>
          <a:lstStyle/>
          <a:p>
            <a:pPr marL="8878" defTabSz="1000040">
              <a:spcAft>
                <a:spcPts val="327"/>
              </a:spcAft>
              <a:buClr>
                <a:srgbClr val="F76C03"/>
              </a:buClr>
              <a:buSzPct val="120000"/>
              <a:tabLst>
                <a:tab pos="366818" algn="l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Описание или значение основного параметра. Описание или значение основного параметра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CBA5FECF-555A-4AF5-82B8-0DBCE85A9210}"/>
              </a:ext>
            </a:extLst>
          </p:cNvPr>
          <p:cNvSpPr/>
          <p:nvPr/>
        </p:nvSpPr>
        <p:spPr bwMode="auto">
          <a:xfrm>
            <a:off x="2609460" y="5116246"/>
            <a:ext cx="5248665" cy="942776"/>
          </a:xfrm>
          <a:prstGeom prst="rect">
            <a:avLst/>
          </a:prstGeom>
          <a:noFill/>
          <a:ln w="19050">
            <a:noFill/>
          </a:ln>
        </p:spPr>
        <p:txBody>
          <a:bodyPr wrap="square" lIns="94789" tIns="47502" rIns="94789" bIns="47502" anchor="ctr">
            <a:noAutofit/>
          </a:bodyPr>
          <a:lstStyle/>
          <a:p>
            <a:pPr marL="8878" defTabSz="1000040">
              <a:spcAft>
                <a:spcPts val="327"/>
              </a:spcAft>
              <a:buClr>
                <a:srgbClr val="F76C03"/>
              </a:buClr>
              <a:buSzPct val="120000"/>
              <a:tabLst>
                <a:tab pos="366818" algn="l"/>
              </a:tabLst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Описание или значение основного параметра. Описание или значение основного параметра</a:t>
            </a:r>
          </a:p>
        </p:txBody>
      </p:sp>
    </p:spTree>
    <p:extLst>
      <p:ext uri="{BB962C8B-B14F-4D97-AF65-F5344CB8AC3E}">
        <p14:creationId xmlns:p14="http://schemas.microsoft.com/office/powerpoint/2010/main" val="908487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Заголовок 33"/>
          <p:cNvSpPr>
            <a:spLocks noGrp="1"/>
          </p:cNvSpPr>
          <p:nvPr>
            <p:ph type="title"/>
          </p:nvPr>
        </p:nvSpPr>
        <p:spPr>
          <a:xfrm>
            <a:off x="548457" y="240858"/>
            <a:ext cx="11509530" cy="43771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99" tIns="52150" rIns="104299" bIns="5215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4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слайда</a:t>
            </a:r>
            <a:endParaRPr lang="ru-RU" altLang="ru-RU" sz="2400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6033" y="6742436"/>
            <a:ext cx="11715017" cy="210922"/>
          </a:xfrm>
          <a:prstGeom prst="rect">
            <a:avLst/>
          </a:prstGeom>
          <a:noFill/>
        </p:spPr>
        <p:txBody>
          <a:bodyPr wrap="square" lIns="86970" tIns="43481" rIns="86970" bIns="43481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* Примечание: образец текста примечания или сноски </a:t>
            </a:r>
          </a:p>
        </p:txBody>
      </p:sp>
      <p:graphicFrame>
        <p:nvGraphicFramePr>
          <p:cNvPr id="15" name="Диаграмма 14"/>
          <p:cNvGraphicFramePr/>
          <p:nvPr>
            <p:extLst>
              <p:ext uri="{D42A27DB-BD31-4B8C-83A1-F6EECF244321}">
                <p14:modId xmlns:p14="http://schemas.microsoft.com/office/powerpoint/2010/main" val="2932543507"/>
              </p:ext>
            </p:extLst>
          </p:nvPr>
        </p:nvGraphicFramePr>
        <p:xfrm>
          <a:off x="548456" y="1588532"/>
          <a:ext cx="8365383" cy="22291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8" name="Диаграмма 17"/>
          <p:cNvGraphicFramePr/>
          <p:nvPr>
            <p:extLst>
              <p:ext uri="{D42A27DB-BD31-4B8C-83A1-F6EECF244321}">
                <p14:modId xmlns:p14="http://schemas.microsoft.com/office/powerpoint/2010/main" val="3837149753"/>
              </p:ext>
            </p:extLst>
          </p:nvPr>
        </p:nvGraphicFramePr>
        <p:xfrm>
          <a:off x="496033" y="4062742"/>
          <a:ext cx="9895742" cy="22381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916886" y="3668001"/>
            <a:ext cx="1798752" cy="210922"/>
          </a:xfrm>
          <a:prstGeom prst="rect">
            <a:avLst/>
          </a:prstGeom>
          <a:noFill/>
        </p:spPr>
        <p:txBody>
          <a:bodyPr wrap="square" lIns="86970" tIns="43481" rIns="86970" bIns="43481" rtlCol="0">
            <a:spAutoFit/>
          </a:bodyPr>
          <a:lstStyle/>
          <a:p>
            <a:pPr algn="ctr"/>
            <a:r>
              <a:rPr lang="ru-RU" sz="800" dirty="0">
                <a:solidFill>
                  <a:prstClr val="white">
                    <a:lumMod val="50000"/>
                  </a:prst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16126" y="3683529"/>
            <a:ext cx="1598767" cy="210922"/>
          </a:xfrm>
          <a:prstGeom prst="rect">
            <a:avLst/>
          </a:prstGeom>
          <a:noFill/>
        </p:spPr>
        <p:txBody>
          <a:bodyPr wrap="square" lIns="86970" tIns="43481" rIns="86970" bIns="43481" rtlCol="0">
            <a:spAutoFit/>
          </a:bodyPr>
          <a:lstStyle/>
          <a:p>
            <a:pPr algn="ctr"/>
            <a:r>
              <a:rPr lang="ru-RU" sz="800" dirty="0">
                <a:solidFill>
                  <a:prstClr val="white">
                    <a:lumMod val="50000"/>
                  </a:prst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8209" y="3683529"/>
            <a:ext cx="1598767" cy="210922"/>
          </a:xfrm>
          <a:prstGeom prst="rect">
            <a:avLst/>
          </a:prstGeom>
          <a:noFill/>
        </p:spPr>
        <p:txBody>
          <a:bodyPr wrap="square" lIns="86970" tIns="43481" rIns="86970" bIns="43481" rtlCol="0">
            <a:spAutoFit/>
          </a:bodyPr>
          <a:lstStyle/>
          <a:p>
            <a:pPr algn="ctr"/>
            <a:r>
              <a:rPr lang="ru-RU" sz="800" dirty="0">
                <a:solidFill>
                  <a:prstClr val="white">
                    <a:lumMod val="50000"/>
                  </a:prst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101" y="6223984"/>
            <a:ext cx="1598767" cy="210922"/>
          </a:xfrm>
          <a:prstGeom prst="rect">
            <a:avLst/>
          </a:prstGeom>
          <a:noFill/>
        </p:spPr>
        <p:txBody>
          <a:bodyPr wrap="square" lIns="86970" tIns="43481" rIns="86970" bIns="43481" rtlCol="0">
            <a:spAutoFit/>
          </a:bodyPr>
          <a:lstStyle/>
          <a:p>
            <a:pPr algn="ctr"/>
            <a:r>
              <a:rPr lang="ru-RU" sz="800" dirty="0">
                <a:solidFill>
                  <a:prstClr val="white">
                    <a:lumMod val="50000"/>
                  </a:prst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3869" y="6200894"/>
            <a:ext cx="1598767" cy="210922"/>
          </a:xfrm>
          <a:prstGeom prst="rect">
            <a:avLst/>
          </a:prstGeom>
          <a:noFill/>
        </p:spPr>
        <p:txBody>
          <a:bodyPr wrap="square" lIns="86970" tIns="43481" rIns="86970" bIns="43481" rtlCol="0">
            <a:spAutoFit/>
          </a:bodyPr>
          <a:lstStyle/>
          <a:p>
            <a:pPr algn="ctr"/>
            <a:r>
              <a:rPr lang="ru-RU" sz="800" dirty="0">
                <a:solidFill>
                  <a:prstClr val="white">
                    <a:lumMod val="50000"/>
                  </a:prst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30860" y="6231718"/>
            <a:ext cx="1598767" cy="210922"/>
          </a:xfrm>
          <a:prstGeom prst="rect">
            <a:avLst/>
          </a:prstGeom>
          <a:noFill/>
        </p:spPr>
        <p:txBody>
          <a:bodyPr wrap="square" lIns="86970" tIns="43481" rIns="86970" bIns="43481" rtlCol="0">
            <a:spAutoFit/>
          </a:bodyPr>
          <a:lstStyle/>
          <a:p>
            <a:pPr algn="ctr"/>
            <a:r>
              <a:rPr lang="ru-RU" sz="800" dirty="0">
                <a:solidFill>
                  <a:prstClr val="white">
                    <a:lumMod val="50000"/>
                  </a:prst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71190" y="6216917"/>
            <a:ext cx="1598767" cy="210922"/>
          </a:xfrm>
          <a:prstGeom prst="rect">
            <a:avLst/>
          </a:prstGeom>
          <a:noFill/>
        </p:spPr>
        <p:txBody>
          <a:bodyPr wrap="square" lIns="86970" tIns="43481" rIns="86970" bIns="43481" rtlCol="0">
            <a:spAutoFit/>
          </a:bodyPr>
          <a:lstStyle/>
          <a:p>
            <a:pPr algn="ctr"/>
            <a:r>
              <a:rPr lang="ru-RU" sz="800" dirty="0">
                <a:solidFill>
                  <a:prstClr val="white">
                    <a:lumMod val="50000"/>
                  </a:prst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4558" y="2546063"/>
            <a:ext cx="1058022" cy="228076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882" b="1" dirty="0">
                <a:solidFill>
                  <a:srgbClr val="1F497D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ЗНАЧЕНИЕ 1</a:t>
            </a:r>
            <a:endParaRPr lang="en-US" sz="882" b="1" dirty="0">
              <a:solidFill>
                <a:srgbClr val="1F497D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234558" y="2961749"/>
            <a:ext cx="1058021" cy="228076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882" b="1" dirty="0">
                <a:solidFill>
                  <a:srgbClr val="F088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ЗНАЧЕНИЕ 2</a:t>
            </a:r>
            <a:endParaRPr lang="en-US" sz="882" b="1" dirty="0">
              <a:solidFill>
                <a:srgbClr val="F088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234559" y="3393141"/>
            <a:ext cx="1058021" cy="22807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882" b="1" dirty="0">
                <a:solidFill>
                  <a:schemeClr val="bg1">
                    <a:lumMod val="50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ЗНАЧЕНИЕ 3</a:t>
            </a:r>
            <a:endParaRPr lang="en-US" sz="882" b="1" dirty="0">
              <a:solidFill>
                <a:schemeClr val="bg1">
                  <a:lumMod val="50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35" name="Прямоугольник 34"/>
          <p:cNvSpPr/>
          <p:nvPr/>
        </p:nvSpPr>
        <p:spPr>
          <a:xfrm>
            <a:off x="548457" y="1106463"/>
            <a:ext cx="6912767" cy="30777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r>
              <a:rPr lang="ru-RU" sz="16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 ГРАФИКА ИЛИ ДИАГРАММЫ</a:t>
            </a:r>
            <a:endParaRPr lang="en-US" sz="1600" b="1" dirty="0">
              <a:solidFill>
                <a:srgbClr val="F184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D04FE608-3A12-4AB2-895B-0A66CBE89ABF}"/>
              </a:ext>
            </a:extLst>
          </p:cNvPr>
          <p:cNvGrpSpPr/>
          <p:nvPr/>
        </p:nvGrpSpPr>
        <p:grpSpPr>
          <a:xfrm>
            <a:off x="10677725" y="3034881"/>
            <a:ext cx="2107625" cy="1884185"/>
            <a:chOff x="10749288" y="9153806"/>
            <a:chExt cx="2730007" cy="2608674"/>
          </a:xfrm>
          <a:solidFill>
            <a:srgbClr val="00396A"/>
          </a:solidFill>
        </p:grpSpPr>
        <p:sp>
          <p:nvSpPr>
            <p:cNvPr id="28" name="Прямоугольник: скругленные углы 27">
              <a:extLst>
                <a:ext uri="{FF2B5EF4-FFF2-40B4-BE49-F238E27FC236}">
                  <a16:creationId xmlns:a16="http://schemas.microsoft.com/office/drawing/2014/main" id="{442262A8-8AB8-4E89-AF00-62B6C7750325}"/>
                </a:ext>
              </a:extLst>
            </p:cNvPr>
            <p:cNvSpPr/>
            <p:nvPr/>
          </p:nvSpPr>
          <p:spPr>
            <a:xfrm>
              <a:off x="11170026" y="9153806"/>
              <a:ext cx="2309269" cy="2608674"/>
            </a:xfrm>
            <a:prstGeom prst="roundRect">
              <a:avLst>
                <a:gd name="adj" fmla="val 8073"/>
              </a:avLst>
            </a:prstGeom>
            <a:grpFill/>
            <a:ln>
              <a:noFill/>
            </a:ln>
          </p:spPr>
          <p:txBody>
            <a:bodyPr wrap="square" lIns="180170" tIns="52202" rIns="180170" bIns="52202" anchor="ctr">
              <a:noAutofit/>
            </a:bodyPr>
            <a:lstStyle/>
            <a:p>
              <a:pPr defTabSz="1142502"/>
              <a:r>
                <a:rPr lang="ru-RU" altLang="ru-RU" sz="1323" b="1" dirty="0">
                  <a:solidFill>
                    <a:schemeClr val="bg1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ВАЖНАЯ ИНФОРМАЦИЯ </a:t>
              </a:r>
            </a:p>
            <a:p>
              <a:pPr defTabSz="1142502"/>
              <a:r>
                <a:rPr lang="ru-RU" altLang="ru-RU" sz="1323" b="1" dirty="0">
                  <a:solidFill>
                    <a:schemeClr val="bg1"/>
                  </a:solidFill>
                  <a:latin typeface="Liberation Sans" panose="020B0604020202020204" pitchFamily="34" charset="0"/>
                  <a:ea typeface="Liberation Sans" panose="020B0604020202020204" pitchFamily="34" charset="0"/>
                  <a:cs typeface="Liberation Sans" panose="020B0604020202020204" pitchFamily="34" charset="0"/>
                </a:rPr>
                <a:t>ИЛИ ВЫВОД</a:t>
              </a:r>
            </a:p>
          </p:txBody>
        </p: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CB6FF052-432D-4AC8-A36A-641079585A58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0749288" y="9175265"/>
              <a:ext cx="445245" cy="899467"/>
            </a:xfrm>
            <a:custGeom>
              <a:avLst/>
              <a:gdLst>
                <a:gd name="T0" fmla="*/ 0 w 287"/>
                <a:gd name="T1" fmla="*/ 0 h 671"/>
                <a:gd name="T2" fmla="*/ 0 w 287"/>
                <a:gd name="T3" fmla="*/ 394 h 671"/>
                <a:gd name="T4" fmla="*/ 287 w 287"/>
                <a:gd name="T5" fmla="*/ 671 h 671"/>
                <a:gd name="T6" fmla="*/ 0 w 287"/>
                <a:gd name="T7" fmla="*/ 0 h 671"/>
                <a:gd name="T8" fmla="*/ 0 w 287"/>
                <a:gd name="T9" fmla="*/ 0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7" h="671">
                  <a:moveTo>
                    <a:pt x="0" y="0"/>
                  </a:moveTo>
                  <a:lnTo>
                    <a:pt x="0" y="394"/>
                  </a:lnTo>
                  <a:lnTo>
                    <a:pt x="287" y="67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526" tIns="45763" rIns="91526" bIns="45763" numCol="1" anchor="t" anchorCtr="0" compatLnSpc="1">
              <a:prstTxWarp prst="textNoShape">
                <a:avLst/>
              </a:prstTxWarp>
            </a:bodyPr>
            <a:lstStyle/>
            <a:p>
              <a:endParaRPr lang="ru-RU" sz="10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171520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56F29922-11AC-4013-94D6-66E966A8E771}"/>
              </a:ext>
            </a:extLst>
          </p:cNvPr>
          <p:cNvSpPr/>
          <p:nvPr/>
        </p:nvSpPr>
        <p:spPr>
          <a:xfrm>
            <a:off x="7101260" y="1204782"/>
            <a:ext cx="5652555" cy="5184576"/>
          </a:xfrm>
          <a:prstGeom prst="roundRect">
            <a:avLst>
              <a:gd name="adj" fmla="val 3724"/>
            </a:avLst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8457" y="240858"/>
            <a:ext cx="11509530" cy="43771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99" tIns="52150" rIns="104299" bIns="5215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4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слайда</a:t>
            </a:r>
          </a:p>
        </p:txBody>
      </p:sp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676434" y="1840148"/>
            <a:ext cx="5780534" cy="4516333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lIns="94789" tIns="47502" rIns="94789" bIns="47502">
            <a:noAutofit/>
          </a:bodyPr>
          <a:lstStyle>
            <a:defPPr>
              <a:defRPr lang="ru-RU"/>
            </a:defPPr>
            <a:lvl1pPr marL="85725" algn="just" defTabSz="965200">
              <a:spcAft>
                <a:spcPts val="300"/>
              </a:spcAft>
              <a:buClr>
                <a:srgbClr val="F76C03"/>
              </a:buClr>
              <a:buSzPct val="120000"/>
              <a:tabLst>
                <a:tab pos="354013" algn="l"/>
              </a:tabLst>
              <a:defRPr sz="1100" baseline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403641" y="1864097"/>
            <a:ext cx="5140783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текста с буллитами Образец текста с буллитами</a:t>
            </a:r>
          </a:p>
          <a:p>
            <a:pPr marL="177795" lvl="2" indent="-177795" defTabSz="1019142"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ru-RU" sz="1200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76434" y="1332359"/>
            <a:ext cx="5780534" cy="50779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r>
              <a:rPr lang="ru-RU" sz="16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 БЛОКА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7351762" y="1332359"/>
            <a:ext cx="3505200" cy="50779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r>
              <a:rPr lang="ru-RU" sz="16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 БЛОКА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818" y="6697412"/>
            <a:ext cx="9359845" cy="210922"/>
          </a:xfrm>
          <a:prstGeom prst="rect">
            <a:avLst/>
          </a:prstGeom>
          <a:noFill/>
        </p:spPr>
        <p:txBody>
          <a:bodyPr wrap="square" lIns="86970" tIns="43481" rIns="86970" bIns="43481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* Примечание: образец текста примечания или сноски 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2A43E5E8-9BA0-43CB-8DB7-D29B838F2FBE}"/>
              </a:ext>
            </a:extLst>
          </p:cNvPr>
          <p:cNvSpPr/>
          <p:nvPr/>
        </p:nvSpPr>
        <p:spPr>
          <a:xfrm>
            <a:off x="548457" y="1204782"/>
            <a:ext cx="6278764" cy="5184576"/>
          </a:xfrm>
          <a:prstGeom prst="roundRect">
            <a:avLst>
              <a:gd name="adj" fmla="val 3919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830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Объект 8" hidden="1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370015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Слайд think-cell" r:id="rId170" imgW="270" imgH="270" progId="TCLayout.ActiveDocument.1">
                  <p:embed/>
                </p:oleObj>
              </mc:Choice>
              <mc:Fallback>
                <p:oleObj name="Слайд think-cell" r:id="rId170" imgW="270" imgH="270" progId="TCLayout.ActiveDocument.1">
                  <p:embed/>
                  <p:pic>
                    <p:nvPicPr>
                      <p:cNvPr id="9" name="Объект 8" hidden="1"/>
                      <p:cNvPicPr/>
                      <p:nvPr/>
                    </p:nvPicPr>
                    <p:blipFill>
                      <a:blip r:embed="rId171"/>
                      <a:stretch>
                        <a:fillRect/>
                      </a:stretch>
                    </p:blipFill>
                    <p:spPr>
                      <a:xfrm>
                        <a:off x="1370015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Прямоугольник 9" hidden="1"/>
          <p:cNvSpPr/>
          <p:nvPr>
            <p:custDataLst>
              <p:tags r:id="rId4"/>
            </p:custDataLst>
          </p:nvPr>
        </p:nvSpPr>
        <p:spPr>
          <a:xfrm>
            <a:off x="1368425" y="1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ru-RU" sz="1100" b="1" dirty="0">
              <a:solidFill>
                <a:prstClr val="white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4" name="Заголовок 3"/>
          <p:cNvSpPr>
            <a:spLocks noGrp="1"/>
          </p:cNvSpPr>
          <p:nvPr>
            <p:ph type="title"/>
          </p:nvPr>
        </p:nvSpPr>
        <p:spPr>
          <a:xfrm>
            <a:off x="548457" y="240858"/>
            <a:ext cx="11509530" cy="43771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99" tIns="52150" rIns="104299" bIns="5215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4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слайда</a:t>
            </a:r>
          </a:p>
        </p:txBody>
      </p:sp>
      <p:cxnSp>
        <p:nvCxnSpPr>
          <p:cNvPr id="15" name="Прямая соединительная линия 14"/>
          <p:cNvCxnSpPr/>
          <p:nvPr>
            <p:custDataLst>
              <p:tags r:id="rId5"/>
            </p:custDataLst>
          </p:nvPr>
        </p:nvCxnSpPr>
        <p:spPr bwMode="auto">
          <a:xfrm>
            <a:off x="1585366" y="1903313"/>
            <a:ext cx="2667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>
            <p:custDataLst>
              <p:tags r:id="rId6"/>
            </p:custDataLst>
          </p:nvPr>
        </p:nvCxnSpPr>
        <p:spPr bwMode="auto">
          <a:xfrm>
            <a:off x="3390354" y="1912838"/>
            <a:ext cx="8699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Прямоугольник 36"/>
          <p:cNvSpPr/>
          <p:nvPr>
            <p:custDataLst>
              <p:tags r:id="rId7"/>
            </p:custDataLst>
          </p:nvPr>
        </p:nvSpPr>
        <p:spPr bwMode="auto">
          <a:xfrm>
            <a:off x="1852066" y="1903314"/>
            <a:ext cx="334963" cy="9525"/>
          </a:xfrm>
          <a:prstGeom prst="rect">
            <a:avLst/>
          </a:prstGeom>
          <a:noFill/>
          <a:ln w="19050" cap="flat" cmpd="sng" algn="ctr">
            <a:solidFill>
              <a:srgbClr val="E46C0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5" name="Прямоугольник 24"/>
          <p:cNvSpPr/>
          <p:nvPr>
            <p:custDataLst>
              <p:tags r:id="rId8"/>
            </p:custDataLst>
          </p:nvPr>
        </p:nvSpPr>
        <p:spPr bwMode="auto">
          <a:xfrm>
            <a:off x="3055391" y="1909663"/>
            <a:ext cx="334963" cy="63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6F8DB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ru-RU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graphicFrame>
        <p:nvGraphicFramePr>
          <p:cNvPr id="214" name="Chart 3"/>
          <p:cNvGraphicFramePr/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2430768607"/>
              </p:ext>
            </p:extLst>
          </p:nvPr>
        </p:nvGraphicFramePr>
        <p:xfrm>
          <a:off x="431254" y="1731864"/>
          <a:ext cx="4379911" cy="2071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2"/>
          </a:graphicData>
        </a:graphic>
      </p:graphicFrame>
      <p:sp useBgFill="1">
        <p:nvSpPr>
          <p:cNvPr id="63" name="Полилиния 62"/>
          <p:cNvSpPr/>
          <p:nvPr>
            <p:custDataLst>
              <p:tags r:id="rId10"/>
            </p:custDataLst>
          </p:nvPr>
        </p:nvSpPr>
        <p:spPr bwMode="auto">
          <a:xfrm>
            <a:off x="1229767" y="3454301"/>
            <a:ext cx="374651" cy="158751"/>
          </a:xfrm>
          <a:custGeom>
            <a:avLst/>
            <a:gdLst/>
            <a:ahLst/>
            <a:cxnLst/>
            <a:rect l="0" t="0" r="0" b="0"/>
            <a:pathLst>
              <a:path w="374651" h="158751">
                <a:moveTo>
                  <a:pt x="0" y="101600"/>
                </a:moveTo>
                <a:lnTo>
                  <a:pt x="374650" y="0"/>
                </a:lnTo>
                <a:lnTo>
                  <a:pt x="374650" y="57150"/>
                </a:lnTo>
                <a:lnTo>
                  <a:pt x="0" y="158750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62" name="Полилиния 61"/>
          <p:cNvSpPr/>
          <p:nvPr>
            <p:custDataLst>
              <p:tags r:id="rId11"/>
            </p:custDataLst>
          </p:nvPr>
        </p:nvSpPr>
        <p:spPr bwMode="auto">
          <a:xfrm>
            <a:off x="628104" y="3455890"/>
            <a:ext cx="373063" cy="157162"/>
          </a:xfrm>
          <a:custGeom>
            <a:avLst/>
            <a:gdLst/>
            <a:ahLst/>
            <a:cxnLst/>
            <a:rect l="0" t="0" r="0" b="0"/>
            <a:pathLst>
              <a:path w="373063" h="157163">
                <a:moveTo>
                  <a:pt x="0" y="100012"/>
                </a:moveTo>
                <a:lnTo>
                  <a:pt x="373062" y="0"/>
                </a:lnTo>
                <a:lnTo>
                  <a:pt x="373062" y="57150"/>
                </a:lnTo>
                <a:lnTo>
                  <a:pt x="0" y="157162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448" name="Полилиния 447"/>
          <p:cNvSpPr/>
          <p:nvPr>
            <p:custDataLst>
              <p:tags r:id="rId12"/>
            </p:custDataLst>
          </p:nvPr>
        </p:nvSpPr>
        <p:spPr bwMode="auto">
          <a:xfrm>
            <a:off x="4236491" y="3454300"/>
            <a:ext cx="382589" cy="160339"/>
          </a:xfrm>
          <a:custGeom>
            <a:avLst/>
            <a:gdLst/>
            <a:ahLst/>
            <a:cxnLst/>
            <a:rect l="0" t="0" r="0" b="0"/>
            <a:pathLst>
              <a:path w="382589" h="160339">
                <a:moveTo>
                  <a:pt x="0" y="103188"/>
                </a:moveTo>
                <a:lnTo>
                  <a:pt x="382588" y="0"/>
                </a:lnTo>
                <a:lnTo>
                  <a:pt x="382588" y="57150"/>
                </a:lnTo>
                <a:lnTo>
                  <a:pt x="0" y="160338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cxnSp>
        <p:nvCxnSpPr>
          <p:cNvPr id="45" name="Прямая соединительная линия 44"/>
          <p:cNvCxnSpPr/>
          <p:nvPr>
            <p:custDataLst>
              <p:tags r:id="rId13"/>
            </p:custDataLst>
          </p:nvPr>
        </p:nvCxnSpPr>
        <p:spPr bwMode="auto">
          <a:xfrm flipV="1">
            <a:off x="1417090" y="1528663"/>
            <a:ext cx="0" cy="14287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/>
          <p:cNvCxnSpPr/>
          <p:nvPr>
            <p:custDataLst>
              <p:tags r:id="rId14"/>
            </p:custDataLst>
          </p:nvPr>
        </p:nvCxnSpPr>
        <p:spPr bwMode="auto">
          <a:xfrm>
            <a:off x="1417090" y="1528663"/>
            <a:ext cx="30099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/>
          <p:nvPr>
            <p:custDataLst>
              <p:tags r:id="rId15"/>
            </p:custDataLst>
          </p:nvPr>
        </p:nvCxnSpPr>
        <p:spPr bwMode="auto">
          <a:xfrm>
            <a:off x="4426991" y="1528664"/>
            <a:ext cx="0" cy="152399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/>
          <p:cNvCxnSpPr/>
          <p:nvPr>
            <p:custDataLst>
              <p:tags r:id="rId16"/>
            </p:custDataLst>
          </p:nvPr>
        </p:nvCxnSpPr>
        <p:spPr bwMode="auto">
          <a:xfrm flipV="1">
            <a:off x="2018753" y="1908075"/>
            <a:ext cx="0" cy="3016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>
            <p:custDataLst>
              <p:tags r:id="rId17"/>
            </p:custDataLst>
          </p:nvPr>
        </p:nvCxnSpPr>
        <p:spPr bwMode="auto">
          <a:xfrm flipV="1">
            <a:off x="3222078" y="1912838"/>
            <a:ext cx="0" cy="254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Прямая соединительная линия 140"/>
          <p:cNvCxnSpPr/>
          <p:nvPr>
            <p:custDataLst>
              <p:tags r:id="rId18"/>
            </p:custDataLst>
          </p:nvPr>
        </p:nvCxnSpPr>
        <p:spPr bwMode="auto">
          <a:xfrm flipH="1">
            <a:off x="4615902" y="3041552"/>
            <a:ext cx="96838" cy="746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Текст 2"/>
          <p:cNvSpPr>
            <a:spLocks noGrp="1"/>
          </p:cNvSpPr>
          <p:nvPr>
            <p:custDataLst>
              <p:tags r:id="rId19"/>
            </p:custDataLst>
          </p:nvPr>
        </p:nvSpPr>
        <p:spPr bwMode="gray">
          <a:xfrm>
            <a:off x="4330154" y="3055839"/>
            <a:ext cx="195263" cy="122238"/>
          </a:xfrm>
          <a:prstGeom prst="rect">
            <a:avLst/>
          </a:prstGeom>
          <a:solidFill>
            <a:srgbClr val="C3CFE1"/>
          </a:solidFill>
          <a:ln>
            <a:noFill/>
          </a:ln>
        </p:spPr>
        <p:txBody>
          <a:bodyPr vert="horz" wrap="none" lIns="14288" tIns="0" rIns="14288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C892FBB6-2C4F-4998-8F47-CFE6F46EBD13}" type="datetime'''''''''''''48''''6''''''''''''''''''''''''''''''''''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486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81" name="Текст 2"/>
          <p:cNvSpPr>
            <a:spLocks noGrp="1"/>
          </p:cNvSpPr>
          <p:nvPr>
            <p:custDataLst>
              <p:tags r:id="rId20"/>
            </p:custDataLst>
          </p:nvPr>
        </p:nvSpPr>
        <p:spPr bwMode="auto">
          <a:xfrm>
            <a:off x="645565" y="3763864"/>
            <a:ext cx="336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BDE8C627-561C-42FE-BA07-08D088E13615}" type="datetime'''''''201''''''''''9''''''''''&#10; ''''''''Ф''''''''''а''кт'''">
              <a:rPr lang="ru-RU" altLang="en-US" sz="10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2019
 Факт</a:t>
            </a:fld>
            <a:endParaRPr lang="ru-RU" sz="10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79" name="Текст 2"/>
          <p:cNvSpPr>
            <a:spLocks noGrp="1"/>
          </p:cNvSpPr>
          <p:nvPr>
            <p:custDataLst>
              <p:tags r:id="rId21"/>
            </p:custDataLst>
          </p:nvPr>
        </p:nvSpPr>
        <p:spPr bwMode="auto">
          <a:xfrm>
            <a:off x="1251991" y="3763864"/>
            <a:ext cx="3317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33A5FCC7-42E1-4D2E-AC71-7A24B34954F6}" type="datetime''''''''''''''' ''''''''2''''''02''''''0&#10; ''''Б''''П'">
              <a:rPr lang="ru-RU" altLang="en-US" sz="10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 2020
 БП</a:t>
            </a:fld>
            <a:endParaRPr lang="ru-RU" sz="10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89" name="Текст 2"/>
          <p:cNvSpPr>
            <a:spLocks noGrp="1"/>
          </p:cNvSpPr>
          <p:nvPr>
            <p:custDataLst>
              <p:tags r:id="rId22"/>
            </p:custDataLst>
          </p:nvPr>
        </p:nvSpPr>
        <p:spPr bwMode="gray">
          <a:xfrm>
            <a:off x="1634579" y="1938238"/>
            <a:ext cx="76835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2" tIns="0" rIns="15872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684059C3-CA2D-4A4D-AC48-757FA2451E9F}" type="datetime'''Ин''''''те''''''''р ''''''''Р''АО''''''''''''-''''''ЭГ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Интер РАО-ЭГ</a:t>
            </a:fld>
            <a:br>
              <a:rPr lang="ru-RU" altLang="en-US" sz="9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4548FA04-2179-4044-9704-74D34F4680BB}" type="datetime'''''''''''''''''''''''''''''-''7''''''9''''''''''''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-79</a:t>
            </a:fld>
            <a:endParaRPr lang="ru-RU" sz="9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17" name="Текст 2"/>
          <p:cNvSpPr>
            <a:spLocks noGrp="1"/>
          </p:cNvSpPr>
          <p:nvPr>
            <p:custDataLst>
              <p:tags r:id="rId23"/>
            </p:custDataLst>
          </p:nvPr>
        </p:nvSpPr>
        <p:spPr bwMode="gray">
          <a:xfrm>
            <a:off x="3109365" y="1938238"/>
            <a:ext cx="225426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15872" tIns="0" rIns="15872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CED79D1B-DF88-452B-87EE-77A65ECFFD7C}" type="datetime'''''''''''БГК''''''''''''''''''''''''''''''''''''''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БГК</a:t>
            </a:fld>
            <a:br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9CB1320F-47F2-4BD1-BCAB-3209A05F2040}" type="datetime'''''''''''''''''''''''''''''''''''''1''2''''''''''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12</a:t>
            </a:fld>
            <a:endParaRPr lang="ru-RU" sz="9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91" name="Текст 2"/>
          <p:cNvSpPr>
            <a:spLocks noGrp="1"/>
          </p:cNvSpPr>
          <p:nvPr>
            <p:custDataLst>
              <p:tags r:id="rId24"/>
            </p:custDataLst>
          </p:nvPr>
        </p:nvSpPr>
        <p:spPr bwMode="gray">
          <a:xfrm>
            <a:off x="4258715" y="3592414"/>
            <a:ext cx="338138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3CFE1"/>
                </a:solidFill>
              </a14:hiddenFill>
            </a:ext>
          </a:extLst>
        </p:spPr>
        <p:txBody>
          <a:bodyPr vert="horz" wrap="none" lIns="14288" tIns="0" rIns="14288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7F80231C-0F8A-4E42-8CF1-83BE8472F12E}" type="datetime'''19 7''''''''''''''''''5''''''''''''''''7'''''''''''''">
              <a:rPr lang="en-US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19 757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86" name="Текст 2"/>
          <p:cNvSpPr>
            <a:spLocks noGrp="1"/>
          </p:cNvSpPr>
          <p:nvPr>
            <p:custDataLst>
              <p:tags r:id="rId25"/>
            </p:custDataLst>
          </p:nvPr>
        </p:nvSpPr>
        <p:spPr bwMode="auto">
          <a:xfrm>
            <a:off x="4258716" y="3763864"/>
            <a:ext cx="336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23AAA9B1-B944-48B8-B49E-A0AE5340A3B4}" type="datetime'2''''0''''''2''''''''''''''''''0''&#10;'''' Ф''а''''к''т'''''''">
              <a:rPr lang="ru-RU" altLang="en-US" sz="10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2020
 Факт</a:t>
            </a:fld>
            <a:endParaRPr lang="ru-RU" sz="10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13" name="Текст 2"/>
          <p:cNvSpPr>
            <a:spLocks noGrp="1"/>
          </p:cNvSpPr>
          <p:nvPr>
            <p:custDataLst>
              <p:tags r:id="rId26"/>
            </p:custDataLst>
          </p:nvPr>
        </p:nvSpPr>
        <p:spPr bwMode="auto">
          <a:xfrm>
            <a:off x="4738140" y="1963639"/>
            <a:ext cx="228600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A2DCD0B5-AA15-40E9-8D51-BD06E79139A6}" type="datetime'С''''''''''''К''''''К''''''''''''''''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СКК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14" name="Текст 2"/>
          <p:cNvSpPr>
            <a:spLocks noGrp="1"/>
          </p:cNvSpPr>
          <p:nvPr>
            <p:custDataLst>
              <p:tags r:id="rId27"/>
            </p:custDataLst>
          </p:nvPr>
        </p:nvSpPr>
        <p:spPr bwMode="auto">
          <a:xfrm>
            <a:off x="4738140" y="2192238"/>
            <a:ext cx="7223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FFAC4398-7FAD-4475-BA03-6598CF7AFE37}" type="datetime'''''З''''арубе''ж''ные&#10;'''' ''ак''''т''''''и''''в''ы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Зарубежные
 активы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15" name="Текст 2"/>
          <p:cNvSpPr>
            <a:spLocks noGrp="1"/>
          </p:cNvSpPr>
          <p:nvPr>
            <p:custDataLst>
              <p:tags r:id="rId28"/>
            </p:custDataLst>
          </p:nvPr>
        </p:nvSpPr>
        <p:spPr bwMode="auto">
          <a:xfrm>
            <a:off x="4738140" y="2685951"/>
            <a:ext cx="215900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F60885FF-A1CA-4CDD-951E-ED577686071E}" type="datetime'''''''''''Б''Г''''''''К''''''''''''''''''''''''''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БГК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16" name="Текст 2"/>
          <p:cNvSpPr>
            <a:spLocks noGrp="1"/>
          </p:cNvSpPr>
          <p:nvPr>
            <p:custDataLst>
              <p:tags r:id="rId29"/>
            </p:custDataLst>
          </p:nvPr>
        </p:nvSpPr>
        <p:spPr bwMode="auto">
          <a:xfrm>
            <a:off x="4738141" y="2889150"/>
            <a:ext cx="6048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E214827D-C974-4564-BE7B-A76C68E553DE}" type="datetime'То''м''с''к''ая'' ''''''&#10;г''ене''р''''''аци''''я''''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Томская 
генерация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87" name="Текст 2"/>
          <p:cNvSpPr>
            <a:spLocks noGrp="1"/>
          </p:cNvSpPr>
          <p:nvPr>
            <p:custDataLst>
              <p:tags r:id="rId30"/>
            </p:custDataLst>
          </p:nvPr>
        </p:nvSpPr>
        <p:spPr bwMode="auto">
          <a:xfrm>
            <a:off x="4738140" y="3244751"/>
            <a:ext cx="401638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EA850D02-9680-48CD-A635-19672ED135A7}" type="datetime'Т''''Г''''''''К''''''''-''''''''''1''''''1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ТГК-11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90" name="Текст 2"/>
          <p:cNvSpPr>
            <a:spLocks noGrp="1"/>
          </p:cNvSpPr>
          <p:nvPr>
            <p:custDataLst>
              <p:tags r:id="rId31"/>
            </p:custDataLst>
          </p:nvPr>
        </p:nvSpPr>
        <p:spPr bwMode="auto">
          <a:xfrm>
            <a:off x="4738141" y="3457477"/>
            <a:ext cx="815975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F2F49413-C954-4B55-9C0D-C5C357A2B397}" type="datetime'И''''''н''''''''т''ер ''''Р''''А''О''''''''-''''''''''''''ЭГ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Интер РАО-ЭГ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40" name="Текст 2"/>
          <p:cNvSpPr>
            <a:spLocks noGrp="1"/>
          </p:cNvSpPr>
          <p:nvPr>
            <p:custDataLst>
              <p:tags r:id="rId32"/>
            </p:custDataLst>
          </p:nvPr>
        </p:nvSpPr>
        <p:spPr bwMode="gray">
          <a:xfrm>
            <a:off x="550315" y="1620738"/>
            <a:ext cx="5270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0634" tIns="0" rIns="20634" bIns="0" numCol="1" spcCol="0" rtlCol="0" anchor="b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CB5C08B5-2117-4AB0-B2FF-511BF25FA189}" type="datetime'''''3''''''''''''''''''1 ''''8''''''''6''0'''''''">
              <a:rPr lang="en-US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31 860</a:t>
            </a:fld>
            <a:endParaRPr lang="ru-RU" sz="1100" b="1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99" name="Текст 2"/>
          <p:cNvSpPr>
            <a:spLocks noGrp="1"/>
          </p:cNvSpPr>
          <p:nvPr>
            <p:custDataLst>
              <p:tags r:id="rId33"/>
            </p:custDataLst>
          </p:nvPr>
        </p:nvSpPr>
        <p:spPr bwMode="gray">
          <a:xfrm>
            <a:off x="1153565" y="1709639"/>
            <a:ext cx="5270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0634" tIns="0" rIns="20634" bIns="0" numCol="1" spcCol="0" rtlCol="0" anchor="b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B5305A3D-2637-4E5C-BB2F-A6A91297A269}" type="datetime'3''''''''''1'' ''15''''''''''''''''''''''''''''''5'''">
              <a:rPr lang="en-US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31 155</a:t>
            </a:fld>
            <a:endParaRPr lang="ru-RU" sz="1100" b="1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18" name="Текст 2"/>
          <p:cNvSpPr>
            <a:spLocks noGrp="1"/>
          </p:cNvSpPr>
          <p:nvPr>
            <p:custDataLst>
              <p:tags r:id="rId34"/>
            </p:custDataLst>
          </p:nvPr>
        </p:nvSpPr>
        <p:spPr bwMode="gray">
          <a:xfrm>
            <a:off x="4163466" y="1719164"/>
            <a:ext cx="5270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0634" tIns="0" rIns="20634" bIns="0" numCol="1" spcCol="0" rtlCol="0" anchor="b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E36DEE51-DFB3-4B6F-97D4-57D2E20AABEC}" type="datetime'''''''''''3''''''1'' ''0''''''''''8''''''''''8'''''''">
              <a:rPr lang="en-US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31 088</a:t>
            </a:fld>
            <a:endParaRPr lang="ru-RU" sz="1100" b="1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57" name="Текст 2"/>
          <p:cNvSpPr>
            <a:spLocks noGrp="1"/>
          </p:cNvSpPr>
          <p:nvPr>
            <p:custDataLst>
              <p:tags r:id="rId35"/>
            </p:custDataLst>
          </p:nvPr>
        </p:nvSpPr>
        <p:spPr bwMode="auto">
          <a:xfrm>
            <a:off x="2455117" y="1290539"/>
            <a:ext cx="815975" cy="476250"/>
          </a:xfrm>
          <a:prstGeom prst="ellipse">
            <a:avLst/>
          </a:prstGeom>
          <a:solidFill>
            <a:schemeClr val="bg1"/>
          </a:solidFill>
          <a:ln w="9525" algn="ctr"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E64AFF10-A5E1-426A-A9FC-C3CCF9B9D8FA}" type="datetime'-''''6''''''''''''''''''7'''''''''''''''''''''''''"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-67</a:t>
            </a:fld>
            <a:br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r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t>(</a:t>
            </a:r>
            <a:fld id="{B6DE4A66-D511-4E17-A10C-AABD6FDD1589}" type="datetime'''-0,''''''2''''''%'''''''''''''''''''''''"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-0,2%</a:t>
            </a:fld>
            <a:r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t>)</a:t>
            </a:r>
            <a:endParaRPr lang="ru-RU" sz="1300" b="1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cxnSp>
        <p:nvCxnSpPr>
          <p:cNvPr id="464" name="Прямая соединительная линия 463"/>
          <p:cNvCxnSpPr/>
          <p:nvPr>
            <p:custDataLst>
              <p:tags r:id="rId36"/>
            </p:custDataLst>
          </p:nvPr>
        </p:nvCxnSpPr>
        <p:spPr bwMode="auto">
          <a:xfrm flipH="1">
            <a:off x="2187029" y="1912838"/>
            <a:ext cx="8683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Прямая соединительная линия 166"/>
          <p:cNvCxnSpPr/>
          <p:nvPr>
            <p:custDataLst>
              <p:tags r:id="rId37"/>
            </p:custDataLst>
          </p:nvPr>
        </p:nvCxnSpPr>
        <p:spPr bwMode="auto">
          <a:xfrm>
            <a:off x="9050712" y="2290663"/>
            <a:ext cx="1555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>
            <p:custDataLst>
              <p:tags r:id="rId38"/>
            </p:custDataLst>
          </p:nvPr>
        </p:nvCxnSpPr>
        <p:spPr bwMode="auto">
          <a:xfrm>
            <a:off x="10455650" y="2301775"/>
            <a:ext cx="1555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>
            <p:custDataLst>
              <p:tags r:id="rId39"/>
            </p:custDataLst>
          </p:nvPr>
        </p:nvCxnSpPr>
        <p:spPr bwMode="auto">
          <a:xfrm>
            <a:off x="10923962" y="2381150"/>
            <a:ext cx="1555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единительная линия 101"/>
          <p:cNvCxnSpPr/>
          <p:nvPr>
            <p:custDataLst>
              <p:tags r:id="rId40"/>
            </p:custDataLst>
          </p:nvPr>
        </p:nvCxnSpPr>
        <p:spPr bwMode="auto">
          <a:xfrm>
            <a:off x="9987337" y="2319238"/>
            <a:ext cx="1555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Прямая соединительная линия 96"/>
          <p:cNvCxnSpPr/>
          <p:nvPr>
            <p:custDataLst>
              <p:tags r:id="rId41"/>
            </p:custDataLst>
          </p:nvPr>
        </p:nvCxnSpPr>
        <p:spPr bwMode="auto">
          <a:xfrm>
            <a:off x="9519024" y="2298600"/>
            <a:ext cx="1555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Прямая соединительная линия 98"/>
          <p:cNvCxnSpPr/>
          <p:nvPr>
            <p:custDataLst>
              <p:tags r:id="rId42"/>
            </p:custDataLst>
          </p:nvPr>
        </p:nvCxnSpPr>
        <p:spPr bwMode="auto">
          <a:xfrm>
            <a:off x="8114087" y="1830288"/>
            <a:ext cx="1555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Прямая соединительная линия 97"/>
          <p:cNvCxnSpPr/>
          <p:nvPr>
            <p:custDataLst>
              <p:tags r:id="rId43"/>
            </p:custDataLst>
          </p:nvPr>
        </p:nvCxnSpPr>
        <p:spPr bwMode="auto">
          <a:xfrm>
            <a:off x="8582401" y="2279549"/>
            <a:ext cx="1555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Прямоугольник 167"/>
          <p:cNvSpPr/>
          <p:nvPr>
            <p:custDataLst>
              <p:tags r:id="rId44"/>
            </p:custDataLst>
          </p:nvPr>
        </p:nvSpPr>
        <p:spPr bwMode="auto">
          <a:xfrm>
            <a:off x="9206284" y="2290663"/>
            <a:ext cx="312738" cy="7938"/>
          </a:xfrm>
          <a:prstGeom prst="rect">
            <a:avLst/>
          </a:prstGeom>
          <a:solidFill>
            <a:srgbClr val="E46C0A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ru-RU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49" name="Прямоугольник 48"/>
          <p:cNvSpPr/>
          <p:nvPr>
            <p:custDataLst>
              <p:tags r:id="rId45"/>
            </p:custDataLst>
          </p:nvPr>
        </p:nvSpPr>
        <p:spPr bwMode="auto">
          <a:xfrm>
            <a:off x="8737971" y="2279551"/>
            <a:ext cx="312738" cy="11113"/>
          </a:xfrm>
          <a:prstGeom prst="rect">
            <a:avLst/>
          </a:prstGeom>
          <a:solidFill>
            <a:srgbClr val="E46C0A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ru-RU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graphicFrame>
        <p:nvGraphicFramePr>
          <p:cNvPr id="200" name="Chart 3"/>
          <p:cNvGraphicFramePr/>
          <p:nvPr>
            <p:custDataLst>
              <p:tags r:id="rId46"/>
            </p:custDataLst>
            <p:extLst>
              <p:ext uri="{D42A27DB-BD31-4B8C-83A1-F6EECF244321}">
                <p14:modId xmlns:p14="http://schemas.microsoft.com/office/powerpoint/2010/main" val="146528431"/>
              </p:ext>
            </p:extLst>
          </p:nvPr>
        </p:nvGraphicFramePr>
        <p:xfrm>
          <a:off x="7172697" y="1731864"/>
          <a:ext cx="4379913" cy="2071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3"/>
          </a:graphicData>
        </a:graphic>
      </p:graphicFrame>
      <p:sp useBgFill="1">
        <p:nvSpPr>
          <p:cNvPr id="8" name="Полилиния 7"/>
          <p:cNvSpPr/>
          <p:nvPr>
            <p:custDataLst>
              <p:tags r:id="rId47"/>
            </p:custDataLst>
          </p:nvPr>
        </p:nvSpPr>
        <p:spPr bwMode="auto">
          <a:xfrm>
            <a:off x="7313985" y="3495575"/>
            <a:ext cx="350838" cy="152401"/>
          </a:xfrm>
          <a:custGeom>
            <a:avLst/>
            <a:gdLst/>
            <a:ahLst/>
            <a:cxnLst/>
            <a:rect l="0" t="0" r="0" b="0"/>
            <a:pathLst>
              <a:path w="350838" h="152401">
                <a:moveTo>
                  <a:pt x="0" y="95250"/>
                </a:moveTo>
                <a:lnTo>
                  <a:pt x="350837" y="0"/>
                </a:lnTo>
                <a:lnTo>
                  <a:pt x="350837" y="57150"/>
                </a:lnTo>
                <a:lnTo>
                  <a:pt x="0" y="152400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11" name="Полилиния 10"/>
          <p:cNvSpPr/>
          <p:nvPr>
            <p:custDataLst>
              <p:tags r:id="rId48"/>
            </p:custDataLst>
          </p:nvPr>
        </p:nvSpPr>
        <p:spPr bwMode="auto">
          <a:xfrm>
            <a:off x="7782297" y="3495575"/>
            <a:ext cx="350839" cy="152401"/>
          </a:xfrm>
          <a:custGeom>
            <a:avLst/>
            <a:gdLst/>
            <a:ahLst/>
            <a:cxnLst/>
            <a:rect l="0" t="0" r="0" b="0"/>
            <a:pathLst>
              <a:path w="350839" h="152401">
                <a:moveTo>
                  <a:pt x="0" y="95250"/>
                </a:moveTo>
                <a:lnTo>
                  <a:pt x="350838" y="0"/>
                </a:lnTo>
                <a:lnTo>
                  <a:pt x="350838" y="57150"/>
                </a:lnTo>
                <a:lnTo>
                  <a:pt x="0" y="152400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12" name="Полилиния 11"/>
          <p:cNvSpPr/>
          <p:nvPr>
            <p:custDataLst>
              <p:tags r:id="rId49"/>
            </p:custDataLst>
          </p:nvPr>
        </p:nvSpPr>
        <p:spPr bwMode="auto">
          <a:xfrm>
            <a:off x="11055722" y="3495576"/>
            <a:ext cx="360364" cy="153989"/>
          </a:xfrm>
          <a:custGeom>
            <a:avLst/>
            <a:gdLst/>
            <a:ahLst/>
            <a:cxnLst/>
            <a:rect l="0" t="0" r="0" b="0"/>
            <a:pathLst>
              <a:path w="360364" h="153989">
                <a:moveTo>
                  <a:pt x="0" y="96838"/>
                </a:moveTo>
                <a:lnTo>
                  <a:pt x="360363" y="0"/>
                </a:lnTo>
                <a:lnTo>
                  <a:pt x="360363" y="57150"/>
                </a:lnTo>
                <a:lnTo>
                  <a:pt x="0" y="153988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cxnSp>
        <p:nvCxnSpPr>
          <p:cNvPr id="7" name="Прямая соединительная линия 6"/>
          <p:cNvCxnSpPr/>
          <p:nvPr>
            <p:custDataLst>
              <p:tags r:id="rId50"/>
            </p:custDataLst>
          </p:nvPr>
        </p:nvCxnSpPr>
        <p:spPr bwMode="auto">
          <a:xfrm>
            <a:off x="11235109" y="1522312"/>
            <a:ext cx="0" cy="5476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>
            <p:custDataLst>
              <p:tags r:id="rId51"/>
            </p:custDataLst>
          </p:nvPr>
        </p:nvCxnSpPr>
        <p:spPr bwMode="auto">
          <a:xfrm flipV="1">
            <a:off x="7956921" y="1522314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>
            <p:custDataLst>
              <p:tags r:id="rId52"/>
            </p:custDataLst>
          </p:nvPr>
        </p:nvCxnSpPr>
        <p:spPr bwMode="auto">
          <a:xfrm>
            <a:off x="7956920" y="1522313"/>
            <a:ext cx="32781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/>
          <p:cNvCxnSpPr/>
          <p:nvPr>
            <p:custDataLst>
              <p:tags r:id="rId53"/>
            </p:custDataLst>
          </p:nvPr>
        </p:nvCxnSpPr>
        <p:spPr bwMode="auto">
          <a:xfrm flipH="1">
            <a:off x="11411322" y="2247802"/>
            <a:ext cx="98425" cy="25876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/>
          <p:nvPr>
            <p:custDataLst>
              <p:tags r:id="rId54"/>
            </p:custDataLst>
          </p:nvPr>
        </p:nvCxnSpPr>
        <p:spPr bwMode="auto">
          <a:xfrm flipV="1">
            <a:off x="8893546" y="2285900"/>
            <a:ext cx="0" cy="3016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>
            <p:custDataLst>
              <p:tags r:id="rId55"/>
            </p:custDataLst>
          </p:nvPr>
        </p:nvCxnSpPr>
        <p:spPr bwMode="auto">
          <a:xfrm flipV="1">
            <a:off x="10298484" y="2311301"/>
            <a:ext cx="0" cy="333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>
            <p:custDataLst>
              <p:tags r:id="rId56"/>
            </p:custDataLst>
          </p:nvPr>
        </p:nvCxnSpPr>
        <p:spPr bwMode="auto">
          <a:xfrm flipV="1">
            <a:off x="8372846" y="2203350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/>
          <p:nvPr>
            <p:custDataLst>
              <p:tags r:id="rId57"/>
            </p:custDataLst>
          </p:nvPr>
        </p:nvCxnSpPr>
        <p:spPr bwMode="auto">
          <a:xfrm flipH="1">
            <a:off x="11411322" y="2527200"/>
            <a:ext cx="98425" cy="1682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>
            <p:custDataLst>
              <p:tags r:id="rId58"/>
            </p:custDataLst>
          </p:nvPr>
        </p:nvCxnSpPr>
        <p:spPr bwMode="auto">
          <a:xfrm flipV="1">
            <a:off x="9830171" y="2309714"/>
            <a:ext cx="0" cy="3492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/>
          <p:nvPr>
            <p:custDataLst>
              <p:tags r:id="rId59"/>
            </p:custDataLst>
          </p:nvPr>
        </p:nvCxnSpPr>
        <p:spPr bwMode="auto">
          <a:xfrm flipV="1">
            <a:off x="10766796" y="2341463"/>
            <a:ext cx="0" cy="650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>
            <p:custDataLst>
              <p:tags r:id="rId60"/>
            </p:custDataLst>
          </p:nvPr>
        </p:nvCxnSpPr>
        <p:spPr bwMode="auto">
          <a:xfrm flipH="1">
            <a:off x="11411323" y="3086001"/>
            <a:ext cx="98425" cy="1778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/>
          <p:nvPr>
            <p:custDataLst>
              <p:tags r:id="rId61"/>
            </p:custDataLst>
          </p:nvPr>
        </p:nvCxnSpPr>
        <p:spPr bwMode="auto">
          <a:xfrm flipV="1">
            <a:off x="9361858" y="2295427"/>
            <a:ext cx="0" cy="285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" name="Текст 2"/>
          <p:cNvSpPr>
            <a:spLocks noGrp="1"/>
          </p:cNvSpPr>
          <p:nvPr>
            <p:custDataLst>
              <p:tags r:id="rId62"/>
            </p:custDataLst>
          </p:nvPr>
        </p:nvSpPr>
        <p:spPr bwMode="gray">
          <a:xfrm>
            <a:off x="10608046" y="2406553"/>
            <a:ext cx="31908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3CFE1"/>
                </a:solidFill>
              </a14:hiddenFill>
            </a:ext>
          </a:extLst>
        </p:spPr>
        <p:txBody>
          <a:bodyPr vert="horz" wrap="none" lIns="14288" tIns="0" rIns="14288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F005FE2A-AA03-487F-B795-40717A487834}" type="datetime'С''''''''''К''''''''''''''''''''''''''''''К''''''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СКК</a:t>
            </a:fld>
            <a:br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B088ED5B-CC0E-4916-A8C7-7051275883E5}" type="datetime'''''''-3'''' ''''''''2''''''0''8''''''''''''''''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-3 208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95" name="Текст 2"/>
          <p:cNvSpPr>
            <a:spLocks noGrp="1"/>
          </p:cNvSpPr>
          <p:nvPr>
            <p:custDataLst>
              <p:tags r:id="rId63"/>
            </p:custDataLst>
          </p:nvPr>
        </p:nvSpPr>
        <p:spPr bwMode="gray">
          <a:xfrm>
            <a:off x="11066834" y="2446239"/>
            <a:ext cx="338138" cy="122238"/>
          </a:xfrm>
          <a:prstGeom prst="rect">
            <a:avLst/>
          </a:prstGeom>
          <a:solidFill>
            <a:srgbClr val="C3CF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0" tIns="0" rIns="0" bIns="0" numCol="1" spcCol="0" anchor="ctr" anchorCtr="0" compatLnSpc="1">
            <a:prstTxWarp prst="textNoShape">
              <a:avLst/>
            </a:prstTxWarp>
            <a:noAutofit/>
          </a:bodyPr>
          <a:lstStyle>
            <a:lvl1pPr marL="388942" indent="-38894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5300" indent="-32498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1658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3704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5750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8222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71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1213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70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330">
              <a:spcBef>
                <a:spcPct val="0"/>
              </a:spcBef>
              <a:buNone/>
              <a:defRPr/>
            </a:pPr>
            <a:fld id="{A97A6079-C188-4236-8F69-9CD51AC3572F}" type="datetime'''''1''0'''''''''''''''''''''''''''''' ''0''''51'''''''">
              <a:rPr lang="en-US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330">
                <a:spcBef>
                  <a:spcPct val="0"/>
                </a:spcBef>
                <a:buNone/>
                <a:defRPr/>
              </a:pPr>
              <a:t>10 051</a:t>
            </a:fld>
            <a:endParaRPr lang="en-US" alt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09" name="Текст 2"/>
          <p:cNvSpPr>
            <a:spLocks noGrp="1"/>
          </p:cNvSpPr>
          <p:nvPr>
            <p:custDataLst>
              <p:tags r:id="rId64"/>
            </p:custDataLst>
          </p:nvPr>
        </p:nvSpPr>
        <p:spPr bwMode="gray">
          <a:xfrm>
            <a:off x="11066834" y="2941539"/>
            <a:ext cx="338138" cy="122238"/>
          </a:xfrm>
          <a:prstGeom prst="rect">
            <a:avLst/>
          </a:prstGeom>
          <a:noFill/>
          <a:ln>
            <a:noFill/>
          </a:ln>
        </p:spPr>
        <p:txBody>
          <a:bodyPr vert="horz" wrap="none" lIns="14288" tIns="0" rIns="14288" bIns="0" numCol="1" spcCol="0" anchor="ctr" anchorCtr="0" compatLnSpc="1">
            <a:prstTxWarp prst="textNoShape">
              <a:avLst/>
            </a:prstTxWarp>
            <a:noAutofit/>
          </a:bodyPr>
          <a:lstStyle>
            <a:lvl1pPr marL="388942" indent="-38894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5300" indent="-324982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1658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3704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5750" indent="-259294" algn="l" defTabSz="1042364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8222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71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1213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708" indent="-260748" algn="l" defTabSz="10429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330">
              <a:spcBef>
                <a:spcPct val="0"/>
              </a:spcBef>
              <a:buNone/>
              <a:defRPr/>
            </a:pPr>
            <a:fld id="{9910EEA3-8E3C-47FC-AE26-E95B581721B9}" type="datetime'''''''1''''''''''''''9'''''' ''5''''1''''''''''7'''''">
              <a:rPr lang="en-US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330">
                <a:spcBef>
                  <a:spcPct val="0"/>
                </a:spcBef>
                <a:buNone/>
                <a:defRPr/>
              </a:pPr>
              <a:t>19 517</a:t>
            </a:fld>
            <a:endParaRPr lang="en-US" alt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498" name="Текст 2"/>
          <p:cNvSpPr>
            <a:spLocks noGrp="1"/>
          </p:cNvSpPr>
          <p:nvPr>
            <p:custDataLst>
              <p:tags r:id="rId65"/>
            </p:custDataLst>
          </p:nvPr>
        </p:nvSpPr>
        <p:spPr bwMode="gray">
          <a:xfrm>
            <a:off x="11099482" y="3292376"/>
            <a:ext cx="282575" cy="12223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40D38680-AAC9-4446-893F-EC29D4A0B428}" type="datetime'''''''5'''''''''''''''''' ''''''6''''''''20'''''''''''''''''''">
              <a:rPr lang="en-US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5 620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12" name="Текст 2"/>
          <p:cNvSpPr>
            <a:spLocks noGrp="1"/>
          </p:cNvSpPr>
          <p:nvPr>
            <p:custDataLst>
              <p:tags r:id="rId66"/>
            </p:custDataLst>
          </p:nvPr>
        </p:nvSpPr>
        <p:spPr bwMode="gray">
          <a:xfrm>
            <a:off x="11073183" y="3586026"/>
            <a:ext cx="338138" cy="122238"/>
          </a:xfrm>
          <a:prstGeom prst="rect">
            <a:avLst/>
          </a:prstGeom>
          <a:noFill/>
          <a:ln>
            <a:noFill/>
          </a:ln>
        </p:spPr>
        <p:txBody>
          <a:bodyPr vert="horz" wrap="none" lIns="14288" tIns="0" rIns="14288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0CEE626A-E3FF-49C2-B3EA-19438A421A71}" type="datetime'''6''''''''''4'''''''''''''' ''''1''''''''''6''''1'''''">
              <a:rPr lang="en-US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64 161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99" name="Текст 2"/>
          <p:cNvSpPr>
            <a:spLocks noGrp="1"/>
          </p:cNvSpPr>
          <p:nvPr>
            <p:custDataLst>
              <p:tags r:id="rId67"/>
            </p:custDataLst>
          </p:nvPr>
        </p:nvSpPr>
        <p:spPr bwMode="auto">
          <a:xfrm>
            <a:off x="11066834" y="3763864"/>
            <a:ext cx="336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8173A1CB-0A25-4C09-A8E4-8A1EC41A9560}" type="datetime'''2''''''0''20&#10; ''''Ф''''''ак''''''''''''''''''''т'''''">
              <a:rPr lang="ru-RU" altLang="en-US" sz="10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2020
 Факт</a:t>
            </a:fld>
            <a:endParaRPr lang="ru-RU" sz="10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37" name="Текст 2"/>
          <p:cNvSpPr>
            <a:spLocks noGrp="1"/>
          </p:cNvSpPr>
          <p:nvPr>
            <p:custDataLst>
              <p:tags r:id="rId68"/>
            </p:custDataLst>
          </p:nvPr>
        </p:nvSpPr>
        <p:spPr bwMode="gray">
          <a:xfrm>
            <a:off x="11141448" y="3183632"/>
            <a:ext cx="282575" cy="122238"/>
          </a:xfrm>
          <a:prstGeom prst="rect">
            <a:avLst/>
          </a:prstGeom>
          <a:solidFill>
            <a:srgbClr val="C3CFE1"/>
          </a:solidFill>
          <a:ln>
            <a:noFill/>
          </a:ln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435B183D-AF37-4734-952E-14059AF6C45E}" type="datetime'''''1'' ''5''''6''''''''''9'''">
              <a:rPr lang="en-US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1 569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62" name="Текст 2"/>
          <p:cNvSpPr>
            <a:spLocks noGrp="1"/>
          </p:cNvSpPr>
          <p:nvPr>
            <p:custDataLst>
              <p:tags r:id="rId69"/>
            </p:custDataLst>
          </p:nvPr>
        </p:nvSpPr>
        <p:spPr bwMode="gray">
          <a:xfrm>
            <a:off x="9714284" y="2344640"/>
            <a:ext cx="2317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4288" tIns="0" rIns="14288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64E36654-C978-4ABC-BBB1-ACE11EE490CE}" type="datetime'''''Б''''''''''''''''''''Г''''К''''''''''''''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БГК</a:t>
            </a:fld>
            <a:br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75C25222-A5FF-4689-B9E0-A48344C65BA6}" type="datetime'-''''''''''''''''''''''''''''''''864''''''''''''''''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-864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01" name="Текст 2"/>
          <p:cNvSpPr>
            <a:spLocks noGrp="1"/>
          </p:cNvSpPr>
          <p:nvPr>
            <p:custDataLst>
              <p:tags r:id="rId70"/>
            </p:custDataLst>
          </p:nvPr>
        </p:nvSpPr>
        <p:spPr bwMode="auto">
          <a:xfrm>
            <a:off x="11535147" y="2374801"/>
            <a:ext cx="7223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4341F619-C53D-4DD4-9E53-9F85680A1095}" type="datetime'''Зар''''''уб''е''жн''ые''''&#10;'' ''''''ак''т''и''''''''вы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Зарубежные
 активы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02" name="Текст 2"/>
          <p:cNvSpPr>
            <a:spLocks noGrp="1"/>
          </p:cNvSpPr>
          <p:nvPr>
            <p:custDataLst>
              <p:tags r:id="rId71"/>
            </p:custDataLst>
          </p:nvPr>
        </p:nvSpPr>
        <p:spPr bwMode="auto">
          <a:xfrm>
            <a:off x="11535146" y="2730402"/>
            <a:ext cx="215900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6144FFE5-CDAA-406F-9B2D-C156011CE84D}" type="datetime'''''Б''''''''''Г''''''''''''''''''К''''''''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БГК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03" name="Текст 2"/>
          <p:cNvSpPr>
            <a:spLocks noGrp="1"/>
          </p:cNvSpPr>
          <p:nvPr>
            <p:custDataLst>
              <p:tags r:id="rId72"/>
            </p:custDataLst>
          </p:nvPr>
        </p:nvSpPr>
        <p:spPr bwMode="auto">
          <a:xfrm>
            <a:off x="11535148" y="2933600"/>
            <a:ext cx="6048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57FBEB91-B610-4104-A69D-E85521091A3F}" type="datetime'Т''''о''м''с''к''''''а''я'''''' ''&#10;ген''ер''а''''''ц''и''я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Томская 
генерация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00" name="Текст 2"/>
          <p:cNvSpPr>
            <a:spLocks noGrp="1"/>
          </p:cNvSpPr>
          <p:nvPr>
            <p:custDataLst>
              <p:tags r:id="rId73"/>
            </p:custDataLst>
          </p:nvPr>
        </p:nvSpPr>
        <p:spPr bwMode="auto">
          <a:xfrm>
            <a:off x="11535148" y="2171602"/>
            <a:ext cx="228599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D04A0DF4-1829-4B34-945C-1FC605380F20}" type="datetime'''''С''''''''''''''''''''''''''''''К''К''''''''''''''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СКК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95" name="Текст 2"/>
          <p:cNvSpPr>
            <a:spLocks noGrp="1"/>
          </p:cNvSpPr>
          <p:nvPr>
            <p:custDataLst>
              <p:tags r:id="rId74"/>
            </p:custDataLst>
          </p:nvPr>
        </p:nvSpPr>
        <p:spPr bwMode="gray">
          <a:xfrm>
            <a:off x="7648946" y="1636614"/>
            <a:ext cx="6159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0634" tIns="0" rIns="20634" bIns="0" numCol="1" spcCol="0" rtlCol="0" anchor="b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521313FC-D0A1-4A63-9689-C676C4194A24}" type="datetime'''''''''1''''''''2''''''''8'''''''''''''' ''''3''''1''''''3'">
              <a:rPr lang="en-US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128 313</a:t>
            </a:fld>
            <a:endParaRPr lang="ru-RU" sz="1100" b="1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82" name="Текст 2"/>
          <p:cNvSpPr>
            <a:spLocks noGrp="1"/>
          </p:cNvSpPr>
          <p:nvPr>
            <p:custDataLst>
              <p:tags r:id="rId75"/>
            </p:custDataLst>
          </p:nvPr>
        </p:nvSpPr>
        <p:spPr bwMode="auto">
          <a:xfrm>
            <a:off x="11535147" y="3492402"/>
            <a:ext cx="815975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D7B1E631-39D4-450A-9066-0F069F113CE0}" type="datetime'''Ин''''т''е''''р'''''''''''''''''''' ''Р''''А''''О-ЭГ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Интер РАО-ЭГ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98" name="Текст 2"/>
          <p:cNvSpPr>
            <a:spLocks noGrp="1"/>
          </p:cNvSpPr>
          <p:nvPr>
            <p:custDataLst>
              <p:tags r:id="rId76"/>
            </p:custDataLst>
          </p:nvPr>
        </p:nvSpPr>
        <p:spPr bwMode="auto">
          <a:xfrm>
            <a:off x="7320334" y="3763864"/>
            <a:ext cx="336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360FC191-210E-4D26-A0C2-CE25F3EE1AA5}" type="datetime'''2''''0''''''''1''9''''&#10;'' ''''''''Ф''''а''''''кт'">
              <a:rPr lang="ru-RU" altLang="en-US" sz="10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2019
 Факт</a:t>
            </a:fld>
            <a:endParaRPr lang="ru-RU" sz="10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07" name="Текст 2"/>
          <p:cNvSpPr>
            <a:spLocks noGrp="1"/>
          </p:cNvSpPr>
          <p:nvPr>
            <p:custDataLst>
              <p:tags r:id="rId77"/>
            </p:custDataLst>
          </p:nvPr>
        </p:nvSpPr>
        <p:spPr bwMode="gray">
          <a:xfrm>
            <a:off x="9104684" y="2324000"/>
            <a:ext cx="515938" cy="36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3CFE1"/>
                </a:solidFill>
              </a14:hiddenFill>
            </a:ext>
          </a:extLst>
        </p:spPr>
        <p:txBody>
          <a:bodyPr vert="horz" wrap="none" lIns="14288" tIns="0" rIns="14288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373433EF-6AB7-4D2E-B4CD-21E17B5973CB}" type="datetime'Т''''о''мс''ка''я'''' &#10;ген''''''е''р''ац''''''и''я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Томская 
генерация</a:t>
            </a:fld>
            <a:br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40F8A63A-8937-40F9-AC78-8751AF659F0D}" type="datetime'-''''''3''''''''''''''''3''''''''4''''''''''''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-334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63" name="Текст 2"/>
          <p:cNvSpPr>
            <a:spLocks noGrp="1"/>
          </p:cNvSpPr>
          <p:nvPr>
            <p:custDataLst>
              <p:tags r:id="rId78"/>
            </p:custDataLst>
          </p:nvPr>
        </p:nvSpPr>
        <p:spPr bwMode="gray">
          <a:xfrm>
            <a:off x="9995273" y="2344638"/>
            <a:ext cx="608013" cy="36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4288" tIns="0" rIns="14288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B0224B78-4696-4CFC-A697-2EB5BE271CCC}" type="datetime'З''''а''''р''''''''убе''''ж''''ны''''''е''&#10;'' ''актив''ы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Зарубежные
 активы</a:t>
            </a:fld>
            <a:br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D508FA95-B876-4661-AEC1-9780B94D8FF0}" type="datetime'''''''71''''''''''''''''''''''''''''''''3''''''''''''''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713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 useBgFill="1">
        <p:nvSpPr>
          <p:cNvPr id="285" name="Текст 2"/>
          <p:cNvSpPr>
            <a:spLocks noGrp="1"/>
          </p:cNvSpPr>
          <p:nvPr>
            <p:custDataLst>
              <p:tags r:id="rId79"/>
            </p:custDataLst>
          </p:nvPr>
        </p:nvSpPr>
        <p:spPr bwMode="gray">
          <a:xfrm>
            <a:off x="8331831" y="2320974"/>
            <a:ext cx="206202" cy="244475"/>
          </a:xfrm>
          <a:prstGeom prst="rect">
            <a:avLst/>
          </a:prstGeom>
          <a:ln>
            <a:noFill/>
          </a:ln>
        </p:spPr>
        <p:txBody>
          <a:bodyPr vert="horz" wrap="none" lIns="14288" tIns="0" rIns="14288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610EF071-5E67-4596-9514-4D08023553D1}" type="datetime'''И''''''н''''тер ''''''''''''''''РА''''О''-''ЭГ'''''">
              <a:rPr lang="ru-RU" altLang="en-US" sz="7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Интер РАО-ЭГ</a:t>
            </a:fld>
            <a:br>
              <a:rPr lang="ru-RU" altLang="en-US" sz="8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0A8C18F7-B5DD-4BCB-8FBF-B52013514FB2}" type="datetime'''-''''''''''''''''''1''''8'''''''' 09''2''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-18 092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53" name="Текст 2"/>
          <p:cNvSpPr>
            <a:spLocks noGrp="1"/>
          </p:cNvSpPr>
          <p:nvPr>
            <p:custDataLst>
              <p:tags r:id="rId80"/>
            </p:custDataLst>
          </p:nvPr>
        </p:nvSpPr>
        <p:spPr bwMode="auto">
          <a:xfrm>
            <a:off x="7791821" y="3763864"/>
            <a:ext cx="3317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AC1EC43A-1F52-4EF4-9E5E-99C866DF4BFF}" type="datetime''''' ''''2''''''0''''''''20''&#10; ''''''''''БП'''''''''''''''">
              <a:rPr lang="ru-RU" altLang="en-US" sz="10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 2020
 БП</a:t>
            </a:fld>
            <a:endParaRPr lang="ru-RU" sz="10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06" name="Текст 2"/>
          <p:cNvSpPr>
            <a:spLocks noGrp="1"/>
          </p:cNvSpPr>
          <p:nvPr>
            <p:custDataLst>
              <p:tags r:id="rId81"/>
            </p:custDataLst>
          </p:nvPr>
        </p:nvSpPr>
        <p:spPr bwMode="gray">
          <a:xfrm>
            <a:off x="8772900" y="2326383"/>
            <a:ext cx="3476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14288" tIns="0" rIns="14288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B9278029-0323-45DC-99C2-F4425EA37A64}" type="datetime'''''''Т''''Г''К''-''''''''1''''''''''''''1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ТГК-11</a:t>
            </a:fld>
            <a:br>
              <a:rPr lang="ru-RU" altLang="en-US" sz="8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3A11F080-6639-45CA-B6B9-1E834E93A796}" type="datetime'''''''''''''''''-''''''''44''9''''''''''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-449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94" name="Текст 2"/>
          <p:cNvSpPr>
            <a:spLocks noGrp="1"/>
          </p:cNvSpPr>
          <p:nvPr>
            <p:custDataLst>
              <p:tags r:id="rId82"/>
            </p:custDataLst>
          </p:nvPr>
        </p:nvSpPr>
        <p:spPr bwMode="gray">
          <a:xfrm>
            <a:off x="7029821" y="1620738"/>
            <a:ext cx="6159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0634" tIns="0" rIns="20634" bIns="0" numCol="1" spcCol="0" rtlCol="0" anchor="b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0CD170B6-0222-478A-BA3B-188B652A9C0E}" type="datetime'''''''1''''''2''''''''8'' ''''''''''''9''3''''7'">
              <a:rPr lang="en-US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128 937</a:t>
            </a:fld>
            <a:endParaRPr lang="ru-RU" sz="1100" b="1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11" name="Текст 2"/>
          <p:cNvSpPr>
            <a:spLocks noGrp="1"/>
          </p:cNvSpPr>
          <p:nvPr>
            <p:custDataLst>
              <p:tags r:id="rId83"/>
            </p:custDataLst>
          </p:nvPr>
        </p:nvSpPr>
        <p:spPr bwMode="gray">
          <a:xfrm>
            <a:off x="10877922" y="2108100"/>
            <a:ext cx="6159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0634" tIns="0" rIns="20634" bIns="0" numCol="1" spcCol="0" rtlCol="0" anchor="b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0E35B476-F59B-4780-9018-C114C812FF60}" type="datetime'''''''''''''''''''''1''''0''''6'''''''' ''0''7''''9'''">
              <a:rPr lang="en-US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106 079</a:t>
            </a:fld>
            <a:endParaRPr lang="ru-RU" sz="1100" b="1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04" name="Текст 2"/>
          <p:cNvSpPr>
            <a:spLocks noGrp="1"/>
          </p:cNvSpPr>
          <p:nvPr>
            <p:custDataLst>
              <p:tags r:id="rId84"/>
            </p:custDataLst>
          </p:nvPr>
        </p:nvSpPr>
        <p:spPr bwMode="auto">
          <a:xfrm>
            <a:off x="11535146" y="3289202"/>
            <a:ext cx="401638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48F7FD27-EB39-4D2C-B75E-CB2194443D29}" type="datetime'''''''''Т''''''ГК-''''1''1''''''''''''''''''''''''''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ТГК-11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94" name="Текст 2"/>
          <p:cNvSpPr>
            <a:spLocks noGrp="1"/>
          </p:cNvSpPr>
          <p:nvPr>
            <p:custDataLst>
              <p:tags r:id="rId85"/>
            </p:custDataLst>
          </p:nvPr>
        </p:nvSpPr>
        <p:spPr bwMode="auto">
          <a:xfrm>
            <a:off x="9125321" y="1284189"/>
            <a:ext cx="941388" cy="476250"/>
          </a:xfrm>
          <a:prstGeom prst="ellipse">
            <a:avLst/>
          </a:prstGeom>
          <a:solidFill>
            <a:schemeClr val="bg1"/>
          </a:solidFill>
          <a:ln w="9525" algn="ctr"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9E46EA6B-D4E8-45C8-BC63-3A637C6A7CFF}" type="datetime'''''''''''''-22'''''' ''2''''''34'''''"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-22 234</a:t>
            </a:fld>
            <a:br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r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t>(</a:t>
            </a:r>
            <a:fld id="{403F03F2-FD17-4364-A526-9B26D00FFA75}" type="datetime'''''-1''7'''''''''''''''''''',''''''''''''''''''3''%'''"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-17,3%</a:t>
            </a:fld>
            <a:r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t>)</a:t>
            </a:r>
            <a:endParaRPr lang="ru-RU" sz="1100" b="1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16" name="Прямоугольник 215"/>
          <p:cNvSpPr/>
          <p:nvPr/>
        </p:nvSpPr>
        <p:spPr>
          <a:xfrm>
            <a:off x="7536186" y="1070749"/>
            <a:ext cx="4972888" cy="2174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 ГРАФИКА ИЛИ ДИАГРАММЫ</a:t>
            </a:r>
            <a:endParaRPr lang="en-US" sz="1400" b="1" dirty="0">
              <a:solidFill>
                <a:srgbClr val="F184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17" name="TextBox 216"/>
          <p:cNvSpPr txBox="1"/>
          <p:nvPr/>
        </p:nvSpPr>
        <p:spPr>
          <a:xfrm>
            <a:off x="7461871" y="1283180"/>
            <a:ext cx="871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marR="0" lvl="0" indent="0" algn="ctr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 kumimoji="0" sz="80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млн кВт*ч</a:t>
            </a:r>
          </a:p>
        </p:txBody>
      </p:sp>
      <p:sp>
        <p:nvSpPr>
          <p:cNvPr id="220" name="Прямоугольник 219"/>
          <p:cNvSpPr/>
          <p:nvPr/>
        </p:nvSpPr>
        <p:spPr>
          <a:xfrm>
            <a:off x="490190" y="4140672"/>
            <a:ext cx="4973638" cy="2176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 ГРАФИКА ИЛИ ДИАГРАММЫ</a:t>
            </a:r>
            <a:endParaRPr lang="en-US" sz="1400" b="1" dirty="0">
              <a:solidFill>
                <a:srgbClr val="F184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21" name="TextBox 220"/>
          <p:cNvSpPr txBox="1"/>
          <p:nvPr/>
        </p:nvSpPr>
        <p:spPr>
          <a:xfrm>
            <a:off x="442521" y="4356695"/>
            <a:ext cx="8714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marR="0" lvl="0" indent="0" algn="ctr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 kumimoji="0" sz="80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тыс. Гкал</a:t>
            </a:r>
          </a:p>
        </p:txBody>
      </p:sp>
      <p:sp>
        <p:nvSpPr>
          <p:cNvPr id="224" name="Прямоугольник 223"/>
          <p:cNvSpPr/>
          <p:nvPr/>
        </p:nvSpPr>
        <p:spPr>
          <a:xfrm>
            <a:off x="543247" y="1070748"/>
            <a:ext cx="5432425" cy="217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 ГРАФИКА ИЛИ ДИАГРАММЫ</a:t>
            </a:r>
            <a:endParaRPr lang="en-US" sz="1400" b="1" dirty="0">
              <a:solidFill>
                <a:srgbClr val="F184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25" name="TextBox 224"/>
          <p:cNvSpPr txBox="1"/>
          <p:nvPr/>
        </p:nvSpPr>
        <p:spPr>
          <a:xfrm>
            <a:off x="320060" y="1290806"/>
            <a:ext cx="871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800" b="1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МВт</a:t>
            </a:r>
          </a:p>
        </p:txBody>
      </p:sp>
      <p:sp>
        <p:nvSpPr>
          <p:cNvPr id="227" name="Text Box 109"/>
          <p:cNvSpPr txBox="1">
            <a:spLocks noChangeArrowheads="1"/>
          </p:cNvSpPr>
          <p:nvPr/>
        </p:nvSpPr>
        <p:spPr bwMode="gray">
          <a:xfrm>
            <a:off x="8373590" y="6537899"/>
            <a:ext cx="2306722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defPPr>
              <a:defRPr lang="ru-RU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91760" indent="-39273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85108" indent="-80123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476866" indent="-119402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970206" indent="-160253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62430" algn="l" defTabSz="904971" rtl="0" eaLnBrk="1" latinLnBrk="0" hangingPunct="1">
              <a:defRPr sz="13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14914" algn="l" defTabSz="904971" rtl="0" eaLnBrk="1" latinLnBrk="0" hangingPunct="1">
              <a:defRPr sz="13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167405" algn="l" defTabSz="904971" rtl="0" eaLnBrk="1" latinLnBrk="0" hangingPunct="1">
              <a:defRPr sz="13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19886" algn="l" defTabSz="904971" rtl="0" eaLnBrk="1" latinLnBrk="0" hangingPunct="1">
              <a:defRPr sz="1300" b="1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defTabSz="1017905">
              <a:spcBef>
                <a:spcPts val="0"/>
              </a:spcBef>
              <a:defRPr/>
            </a:pPr>
            <a:r>
              <a:rPr lang="ru-RU" sz="900" b="0" dirty="0">
                <a:solidFill>
                  <a:srgbClr val="0000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* с учётом численности ПАО «</a:t>
            </a:r>
            <a:r>
              <a:rPr lang="ru-RU" sz="900" b="0" dirty="0" err="1">
                <a:solidFill>
                  <a:srgbClr val="0000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Интер</a:t>
            </a:r>
            <a:r>
              <a:rPr lang="ru-RU" sz="900" b="0" dirty="0">
                <a:solidFill>
                  <a:srgbClr val="0000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РАО»</a:t>
            </a:r>
            <a:endParaRPr lang="en-US" sz="900" b="0" dirty="0">
              <a:solidFill>
                <a:srgbClr val="0000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cxnSp>
        <p:nvCxnSpPr>
          <p:cNvPr id="230" name="Прямая соединительная линия 229"/>
          <p:cNvCxnSpPr/>
          <p:nvPr>
            <p:custDataLst>
              <p:tags r:id="rId86"/>
            </p:custDataLst>
          </p:nvPr>
        </p:nvCxnSpPr>
        <p:spPr bwMode="auto">
          <a:xfrm>
            <a:off x="8326809" y="5003800"/>
            <a:ext cx="2667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6" name="Прямая соединительная линия 705"/>
          <p:cNvCxnSpPr/>
          <p:nvPr>
            <p:custDataLst>
              <p:tags r:id="rId87"/>
            </p:custDataLst>
          </p:nvPr>
        </p:nvCxnSpPr>
        <p:spPr bwMode="auto">
          <a:xfrm>
            <a:off x="10131796" y="5137150"/>
            <a:ext cx="2667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4" name="Прямая соединительная линия 703"/>
          <p:cNvCxnSpPr/>
          <p:nvPr>
            <p:custDataLst>
              <p:tags r:id="rId88"/>
            </p:custDataLst>
          </p:nvPr>
        </p:nvCxnSpPr>
        <p:spPr bwMode="auto">
          <a:xfrm>
            <a:off x="9530133" y="5133975"/>
            <a:ext cx="2667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Прямая соединительная линия 620"/>
          <p:cNvCxnSpPr/>
          <p:nvPr>
            <p:custDataLst>
              <p:tags r:id="rId89"/>
            </p:custDataLst>
          </p:nvPr>
        </p:nvCxnSpPr>
        <p:spPr bwMode="auto">
          <a:xfrm>
            <a:off x="10735045" y="5153026"/>
            <a:ext cx="2667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Прямая соединительная линия 619"/>
          <p:cNvCxnSpPr/>
          <p:nvPr>
            <p:custDataLst>
              <p:tags r:id="rId90"/>
            </p:custDataLst>
          </p:nvPr>
        </p:nvCxnSpPr>
        <p:spPr bwMode="auto">
          <a:xfrm>
            <a:off x="8928470" y="5081588"/>
            <a:ext cx="2667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4" name="Прямоугольник 603"/>
          <p:cNvSpPr/>
          <p:nvPr>
            <p:custDataLst>
              <p:tags r:id="rId91"/>
            </p:custDataLst>
          </p:nvPr>
        </p:nvSpPr>
        <p:spPr bwMode="auto">
          <a:xfrm>
            <a:off x="9796835" y="5133976"/>
            <a:ext cx="334963" cy="3175"/>
          </a:xfrm>
          <a:prstGeom prst="rect">
            <a:avLst/>
          </a:prstGeom>
          <a:solidFill>
            <a:srgbClr val="E46C0A"/>
          </a:solidFill>
          <a:ln w="9525" cap="flat" cmpd="sng" algn="ctr">
            <a:solidFill>
              <a:srgbClr val="E46C0A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ru-RU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graphicFrame>
        <p:nvGraphicFramePr>
          <p:cNvPr id="207" name="Chart 3"/>
          <p:cNvGraphicFramePr/>
          <p:nvPr>
            <p:custDataLst>
              <p:tags r:id="rId92"/>
            </p:custDataLst>
            <p:extLst>
              <p:ext uri="{D42A27DB-BD31-4B8C-83A1-F6EECF244321}">
                <p14:modId xmlns:p14="http://schemas.microsoft.com/office/powerpoint/2010/main" val="104129848"/>
              </p:ext>
            </p:extLst>
          </p:nvPr>
        </p:nvGraphicFramePr>
        <p:xfrm>
          <a:off x="7172697" y="4921250"/>
          <a:ext cx="4379913" cy="1889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4"/>
          </a:graphicData>
        </a:graphic>
      </p:graphicFrame>
      <p:sp useBgFill="1">
        <p:nvSpPr>
          <p:cNvPr id="13" name="Полилиния 12"/>
          <p:cNvSpPr/>
          <p:nvPr>
            <p:custDataLst>
              <p:tags r:id="rId93"/>
            </p:custDataLst>
          </p:nvPr>
        </p:nvSpPr>
        <p:spPr bwMode="auto">
          <a:xfrm>
            <a:off x="7369546" y="5913439"/>
            <a:ext cx="373064" cy="157162"/>
          </a:xfrm>
          <a:custGeom>
            <a:avLst/>
            <a:gdLst/>
            <a:ahLst/>
            <a:cxnLst/>
            <a:rect l="0" t="0" r="0" b="0"/>
            <a:pathLst>
              <a:path w="373064" h="157163">
                <a:moveTo>
                  <a:pt x="0" y="100012"/>
                </a:moveTo>
                <a:lnTo>
                  <a:pt x="373063" y="0"/>
                </a:lnTo>
                <a:lnTo>
                  <a:pt x="373063" y="57150"/>
                </a:lnTo>
                <a:lnTo>
                  <a:pt x="0" y="157162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51" name="Полилиния 50"/>
          <p:cNvSpPr/>
          <p:nvPr>
            <p:custDataLst>
              <p:tags r:id="rId94"/>
            </p:custDataLst>
          </p:nvPr>
        </p:nvSpPr>
        <p:spPr bwMode="auto">
          <a:xfrm>
            <a:off x="7971210" y="6197600"/>
            <a:ext cx="374651" cy="158751"/>
          </a:xfrm>
          <a:custGeom>
            <a:avLst/>
            <a:gdLst/>
            <a:ahLst/>
            <a:cxnLst/>
            <a:rect l="0" t="0" r="0" b="0"/>
            <a:pathLst>
              <a:path w="374651" h="158751">
                <a:moveTo>
                  <a:pt x="0" y="101600"/>
                </a:moveTo>
                <a:lnTo>
                  <a:pt x="374650" y="0"/>
                </a:lnTo>
                <a:lnTo>
                  <a:pt x="374650" y="57150"/>
                </a:lnTo>
                <a:lnTo>
                  <a:pt x="0" y="158750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50" name="Полилиния 49"/>
          <p:cNvSpPr/>
          <p:nvPr>
            <p:custDataLst>
              <p:tags r:id="rId95"/>
            </p:custDataLst>
          </p:nvPr>
        </p:nvSpPr>
        <p:spPr bwMode="auto">
          <a:xfrm>
            <a:off x="7369546" y="6199189"/>
            <a:ext cx="373064" cy="157162"/>
          </a:xfrm>
          <a:custGeom>
            <a:avLst/>
            <a:gdLst/>
            <a:ahLst/>
            <a:cxnLst/>
            <a:rect l="0" t="0" r="0" b="0"/>
            <a:pathLst>
              <a:path w="373064" h="157163">
                <a:moveTo>
                  <a:pt x="0" y="100012"/>
                </a:moveTo>
                <a:lnTo>
                  <a:pt x="373063" y="0"/>
                </a:lnTo>
                <a:lnTo>
                  <a:pt x="373063" y="57150"/>
                </a:lnTo>
                <a:lnTo>
                  <a:pt x="0" y="157162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61" name="Полилиния 60"/>
          <p:cNvSpPr/>
          <p:nvPr>
            <p:custDataLst>
              <p:tags r:id="rId96"/>
            </p:custDataLst>
          </p:nvPr>
        </p:nvSpPr>
        <p:spPr bwMode="auto">
          <a:xfrm>
            <a:off x="10977934" y="6472238"/>
            <a:ext cx="382588" cy="160338"/>
          </a:xfrm>
          <a:custGeom>
            <a:avLst/>
            <a:gdLst/>
            <a:ahLst/>
            <a:cxnLst/>
            <a:rect l="0" t="0" r="0" b="0"/>
            <a:pathLst>
              <a:path w="382588" h="160338">
                <a:moveTo>
                  <a:pt x="0" y="103187"/>
                </a:moveTo>
                <a:lnTo>
                  <a:pt x="382587" y="0"/>
                </a:lnTo>
                <a:lnTo>
                  <a:pt x="382587" y="57150"/>
                </a:lnTo>
                <a:lnTo>
                  <a:pt x="0" y="160337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55" name="Полилиния 54"/>
          <p:cNvSpPr/>
          <p:nvPr>
            <p:custDataLst>
              <p:tags r:id="rId97"/>
            </p:custDataLst>
          </p:nvPr>
        </p:nvSpPr>
        <p:spPr bwMode="auto">
          <a:xfrm>
            <a:off x="7971210" y="6472239"/>
            <a:ext cx="374651" cy="158751"/>
          </a:xfrm>
          <a:custGeom>
            <a:avLst/>
            <a:gdLst/>
            <a:ahLst/>
            <a:cxnLst/>
            <a:rect l="0" t="0" r="0" b="0"/>
            <a:pathLst>
              <a:path w="374651" h="158751">
                <a:moveTo>
                  <a:pt x="0" y="101600"/>
                </a:moveTo>
                <a:lnTo>
                  <a:pt x="374650" y="0"/>
                </a:lnTo>
                <a:lnTo>
                  <a:pt x="374650" y="57150"/>
                </a:lnTo>
                <a:lnTo>
                  <a:pt x="0" y="158750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14" name="Полилиния 13"/>
          <p:cNvSpPr/>
          <p:nvPr>
            <p:custDataLst>
              <p:tags r:id="rId98"/>
            </p:custDataLst>
          </p:nvPr>
        </p:nvSpPr>
        <p:spPr bwMode="auto">
          <a:xfrm>
            <a:off x="7971210" y="5911851"/>
            <a:ext cx="374651" cy="158751"/>
          </a:xfrm>
          <a:custGeom>
            <a:avLst/>
            <a:gdLst/>
            <a:ahLst/>
            <a:cxnLst/>
            <a:rect l="0" t="0" r="0" b="0"/>
            <a:pathLst>
              <a:path w="374651" h="158751">
                <a:moveTo>
                  <a:pt x="0" y="101600"/>
                </a:moveTo>
                <a:lnTo>
                  <a:pt x="374650" y="0"/>
                </a:lnTo>
                <a:lnTo>
                  <a:pt x="374650" y="57150"/>
                </a:lnTo>
                <a:lnTo>
                  <a:pt x="0" y="158750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52" name="Полилиния 51"/>
          <p:cNvSpPr/>
          <p:nvPr>
            <p:custDataLst>
              <p:tags r:id="rId99"/>
            </p:custDataLst>
          </p:nvPr>
        </p:nvSpPr>
        <p:spPr bwMode="auto">
          <a:xfrm>
            <a:off x="10977934" y="6197601"/>
            <a:ext cx="382588" cy="160339"/>
          </a:xfrm>
          <a:custGeom>
            <a:avLst/>
            <a:gdLst/>
            <a:ahLst/>
            <a:cxnLst/>
            <a:rect l="0" t="0" r="0" b="0"/>
            <a:pathLst>
              <a:path w="382588" h="160339">
                <a:moveTo>
                  <a:pt x="0" y="103188"/>
                </a:moveTo>
                <a:lnTo>
                  <a:pt x="382587" y="0"/>
                </a:lnTo>
                <a:lnTo>
                  <a:pt x="382587" y="57150"/>
                </a:lnTo>
                <a:lnTo>
                  <a:pt x="0" y="160338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16" name="Полилиния 15"/>
          <p:cNvSpPr/>
          <p:nvPr>
            <p:custDataLst>
              <p:tags r:id="rId100"/>
            </p:custDataLst>
          </p:nvPr>
        </p:nvSpPr>
        <p:spPr bwMode="auto">
          <a:xfrm>
            <a:off x="10977934" y="5911851"/>
            <a:ext cx="382588" cy="160339"/>
          </a:xfrm>
          <a:custGeom>
            <a:avLst/>
            <a:gdLst/>
            <a:ahLst/>
            <a:cxnLst/>
            <a:rect l="0" t="0" r="0" b="0"/>
            <a:pathLst>
              <a:path w="382588" h="160339">
                <a:moveTo>
                  <a:pt x="0" y="103188"/>
                </a:moveTo>
                <a:lnTo>
                  <a:pt x="382587" y="0"/>
                </a:lnTo>
                <a:lnTo>
                  <a:pt x="382587" y="57150"/>
                </a:lnTo>
                <a:lnTo>
                  <a:pt x="0" y="160338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53" name="Полилиния 52"/>
          <p:cNvSpPr/>
          <p:nvPr>
            <p:custDataLst>
              <p:tags r:id="rId101"/>
            </p:custDataLst>
          </p:nvPr>
        </p:nvSpPr>
        <p:spPr bwMode="auto">
          <a:xfrm>
            <a:off x="7369546" y="6473825"/>
            <a:ext cx="373064" cy="157164"/>
          </a:xfrm>
          <a:custGeom>
            <a:avLst/>
            <a:gdLst/>
            <a:ahLst/>
            <a:cxnLst/>
            <a:rect l="0" t="0" r="0" b="0"/>
            <a:pathLst>
              <a:path w="373064" h="157164">
                <a:moveTo>
                  <a:pt x="0" y="100013"/>
                </a:moveTo>
                <a:lnTo>
                  <a:pt x="373063" y="0"/>
                </a:lnTo>
                <a:lnTo>
                  <a:pt x="373063" y="57150"/>
                </a:lnTo>
                <a:lnTo>
                  <a:pt x="0" y="157163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cxnSp>
        <p:nvCxnSpPr>
          <p:cNvPr id="244" name="Прямая соединительная линия 243"/>
          <p:cNvCxnSpPr/>
          <p:nvPr>
            <p:custDataLst>
              <p:tags r:id="rId102"/>
            </p:custDataLst>
          </p:nvPr>
        </p:nvCxnSpPr>
        <p:spPr bwMode="auto">
          <a:xfrm>
            <a:off x="8158535" y="4695825"/>
            <a:ext cx="11922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Прямая соединительная линия 245"/>
          <p:cNvCxnSpPr/>
          <p:nvPr>
            <p:custDataLst>
              <p:tags r:id="rId103"/>
            </p:custDataLst>
          </p:nvPr>
        </p:nvCxnSpPr>
        <p:spPr bwMode="auto">
          <a:xfrm>
            <a:off x="9977810" y="4695825"/>
            <a:ext cx="1190625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Прямая соединительная линия 244"/>
          <p:cNvCxnSpPr/>
          <p:nvPr>
            <p:custDataLst>
              <p:tags r:id="rId104"/>
            </p:custDataLst>
          </p:nvPr>
        </p:nvCxnSpPr>
        <p:spPr bwMode="auto">
          <a:xfrm>
            <a:off x="11168433" y="4695825"/>
            <a:ext cx="0" cy="225426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Прямая соединительная линия 242"/>
          <p:cNvCxnSpPr/>
          <p:nvPr>
            <p:custDataLst>
              <p:tags r:id="rId105"/>
            </p:custDataLst>
          </p:nvPr>
        </p:nvCxnSpPr>
        <p:spPr bwMode="auto">
          <a:xfrm flipV="1">
            <a:off x="8158534" y="4695826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7" name="Прямая соединительная линия 566"/>
          <p:cNvCxnSpPr/>
          <p:nvPr>
            <p:custDataLst>
              <p:tags r:id="rId106"/>
            </p:custDataLst>
          </p:nvPr>
        </p:nvCxnSpPr>
        <p:spPr bwMode="auto">
          <a:xfrm flipV="1">
            <a:off x="8760196" y="5043488"/>
            <a:ext cx="0" cy="635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3" name="Прямая соединительная линия 602"/>
          <p:cNvCxnSpPr/>
          <p:nvPr>
            <p:custDataLst>
              <p:tags r:id="rId107"/>
            </p:custDataLst>
          </p:nvPr>
        </p:nvCxnSpPr>
        <p:spPr bwMode="auto">
          <a:xfrm flipV="1">
            <a:off x="9963521" y="5135563"/>
            <a:ext cx="0" cy="269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" name="Прямая соединительная линия 600"/>
          <p:cNvCxnSpPr/>
          <p:nvPr>
            <p:custDataLst>
              <p:tags r:id="rId108"/>
            </p:custDataLst>
          </p:nvPr>
        </p:nvCxnSpPr>
        <p:spPr bwMode="auto">
          <a:xfrm flipV="1">
            <a:off x="9361858" y="5108576"/>
            <a:ext cx="0" cy="508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Прямая соединительная линия 145"/>
          <p:cNvCxnSpPr/>
          <p:nvPr>
            <p:custDataLst>
              <p:tags r:id="rId109"/>
            </p:custDataLst>
          </p:nvPr>
        </p:nvCxnSpPr>
        <p:spPr bwMode="auto">
          <a:xfrm flipV="1">
            <a:off x="10566771" y="5145089"/>
            <a:ext cx="0" cy="333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4" name="Текст 2"/>
          <p:cNvSpPr>
            <a:spLocks noGrp="1"/>
          </p:cNvSpPr>
          <p:nvPr>
            <p:custDataLst>
              <p:tags r:id="rId110"/>
            </p:custDataLst>
          </p:nvPr>
        </p:nvSpPr>
        <p:spPr bwMode="auto">
          <a:xfrm>
            <a:off x="7387010" y="6770689"/>
            <a:ext cx="336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946EC113-6D12-41DE-A918-EA899AE7D34B}" type="datetime'''''20''''''''''''''19''''''''''&#10; Ф''''акт'">
              <a:rPr lang="ru-RU" altLang="en-US" sz="10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2019
 Факт</a:t>
            </a:fld>
            <a:endParaRPr lang="ru-RU" sz="10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557" name="Текст 2"/>
          <p:cNvSpPr>
            <a:spLocks noGrp="1"/>
          </p:cNvSpPr>
          <p:nvPr>
            <p:custDataLst>
              <p:tags r:id="rId111"/>
            </p:custDataLst>
          </p:nvPr>
        </p:nvSpPr>
        <p:spPr bwMode="gray">
          <a:xfrm>
            <a:off x="11000159" y="6491288"/>
            <a:ext cx="338138" cy="122238"/>
          </a:xfrm>
          <a:prstGeom prst="rect">
            <a:avLst/>
          </a:prstGeom>
          <a:noFill/>
          <a:ln>
            <a:noFill/>
          </a:ln>
        </p:spPr>
        <p:txBody>
          <a:bodyPr vert="horz" wrap="none" lIns="14288" tIns="0" rIns="14288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1B0452E5-F8EE-4D55-8676-412D86510CC7}" type="datetime'2''''0'''''' ''''''''0''''''''''1''''''''''''''''''''8'''''''">
              <a:rPr lang="en-US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20 018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588" name="Текст 2"/>
          <p:cNvSpPr>
            <a:spLocks noGrp="1"/>
          </p:cNvSpPr>
          <p:nvPr>
            <p:custDataLst>
              <p:tags r:id="rId112"/>
            </p:custDataLst>
          </p:nvPr>
        </p:nvSpPr>
        <p:spPr bwMode="auto">
          <a:xfrm>
            <a:off x="11479584" y="6261101"/>
            <a:ext cx="292100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85E98DB6-C7F1-4848-88FD-5A47AFE6D5E2}" type="datetime'''С''''''''б''''''''ы''''''т''''''''''''''''''''''''''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Сбыт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556" name="Текст 2"/>
          <p:cNvSpPr>
            <a:spLocks noGrp="1"/>
          </p:cNvSpPr>
          <p:nvPr>
            <p:custDataLst>
              <p:tags r:id="rId113"/>
            </p:custDataLst>
          </p:nvPr>
        </p:nvSpPr>
        <p:spPr bwMode="gray">
          <a:xfrm>
            <a:off x="10904908" y="4959350"/>
            <a:ext cx="5270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0634" tIns="0" rIns="20634" bIns="0" numCol="1" spcCol="0" rtlCol="0" anchor="b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8BD769F6-0C9A-4DA4-B229-BA3A76A66E38}" type="datetime'''46'' ''''''''''''8''''''''''''9''''''''''''''''''''''''''4'">
              <a:rPr lang="en-US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46 894</a:t>
            </a:fld>
            <a:endParaRPr lang="ru-RU" sz="1100" b="1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67" name="Текст 2"/>
          <p:cNvSpPr>
            <a:spLocks noGrp="1"/>
          </p:cNvSpPr>
          <p:nvPr>
            <p:custDataLst>
              <p:tags r:id="rId114"/>
            </p:custDataLst>
          </p:nvPr>
        </p:nvSpPr>
        <p:spPr bwMode="gray">
          <a:xfrm>
            <a:off x="7895009" y="4810126"/>
            <a:ext cx="5270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0634" tIns="0" rIns="20634" bIns="0" numCol="1" spcCol="0" rtlCol="0" anchor="b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483FC734-32AB-49F6-B5BD-DCC2D91C03D3}" type="datetime'''4''8'''''' ''''1''''''''''''''''''6''''''''''4'''''''">
              <a:rPr lang="en-US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48 164</a:t>
            </a:fld>
            <a:endParaRPr lang="ru-RU" sz="1100" b="1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55" name="Текст 2"/>
          <p:cNvSpPr>
            <a:spLocks noGrp="1"/>
          </p:cNvSpPr>
          <p:nvPr>
            <p:custDataLst>
              <p:tags r:id="rId115"/>
            </p:custDataLst>
          </p:nvPr>
        </p:nvSpPr>
        <p:spPr bwMode="auto">
          <a:xfrm>
            <a:off x="7993435" y="6770689"/>
            <a:ext cx="3317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B82B9AA1-C250-4C73-9772-31A92472FFD8}" type="datetime''''''''''''' 2''''''0''''''''''2''''''''0''''''''''''''&#10; БП'''">
              <a:rPr lang="ru-RU" altLang="en-US" sz="10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 2020
 БП</a:t>
            </a:fld>
            <a:endParaRPr lang="ru-RU" sz="10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54" name="Текст 2"/>
          <p:cNvSpPr>
            <a:spLocks noGrp="1"/>
          </p:cNvSpPr>
          <p:nvPr>
            <p:custDataLst>
              <p:tags r:id="rId116"/>
            </p:custDataLst>
          </p:nvPr>
        </p:nvSpPr>
        <p:spPr bwMode="gray">
          <a:xfrm>
            <a:off x="8464921" y="5106988"/>
            <a:ext cx="59055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1C3A81"/>
                </a:solidFill>
              </a14:hiddenFill>
            </a:ext>
          </a:extLst>
        </p:spPr>
        <p:txBody>
          <a:bodyPr vert="horz" wrap="none" lIns="15872" tIns="0" rIns="15872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08A82BA6-16B9-4A5E-BB3A-78CA586CD5CF}" type="datetime'Г''''е''''нер''''''а''ц''''''''''''''''и''''''''''''''я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Генерация</a:t>
            </a:fld>
            <a:br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F31839F0-8103-4D81-9F82-CD475F9C57D5}" type="datetime'''''''''''''''''''''''-6''''''''''''''''''''''31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-631</a:t>
            </a:fld>
            <a:endParaRPr lang="ru-RU" sz="9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44" name="Текст 2"/>
          <p:cNvSpPr>
            <a:spLocks noGrp="1"/>
          </p:cNvSpPr>
          <p:nvPr>
            <p:custDataLst>
              <p:tags r:id="rId117"/>
            </p:custDataLst>
          </p:nvPr>
        </p:nvSpPr>
        <p:spPr bwMode="gray">
          <a:xfrm>
            <a:off x="10355634" y="5178425"/>
            <a:ext cx="422275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6C0A"/>
                </a:solidFill>
              </a14:hiddenFill>
            </a:ext>
          </a:extLst>
        </p:spPr>
        <p:txBody>
          <a:bodyPr vert="horz" wrap="none" lIns="15872" tIns="0" rIns="15872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AD006E47-C09E-4517-B94B-92FF95C3B3AD}" type="datetime'''П''''р''''''о''''''''ч''''и''''''''''''е''''''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Прочие</a:t>
            </a:fld>
            <a:br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26C9C28F-EB26-4D43-83B3-264A9BEF7553}" type="datetime'-''''''1''''''''''''''''''3''''''''''4''''''''''''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-134</a:t>
            </a:fld>
            <a:endParaRPr lang="ru-RU" sz="9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669" name="Текст 2"/>
          <p:cNvSpPr>
            <a:spLocks noGrp="1"/>
          </p:cNvSpPr>
          <p:nvPr>
            <p:custDataLst>
              <p:tags r:id="rId118"/>
            </p:custDataLst>
          </p:nvPr>
        </p:nvSpPr>
        <p:spPr bwMode="gray">
          <a:xfrm>
            <a:off x="11027147" y="5929314"/>
            <a:ext cx="282575" cy="122238"/>
          </a:xfrm>
          <a:prstGeom prst="rect">
            <a:avLst/>
          </a:prstGeom>
          <a:noFill/>
          <a:ln>
            <a:noFill/>
          </a:ln>
        </p:spPr>
        <p:txBody>
          <a:bodyPr vert="horz" wrap="none" lIns="14288" tIns="0" rIns="14288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8666D1C9-03B9-42F3-968C-35A5A006ED16}" type="datetime'''''''''''''5'''''' ''''3''''''9''9'''''''''''''''">
              <a:rPr lang="en-US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5 399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47" name="Текст 2"/>
          <p:cNvSpPr>
            <a:spLocks noGrp="1"/>
          </p:cNvSpPr>
          <p:nvPr>
            <p:custDataLst>
              <p:tags r:id="rId119"/>
            </p:custDataLst>
          </p:nvPr>
        </p:nvSpPr>
        <p:spPr bwMode="gray">
          <a:xfrm>
            <a:off x="11071598" y="6073776"/>
            <a:ext cx="195263" cy="122238"/>
          </a:xfrm>
          <a:prstGeom prst="rect">
            <a:avLst/>
          </a:prstGeom>
          <a:solidFill>
            <a:srgbClr val="C3CFE1"/>
          </a:solidFill>
          <a:ln>
            <a:noFill/>
          </a:ln>
        </p:spPr>
        <p:txBody>
          <a:bodyPr vert="horz" wrap="none" lIns="14288" tIns="0" rIns="14288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BC0BC486-42A4-4D59-82A9-2A52C4F3922F}" type="datetime'''''6''''1''''''''''''''''''''''''''3'''''''''''''">
              <a:rPr lang="en-US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613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648" name="Текст 2"/>
          <p:cNvSpPr>
            <a:spLocks noGrp="1"/>
          </p:cNvSpPr>
          <p:nvPr>
            <p:custDataLst>
              <p:tags r:id="rId120"/>
            </p:custDataLst>
          </p:nvPr>
        </p:nvSpPr>
        <p:spPr bwMode="gray">
          <a:xfrm>
            <a:off x="11000159" y="6216650"/>
            <a:ext cx="338138" cy="122238"/>
          </a:xfrm>
          <a:prstGeom prst="rect">
            <a:avLst/>
          </a:prstGeom>
          <a:noFill/>
          <a:ln>
            <a:noFill/>
          </a:ln>
        </p:spPr>
        <p:txBody>
          <a:bodyPr vert="horz" wrap="none" lIns="14288" tIns="0" rIns="14288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F0A91666-C8DB-4202-A16A-F819D20C5615}" type="datetime'''''''''''''''14'''''''' ''9''''''''''''''''46'''''''''">
              <a:rPr lang="en-US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14 946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638" name="Текст 2"/>
          <p:cNvSpPr>
            <a:spLocks noGrp="1"/>
          </p:cNvSpPr>
          <p:nvPr>
            <p:custDataLst>
              <p:tags r:id="rId121"/>
            </p:custDataLst>
          </p:nvPr>
        </p:nvSpPr>
        <p:spPr bwMode="gray">
          <a:xfrm>
            <a:off x="7291760" y="4987926"/>
            <a:ext cx="5270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0634" tIns="0" rIns="20634" bIns="0" numCol="1" spcCol="0" rtlCol="0" anchor="b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12ADD6D3-3F45-4EFA-8B1A-90EFDEB9E3F3}" type="datetime'''4''''''''''''6 ''''''73''''''''''0'''''''''''''''''''">
              <a:rPr lang="en-US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46 730</a:t>
            </a:fld>
            <a:endParaRPr lang="ru-RU" sz="1100" b="1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546" name="Текст 2"/>
          <p:cNvSpPr>
            <a:spLocks noGrp="1"/>
          </p:cNvSpPr>
          <p:nvPr>
            <p:custDataLst>
              <p:tags r:id="rId122"/>
            </p:custDataLst>
          </p:nvPr>
        </p:nvSpPr>
        <p:spPr bwMode="auto">
          <a:xfrm>
            <a:off x="11000158" y="6770689"/>
            <a:ext cx="336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0DD29DC1-71F9-456F-AAAE-C0221EC5204B}" type="datetime'2''''''0''''20''''''''''''&#10;'''''''' ''''Ф''''''''''''ак''''т'">
              <a:rPr lang="ru-RU" altLang="en-US" sz="10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2020
 Факт</a:t>
            </a:fld>
            <a:endParaRPr lang="ru-RU" sz="10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63" name="Текст 2"/>
          <p:cNvSpPr>
            <a:spLocks noGrp="1"/>
          </p:cNvSpPr>
          <p:nvPr>
            <p:custDataLst>
              <p:tags r:id="rId123"/>
            </p:custDataLst>
          </p:nvPr>
        </p:nvSpPr>
        <p:spPr bwMode="auto">
          <a:xfrm>
            <a:off x="11479586" y="5189539"/>
            <a:ext cx="430212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B1966B30-8B43-46A0-A50E-90C995A5FA89}" type="datetime'''''П''''р''''''о''''''''''''''''ч''''''ие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Прочие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587" name="Текст 2"/>
          <p:cNvSpPr>
            <a:spLocks noGrp="1"/>
          </p:cNvSpPr>
          <p:nvPr>
            <p:custDataLst>
              <p:tags r:id="rId124"/>
            </p:custDataLst>
          </p:nvPr>
        </p:nvSpPr>
        <p:spPr bwMode="auto">
          <a:xfrm>
            <a:off x="11479585" y="6057901"/>
            <a:ext cx="619125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ru-RU" altLang="en-US" sz="8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t>Трейдинг*</a:t>
            </a:r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586" name="Текст 2"/>
          <p:cNvSpPr>
            <a:spLocks noGrp="1"/>
          </p:cNvSpPr>
          <p:nvPr>
            <p:custDataLst>
              <p:tags r:id="rId125"/>
            </p:custDataLst>
          </p:nvPr>
        </p:nvSpPr>
        <p:spPr bwMode="auto">
          <a:xfrm>
            <a:off x="11479585" y="5854701"/>
            <a:ext cx="728663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DC3B39A1-C189-445C-A78F-03A9D005B9E7}" type="datetime'''''''''''''''Ин''''жи''н''''и''ри''н''''''''''''г''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Инжиниринг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59" name="Текст 2"/>
          <p:cNvSpPr>
            <a:spLocks noGrp="1"/>
          </p:cNvSpPr>
          <p:nvPr>
            <p:custDataLst>
              <p:tags r:id="rId126"/>
            </p:custDataLst>
          </p:nvPr>
        </p:nvSpPr>
        <p:spPr bwMode="auto">
          <a:xfrm>
            <a:off x="11479584" y="6475414"/>
            <a:ext cx="617538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A966AD67-6EE1-48C8-8B36-E151495851F6}" type="datetime'''''''''''Г''''''''''''е''''''н''е''''раци''''я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Генерация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590" name="Текст 2"/>
          <p:cNvSpPr>
            <a:spLocks noGrp="1"/>
          </p:cNvSpPr>
          <p:nvPr>
            <p:custDataLst>
              <p:tags r:id="rId127"/>
            </p:custDataLst>
          </p:nvPr>
        </p:nvSpPr>
        <p:spPr bwMode="gray">
          <a:xfrm>
            <a:off x="9214222" y="5159375"/>
            <a:ext cx="29686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1C3A81"/>
                </a:solidFill>
              </a14:hiddenFill>
            </a:ext>
          </a:extLst>
        </p:spPr>
        <p:txBody>
          <a:bodyPr vert="horz" wrap="none" lIns="15872" tIns="0" rIns="15872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B7F5383C-1114-4BA1-B82E-8E39CB86C6B5}" type="datetime'''С''''''''б''''''''ы''''''т''''''''''''''''''''''''''''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Сбыт</a:t>
            </a:fld>
            <a:br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EA6E707C-D1A4-4C3E-AC85-EE6D1E4E18E7}" type="datetime'''''''''''''''''-''''''''''''42''''''''''''''''''6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-426</a:t>
            </a:fld>
            <a:endParaRPr lang="ru-RU" sz="9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591" name="Текст 2"/>
          <p:cNvSpPr>
            <a:spLocks noGrp="1"/>
          </p:cNvSpPr>
          <p:nvPr>
            <p:custDataLst>
              <p:tags r:id="rId128"/>
            </p:custDataLst>
          </p:nvPr>
        </p:nvSpPr>
        <p:spPr bwMode="gray">
          <a:xfrm>
            <a:off x="9668246" y="5162550"/>
            <a:ext cx="59055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2" tIns="0" rIns="15872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27D90B7B-AF8B-4A97-BC6B-461A363955D3}" type="datetime'''''''''''''''Т''''''''''''р''''''''ейдин''г''''*''''''''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Трейдинг*</a:t>
            </a:fld>
            <a:br>
              <a:rPr lang="ru-RU" altLang="en-US" sz="9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2C957668-CB1C-4CA7-9F1C-1C0A8665BC93}" type="datetime'''-''''''14''''''''''''''''''''''''''''''''''''''''''''''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-14</a:t>
            </a:fld>
            <a:endParaRPr lang="ru-RU" sz="9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585" name="Текст 2"/>
          <p:cNvSpPr>
            <a:spLocks noGrp="1"/>
          </p:cNvSpPr>
          <p:nvPr>
            <p:custDataLst>
              <p:tags r:id="rId129"/>
            </p:custDataLst>
          </p:nvPr>
        </p:nvSpPr>
        <p:spPr bwMode="auto">
          <a:xfrm>
            <a:off x="11479584" y="5480050"/>
            <a:ext cx="7223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290D803A-936A-4398-BE7F-802F7EF8346F}" type="datetime'''''З''''а''''р''''уб''еж''н''''''ые&#10;а''кти''вы''''''''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Зарубежные
активы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70" name="Текст 2"/>
          <p:cNvSpPr>
            <a:spLocks noGrp="1"/>
          </p:cNvSpPr>
          <p:nvPr>
            <p:custDataLst>
              <p:tags r:id="rId130"/>
            </p:custDataLst>
          </p:nvPr>
        </p:nvSpPr>
        <p:spPr bwMode="auto">
          <a:xfrm>
            <a:off x="9255497" y="4457701"/>
            <a:ext cx="815975" cy="476250"/>
          </a:xfrm>
          <a:prstGeom prst="ellipse">
            <a:avLst/>
          </a:prstGeom>
          <a:noFill/>
          <a:ln w="9525" algn="ctr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F9A9509E-4B6C-46DA-93BC-4C12D3D4B972}" type="datetime'-1 27''''''''''0'''''''''''''''''''"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-1 270</a:t>
            </a:fld>
            <a:br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r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t>(</a:t>
            </a:r>
            <a:fld id="{8BD9636B-84A6-4472-9E31-73D67A79212C}" type="datetime'''''''''-2'''',''''''''''''''''''''''''''6''''%'''''''''''''''"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-2,6%</a:t>
            </a:fld>
            <a:r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t>)</a:t>
            </a:r>
            <a:endParaRPr lang="ru-RU" sz="1100" b="1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72" name="Прямоугольник 271"/>
          <p:cNvSpPr/>
          <p:nvPr/>
        </p:nvSpPr>
        <p:spPr>
          <a:xfrm>
            <a:off x="7536186" y="4209168"/>
            <a:ext cx="4973638" cy="2168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 ГРАФИКА ИЛИ ДИАГРАММЫ</a:t>
            </a:r>
            <a:endParaRPr lang="en-US" sz="1400" b="1" dirty="0">
              <a:solidFill>
                <a:srgbClr val="F184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73" name="TextBox 272"/>
          <p:cNvSpPr txBox="1"/>
          <p:nvPr/>
        </p:nvSpPr>
        <p:spPr>
          <a:xfrm>
            <a:off x="7389862" y="4496165"/>
            <a:ext cx="8714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marR="0" lvl="0" indent="0" algn="ctr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 kumimoji="0" sz="80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человек</a:t>
            </a:r>
          </a:p>
        </p:txBody>
      </p:sp>
      <p:cxnSp>
        <p:nvCxnSpPr>
          <p:cNvPr id="525" name="Прямая соединительная линия 524"/>
          <p:cNvCxnSpPr/>
          <p:nvPr>
            <p:custDataLst>
              <p:tags r:id="rId131"/>
            </p:custDataLst>
          </p:nvPr>
        </p:nvCxnSpPr>
        <p:spPr bwMode="auto">
          <a:xfrm>
            <a:off x="3390353" y="5089525"/>
            <a:ext cx="2667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Прямая соединительная линия 372"/>
          <p:cNvCxnSpPr/>
          <p:nvPr>
            <p:custDataLst>
              <p:tags r:id="rId132"/>
            </p:custDataLst>
          </p:nvPr>
        </p:nvCxnSpPr>
        <p:spPr bwMode="auto">
          <a:xfrm>
            <a:off x="2788689" y="5070475"/>
            <a:ext cx="2667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Прямая соединительная линия 373"/>
          <p:cNvCxnSpPr/>
          <p:nvPr>
            <p:custDataLst>
              <p:tags r:id="rId133"/>
            </p:custDataLst>
          </p:nvPr>
        </p:nvCxnSpPr>
        <p:spPr bwMode="auto">
          <a:xfrm>
            <a:off x="1585365" y="5003800"/>
            <a:ext cx="2667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Прямая соединительная линия 375"/>
          <p:cNvCxnSpPr/>
          <p:nvPr>
            <p:custDataLst>
              <p:tags r:id="rId134"/>
            </p:custDataLst>
          </p:nvPr>
        </p:nvCxnSpPr>
        <p:spPr bwMode="auto">
          <a:xfrm>
            <a:off x="3993602" y="5072063"/>
            <a:ext cx="2667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/>
          <p:nvPr>
            <p:custDataLst>
              <p:tags r:id="rId135"/>
            </p:custDataLst>
          </p:nvPr>
        </p:nvCxnSpPr>
        <p:spPr bwMode="auto">
          <a:xfrm>
            <a:off x="2187027" y="5041900"/>
            <a:ext cx="266700" cy="0"/>
          </a:xfrm>
          <a:prstGeom prst="line">
            <a:avLst/>
          </a:prstGeom>
          <a:solidFill>
            <a:srgbClr val="FF0000"/>
          </a:solidFill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232" name="Chart 3"/>
          <p:cNvGraphicFramePr/>
          <p:nvPr>
            <p:custDataLst>
              <p:tags r:id="rId136"/>
            </p:custDataLst>
            <p:extLst>
              <p:ext uri="{D42A27DB-BD31-4B8C-83A1-F6EECF244321}">
                <p14:modId xmlns:p14="http://schemas.microsoft.com/office/powerpoint/2010/main" val="4250844141"/>
              </p:ext>
            </p:extLst>
          </p:nvPr>
        </p:nvGraphicFramePr>
        <p:xfrm>
          <a:off x="431254" y="4921250"/>
          <a:ext cx="4379911" cy="1889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5"/>
          </a:graphicData>
        </a:graphic>
      </p:graphicFrame>
      <p:sp useBgFill="1">
        <p:nvSpPr>
          <p:cNvPr id="451" name="Полилиния 450"/>
          <p:cNvSpPr/>
          <p:nvPr>
            <p:custDataLst>
              <p:tags r:id="rId137"/>
            </p:custDataLst>
          </p:nvPr>
        </p:nvSpPr>
        <p:spPr bwMode="auto">
          <a:xfrm>
            <a:off x="628104" y="5180014"/>
            <a:ext cx="373063" cy="157162"/>
          </a:xfrm>
          <a:custGeom>
            <a:avLst/>
            <a:gdLst/>
            <a:ahLst/>
            <a:cxnLst/>
            <a:rect l="0" t="0" r="0" b="0"/>
            <a:pathLst>
              <a:path w="373063" h="157163">
                <a:moveTo>
                  <a:pt x="0" y="100012"/>
                </a:moveTo>
                <a:lnTo>
                  <a:pt x="373062" y="0"/>
                </a:lnTo>
                <a:lnTo>
                  <a:pt x="373062" y="57150"/>
                </a:lnTo>
                <a:lnTo>
                  <a:pt x="0" y="157162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453" name="Полилиния 452"/>
          <p:cNvSpPr/>
          <p:nvPr>
            <p:custDataLst>
              <p:tags r:id="rId138"/>
            </p:custDataLst>
          </p:nvPr>
        </p:nvSpPr>
        <p:spPr bwMode="auto">
          <a:xfrm>
            <a:off x="4236491" y="5178426"/>
            <a:ext cx="382589" cy="160339"/>
          </a:xfrm>
          <a:custGeom>
            <a:avLst/>
            <a:gdLst/>
            <a:ahLst/>
            <a:cxnLst/>
            <a:rect l="0" t="0" r="0" b="0"/>
            <a:pathLst>
              <a:path w="382589" h="160339">
                <a:moveTo>
                  <a:pt x="0" y="103188"/>
                </a:moveTo>
                <a:lnTo>
                  <a:pt x="382588" y="0"/>
                </a:lnTo>
                <a:lnTo>
                  <a:pt x="382588" y="57150"/>
                </a:lnTo>
                <a:lnTo>
                  <a:pt x="0" y="160338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452" name="Полилиния 451"/>
          <p:cNvSpPr/>
          <p:nvPr>
            <p:custDataLst>
              <p:tags r:id="rId139"/>
            </p:custDataLst>
          </p:nvPr>
        </p:nvSpPr>
        <p:spPr bwMode="auto">
          <a:xfrm>
            <a:off x="1229767" y="5178425"/>
            <a:ext cx="374651" cy="158751"/>
          </a:xfrm>
          <a:custGeom>
            <a:avLst/>
            <a:gdLst/>
            <a:ahLst/>
            <a:cxnLst/>
            <a:rect l="0" t="0" r="0" b="0"/>
            <a:pathLst>
              <a:path w="374651" h="158751">
                <a:moveTo>
                  <a:pt x="0" y="101600"/>
                </a:moveTo>
                <a:lnTo>
                  <a:pt x="374650" y="0"/>
                </a:lnTo>
                <a:lnTo>
                  <a:pt x="374650" y="57150"/>
                </a:lnTo>
                <a:lnTo>
                  <a:pt x="0" y="158750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cxnSp>
        <p:nvCxnSpPr>
          <p:cNvPr id="390" name="Прямая соединительная линия 389"/>
          <p:cNvCxnSpPr/>
          <p:nvPr>
            <p:custDataLst>
              <p:tags r:id="rId140"/>
            </p:custDataLst>
          </p:nvPr>
        </p:nvCxnSpPr>
        <p:spPr bwMode="auto">
          <a:xfrm>
            <a:off x="1417092" y="4615880"/>
            <a:ext cx="11922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Прямая соединительная линия 388"/>
          <p:cNvCxnSpPr/>
          <p:nvPr>
            <p:custDataLst>
              <p:tags r:id="rId141"/>
            </p:custDataLst>
          </p:nvPr>
        </p:nvCxnSpPr>
        <p:spPr bwMode="auto">
          <a:xfrm flipV="1">
            <a:off x="1417090" y="4687889"/>
            <a:ext cx="0" cy="841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Прямая соединительная линия 390"/>
          <p:cNvCxnSpPr/>
          <p:nvPr>
            <p:custDataLst>
              <p:tags r:id="rId142"/>
            </p:custDataLst>
          </p:nvPr>
        </p:nvCxnSpPr>
        <p:spPr bwMode="auto">
          <a:xfrm>
            <a:off x="3236366" y="4615880"/>
            <a:ext cx="1190625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Прямая соединительная линия 391"/>
          <p:cNvCxnSpPr/>
          <p:nvPr>
            <p:custDataLst>
              <p:tags r:id="rId143"/>
            </p:custDataLst>
          </p:nvPr>
        </p:nvCxnSpPr>
        <p:spPr bwMode="auto">
          <a:xfrm>
            <a:off x="4426991" y="4687890"/>
            <a:ext cx="0" cy="152399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>
            <p:custDataLst>
              <p:tags r:id="rId144"/>
            </p:custDataLst>
          </p:nvPr>
        </p:nvCxnSpPr>
        <p:spPr bwMode="auto">
          <a:xfrm flipV="1">
            <a:off x="2620415" y="5056188"/>
            <a:ext cx="0" cy="39688"/>
          </a:xfrm>
          <a:prstGeom prst="line">
            <a:avLst/>
          </a:prstGeom>
          <a:solidFill>
            <a:srgbClr val="FF0000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Прямая соединительная линия 68"/>
          <p:cNvCxnSpPr/>
          <p:nvPr>
            <p:custDataLst>
              <p:tags r:id="rId145"/>
            </p:custDataLst>
          </p:nvPr>
        </p:nvCxnSpPr>
        <p:spPr bwMode="auto">
          <a:xfrm flipV="1">
            <a:off x="2018753" y="5022850"/>
            <a:ext cx="0" cy="44450"/>
          </a:xfrm>
          <a:prstGeom prst="line">
            <a:avLst/>
          </a:prstGeom>
          <a:solidFill>
            <a:srgbClr val="FF0000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6" name="Прямая соединительная линия 105"/>
          <p:cNvCxnSpPr/>
          <p:nvPr>
            <p:custDataLst>
              <p:tags r:id="rId146"/>
            </p:custDataLst>
          </p:nvPr>
        </p:nvCxnSpPr>
        <p:spPr bwMode="auto">
          <a:xfrm flipV="1">
            <a:off x="3222078" y="5080001"/>
            <a:ext cx="0" cy="3492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Прямая соединительная линия 106"/>
          <p:cNvCxnSpPr/>
          <p:nvPr>
            <p:custDataLst>
              <p:tags r:id="rId147"/>
            </p:custDataLst>
          </p:nvPr>
        </p:nvCxnSpPr>
        <p:spPr bwMode="auto">
          <a:xfrm flipV="1">
            <a:off x="3825328" y="5081589"/>
            <a:ext cx="0" cy="333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>
            <p:custDataLst>
              <p:tags r:id="rId148"/>
            </p:custDataLst>
          </p:nvPr>
        </p:nvCxnSpPr>
        <p:spPr bwMode="auto">
          <a:xfrm flipH="1" flipV="1">
            <a:off x="4615904" y="5554663"/>
            <a:ext cx="96837" cy="160337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" name="Прямая соединительная линия 534"/>
          <p:cNvCxnSpPr/>
          <p:nvPr>
            <p:custDataLst>
              <p:tags r:id="rId149"/>
            </p:custDataLst>
          </p:nvPr>
        </p:nvCxnSpPr>
        <p:spPr bwMode="auto">
          <a:xfrm flipH="1" flipV="1">
            <a:off x="4615903" y="5073649"/>
            <a:ext cx="96838" cy="825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>
            <p:custDataLst>
              <p:tags r:id="rId150"/>
            </p:custDataLst>
          </p:nvPr>
        </p:nvCxnSpPr>
        <p:spPr bwMode="auto">
          <a:xfrm flipH="1" flipV="1">
            <a:off x="4615904" y="5251450"/>
            <a:ext cx="96837" cy="184149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0" name="Текст 2"/>
          <p:cNvSpPr>
            <a:spLocks noGrp="1"/>
          </p:cNvSpPr>
          <p:nvPr>
            <p:custDataLst>
              <p:tags r:id="rId151"/>
            </p:custDataLst>
          </p:nvPr>
        </p:nvSpPr>
        <p:spPr bwMode="gray">
          <a:xfrm>
            <a:off x="4258715" y="5073651"/>
            <a:ext cx="338138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3CFE1"/>
                </a:solidFill>
              </a14:hiddenFill>
            </a:ext>
          </a:extLst>
        </p:spPr>
        <p:txBody>
          <a:bodyPr vert="horz" wrap="none" lIns="14288" tIns="0" rIns="14288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D09548C6-09E9-4EB1-A286-1F447F7026A5}" type="datetime'''''''''''''''1''''''''''7'''' ''''''''4''''''''''3''2'">
              <a:rPr lang="en-US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17 432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2" name="Прямоугольник 31"/>
          <p:cNvSpPr/>
          <p:nvPr>
            <p:custDataLst>
              <p:tags r:id="rId152"/>
            </p:custDataLst>
          </p:nvPr>
        </p:nvSpPr>
        <p:spPr bwMode="gray">
          <a:xfrm>
            <a:off x="1823491" y="5067300"/>
            <a:ext cx="390525" cy="2730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46C0A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5874" tIns="0" rIns="15874" bIns="0" numCol="1" rtlCol="0" anchor="t" anchorCtr="0" compatLnSpc="1">
            <a:prstTxWarp prst="textNoShape">
              <a:avLst/>
            </a:prstTxWarp>
          </a:bodyPr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tabLst>
                <a:tab pos="542907" algn="r"/>
                <a:tab pos="809599" algn="r"/>
              </a:tabLst>
              <a:defRPr/>
            </a:pPr>
            <a:fld id="{85E0D991-5BB4-4B68-8886-3DC056AE02B9}" type="datetime'''''''''''Т''''Г''''''''К''''''''''''''''-''''1''''1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algn="ctr" defTabSz="914371" fontAlgn="base">
                <a:spcBef>
                  <a:spcPct val="0"/>
                </a:spcBef>
                <a:spcAft>
                  <a:spcPct val="0"/>
                </a:spcAft>
                <a:tabLst>
                  <a:tab pos="542907" algn="r"/>
                  <a:tab pos="809599" algn="r"/>
                </a:tabLst>
                <a:defRPr/>
              </a:pPr>
              <a:t>ТГК-11</a:t>
            </a:fld>
            <a:br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C1C2BE70-5174-4BAE-86C2-B31989583D57}" type="datetime'-''''''''4''''''''''''''''''''''63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algn="ctr" defTabSz="914371" fontAlgn="base">
                <a:spcBef>
                  <a:spcPct val="0"/>
                </a:spcBef>
                <a:spcAft>
                  <a:spcPct val="0"/>
                </a:spcAft>
                <a:tabLst>
                  <a:tab pos="542907" algn="r"/>
                  <a:tab pos="809599" algn="r"/>
                </a:tabLst>
                <a:defRPr/>
              </a:pPr>
              <a:t>-463</a:t>
            </a:fld>
            <a:endParaRPr lang="ru-RU" sz="9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424" name="Текст 2"/>
          <p:cNvSpPr>
            <a:spLocks noGrp="1"/>
          </p:cNvSpPr>
          <p:nvPr>
            <p:custDataLst>
              <p:tags r:id="rId153"/>
            </p:custDataLst>
          </p:nvPr>
        </p:nvSpPr>
        <p:spPr bwMode="auto">
          <a:xfrm>
            <a:off x="645565" y="6770689"/>
            <a:ext cx="336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E37B8895-1D7C-4E58-924B-68C233B6F4B3}" type="datetime'2''''''0''''1''9''&#10; Ф''''''а''''''''''''''''кт'">
              <a:rPr lang="ru-RU" altLang="en-US" sz="10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2019
 Факт</a:t>
            </a:fld>
            <a:endParaRPr lang="ru-RU" sz="10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96" name="Текст 2"/>
          <p:cNvSpPr>
            <a:spLocks noGrp="1"/>
          </p:cNvSpPr>
          <p:nvPr>
            <p:custDataLst>
              <p:tags r:id="rId154"/>
            </p:custDataLst>
          </p:nvPr>
        </p:nvSpPr>
        <p:spPr bwMode="auto">
          <a:xfrm>
            <a:off x="1251991" y="6770689"/>
            <a:ext cx="3317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399B6A44-E003-4D7E-B55D-0D77EA8F4DE7}" type="datetime''''''''''' 202''''''''''''0''''''''&#10;'''' ''''''БП'''''''">
              <a:rPr lang="ru-RU" altLang="en-US" sz="10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 2020
 БП</a:t>
            </a:fld>
            <a:endParaRPr lang="ru-RU" sz="10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5" name="Прямоугольник 34"/>
          <p:cNvSpPr/>
          <p:nvPr>
            <p:custDataLst>
              <p:tags r:id="rId155"/>
            </p:custDataLst>
          </p:nvPr>
        </p:nvSpPr>
        <p:spPr bwMode="gray">
          <a:xfrm>
            <a:off x="2331489" y="5095876"/>
            <a:ext cx="579438" cy="40957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46C0A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5874" tIns="0" rIns="15874" bIns="0" numCol="1" rtlCol="0" anchor="t" anchorCtr="0" compatLnSpc="1">
            <a:prstTxWarp prst="textNoShape">
              <a:avLst/>
            </a:prstTxWarp>
          </a:bodyPr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tabLst>
                <a:tab pos="542907" algn="r"/>
                <a:tab pos="809599" algn="r"/>
              </a:tabLst>
              <a:defRPr/>
            </a:pPr>
            <a:fld id="{73023DEA-8FB3-4E8D-B158-AB78136495E0}" type="datetime'То''''''мс''ка''я'''' &#10;г''''ен''е''р''''''а''ци''я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algn="ctr" defTabSz="914371" fontAlgn="base">
                <a:spcBef>
                  <a:spcPct val="0"/>
                </a:spcBef>
                <a:spcAft>
                  <a:spcPct val="0"/>
                </a:spcAft>
                <a:tabLst>
                  <a:tab pos="542907" algn="r"/>
                  <a:tab pos="809599" algn="r"/>
                </a:tabLst>
                <a:defRPr/>
              </a:pPr>
              <a:t>Томская 
генерация</a:t>
            </a:fld>
            <a:br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B55F44AA-37DD-4DC4-A172-8D6F11C4BC14}" type="datetime'''''''''''''''-''''''3''''''''''''''6''''''''''''''4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algn="ctr" defTabSz="914371" fontAlgn="base">
                <a:spcBef>
                  <a:spcPct val="0"/>
                </a:spcBef>
                <a:spcAft>
                  <a:spcPct val="0"/>
                </a:spcAft>
                <a:tabLst>
                  <a:tab pos="542907" algn="r"/>
                  <a:tab pos="809599" algn="r"/>
                </a:tabLst>
                <a:defRPr/>
              </a:pPr>
              <a:t>-364</a:t>
            </a:fld>
            <a:endParaRPr lang="ru-RU" sz="9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461" name="Текст 2"/>
          <p:cNvSpPr>
            <a:spLocks noGrp="1"/>
          </p:cNvSpPr>
          <p:nvPr>
            <p:custDataLst>
              <p:tags r:id="rId156"/>
            </p:custDataLst>
          </p:nvPr>
        </p:nvSpPr>
        <p:spPr bwMode="gray">
          <a:xfrm>
            <a:off x="3093491" y="5114925"/>
            <a:ext cx="25876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5872" tIns="0" rIns="15872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2D77552F-AD0A-4017-854F-56223387300E}" type="datetime'''''''''''''''''''''''''''''Б''''''''Г''''''К''''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БГК</a:t>
            </a:fld>
            <a:br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B84D893F-3508-48BC-8A31-91C0C20572DF}" type="datetime'''''-2''''''''''''''''''''''''''''''''2''''''''''''''9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-229</a:t>
            </a:fld>
            <a:endParaRPr lang="ru-RU" sz="9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430" name="Текст 2"/>
          <p:cNvSpPr>
            <a:spLocks noGrp="1"/>
          </p:cNvSpPr>
          <p:nvPr>
            <p:custDataLst>
              <p:tags r:id="rId157"/>
            </p:custDataLst>
          </p:nvPr>
        </p:nvSpPr>
        <p:spPr bwMode="auto">
          <a:xfrm>
            <a:off x="4738140" y="5359401"/>
            <a:ext cx="215900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13B90C59-6B64-4CB3-B95A-6452A9A8131B}" type="datetime'''''''''''''''''''''''''''''Б''''''''Г''''''К''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БГК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474" name="Текст 2"/>
          <p:cNvSpPr>
            <a:spLocks noGrp="1"/>
          </p:cNvSpPr>
          <p:nvPr>
            <p:custDataLst>
              <p:tags r:id="rId158"/>
            </p:custDataLst>
          </p:nvPr>
        </p:nvSpPr>
        <p:spPr bwMode="auto">
          <a:xfrm>
            <a:off x="4738141" y="5562601"/>
            <a:ext cx="6048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492D4F2D-978D-41E2-9E8C-67491D69415E}" type="datetime'То''''''мс''ка''я'''' &#10;г''''ен''е''р''''''а''ци''я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Томская 
генерация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475" name="Текст 2"/>
          <p:cNvSpPr>
            <a:spLocks noGrp="1"/>
          </p:cNvSpPr>
          <p:nvPr>
            <p:custDataLst>
              <p:tags r:id="rId159"/>
            </p:custDataLst>
          </p:nvPr>
        </p:nvSpPr>
        <p:spPr bwMode="auto">
          <a:xfrm>
            <a:off x="4738140" y="5988051"/>
            <a:ext cx="401638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48C469FA-395F-4B3D-B6C9-0702A539E724}" type="datetime'''''''''''Т''''Г''''''''К''''''''''''''''-''''1''''1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ТГК-11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426" name="Текст 2"/>
          <p:cNvSpPr>
            <a:spLocks noGrp="1"/>
          </p:cNvSpPr>
          <p:nvPr>
            <p:custDataLst>
              <p:tags r:id="rId160"/>
            </p:custDataLst>
          </p:nvPr>
        </p:nvSpPr>
        <p:spPr bwMode="gray">
          <a:xfrm>
            <a:off x="550315" y="4810126"/>
            <a:ext cx="5270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0634" tIns="0" rIns="20634" bIns="0" numCol="1" spcCol="0" rtlCol="0" anchor="b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862833A0-BF93-4D0E-B327-4EBC6121E400}" type="datetime'''''''3''''4'''''''''''''''''''''''''''' ''''''64''''6'">
              <a:rPr lang="en-US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34 646</a:t>
            </a:fld>
            <a:endParaRPr lang="ru-RU" sz="1100" b="1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431" name="Текст 2"/>
          <p:cNvSpPr>
            <a:spLocks noGrp="1"/>
          </p:cNvSpPr>
          <p:nvPr>
            <p:custDataLst>
              <p:tags r:id="rId161"/>
            </p:custDataLst>
          </p:nvPr>
        </p:nvSpPr>
        <p:spPr bwMode="auto">
          <a:xfrm>
            <a:off x="4738141" y="6499226"/>
            <a:ext cx="815975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CC4B7166-FA85-47AE-8B12-64DC7FD4DCCD}" type="datetime'И''''н''т''''е''''''р'' ''''Р''А''''О-''''''''''''''''''ЭГ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Интер РАО-ЭГ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429" name="Текст 2"/>
          <p:cNvSpPr>
            <a:spLocks noGrp="1"/>
          </p:cNvSpPr>
          <p:nvPr>
            <p:custDataLst>
              <p:tags r:id="rId162"/>
            </p:custDataLst>
          </p:nvPr>
        </p:nvSpPr>
        <p:spPr bwMode="auto">
          <a:xfrm>
            <a:off x="4738139" y="5003801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ru-RU" altLang="en-US" sz="8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t>Зарубежные </a:t>
            </a:r>
            <a:br>
              <a:rPr lang="ru-RU" altLang="en-US" sz="8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r>
              <a:rPr lang="ru-RU" altLang="en-US" sz="8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t>активы</a:t>
            </a:r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449" name="Текст 2"/>
          <p:cNvSpPr>
            <a:spLocks noGrp="1"/>
          </p:cNvSpPr>
          <p:nvPr>
            <p:custDataLst>
              <p:tags r:id="rId163"/>
            </p:custDataLst>
          </p:nvPr>
        </p:nvSpPr>
        <p:spPr bwMode="auto">
          <a:xfrm>
            <a:off x="4258716" y="6770689"/>
            <a:ext cx="336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F041844D-F231-4390-B53F-A3FF40A3CEA0}" type="datetime'''''''''''20''''''''20''&#10;'''' ''Фа''к''''''т'''''''''''">
              <a:rPr lang="ru-RU" altLang="en-US" sz="10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2020
 Факт</a:t>
            </a:fld>
            <a:endParaRPr lang="ru-RU" sz="10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462" name="Текст 2"/>
          <p:cNvSpPr>
            <a:spLocks noGrp="1"/>
          </p:cNvSpPr>
          <p:nvPr>
            <p:custDataLst>
              <p:tags r:id="rId164"/>
            </p:custDataLst>
          </p:nvPr>
        </p:nvSpPr>
        <p:spPr bwMode="gray">
          <a:xfrm>
            <a:off x="3614190" y="5114925"/>
            <a:ext cx="422275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5872" tIns="0" rIns="15872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F380D7F1-FA30-471F-BF47-49EAB34C9FA6}" type="datetime'П''р''о''''''''''''''ч''''''''''''''''''''ие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Прочие</a:t>
            </a:fld>
            <a:br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25FF729D-F421-4E7F-9498-ED1222901A96}" type="datetime'''''''''''''2''''''''''''''''''''''1''''''''''''''5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215</a:t>
            </a:fld>
            <a:endParaRPr lang="ru-RU" sz="9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450" name="Текст 2"/>
          <p:cNvSpPr>
            <a:spLocks noGrp="1"/>
          </p:cNvSpPr>
          <p:nvPr>
            <p:custDataLst>
              <p:tags r:id="rId165"/>
            </p:custDataLst>
          </p:nvPr>
        </p:nvSpPr>
        <p:spPr bwMode="gray">
          <a:xfrm>
            <a:off x="4163466" y="4878389"/>
            <a:ext cx="5270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0634" tIns="0" rIns="20634" bIns="0" numCol="1" spcCol="0" rtlCol="0" anchor="b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17366D92-3D3D-4FB5-8310-707423795AA5}" type="datetime'''''3''''''''3'' ''''''''''''''''''''''''''''''7''''9''''7'''">
              <a:rPr lang="en-US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33 797</a:t>
            </a:fld>
            <a:endParaRPr lang="ru-RU" sz="1100" b="1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407" name="Текст 2"/>
          <p:cNvSpPr>
            <a:spLocks noGrp="1"/>
          </p:cNvSpPr>
          <p:nvPr>
            <p:custDataLst>
              <p:tags r:id="rId166"/>
            </p:custDataLst>
          </p:nvPr>
        </p:nvSpPr>
        <p:spPr bwMode="gray">
          <a:xfrm>
            <a:off x="1153565" y="4810126"/>
            <a:ext cx="5270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0634" tIns="0" rIns="20634" bIns="0" numCol="1" spcCol="0" rtlCol="0" anchor="b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F6CF792C-E2B0-49EE-8AFF-13845FD96724}" type="datetime'3''4'''''' ''''''''''''6''''''''''3''''8'''''''''''''''">
              <a:rPr lang="en-US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34 638</a:t>
            </a:fld>
            <a:endParaRPr lang="ru-RU" sz="1100" b="1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413" name="Текст 2"/>
          <p:cNvSpPr>
            <a:spLocks noGrp="1"/>
          </p:cNvSpPr>
          <p:nvPr>
            <p:custDataLst>
              <p:tags r:id="rId167"/>
            </p:custDataLst>
          </p:nvPr>
        </p:nvSpPr>
        <p:spPr bwMode="auto">
          <a:xfrm>
            <a:off x="2514054" y="4449764"/>
            <a:ext cx="815975" cy="476250"/>
          </a:xfrm>
          <a:prstGeom prst="ellipse">
            <a:avLst/>
          </a:prstGeom>
          <a:noFill/>
          <a:ln w="9525" algn="ctr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5E08C1A0-6E8C-4C43-9016-A0365613E330}" type="datetime'''''''-''''''''''''''''''8''''''''4''''''''1'''''''''''''''"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-841</a:t>
            </a:fld>
            <a:br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r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t>(</a:t>
            </a:r>
            <a:fld id="{259D5764-0811-4895-84AD-96A5EB8DA323}" type="datetime'''''''''-2'''',''''''4''%'''''''''''''''''''''''"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-2,4%</a:t>
            </a:fld>
            <a:r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t>)</a:t>
            </a:r>
            <a:endParaRPr lang="ru-RU" sz="1100" b="1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7225726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370015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Слайд think-cell" r:id="rId152" imgW="270" imgH="270" progId="TCLayout.ActiveDocument.1">
                  <p:embed/>
                </p:oleObj>
              </mc:Choice>
              <mc:Fallback>
                <p:oleObj name="Слайд think-cell" r:id="rId152" imgW="270" imgH="270" progId="TCLayout.ActiveDocument.1">
                  <p:embed/>
                  <p:pic>
                    <p:nvPicPr>
                      <p:cNvPr id="5" name="Объект 4" hidden="1"/>
                      <p:cNvPicPr/>
                      <p:nvPr/>
                    </p:nvPicPr>
                    <p:blipFill>
                      <a:blip r:embed="rId153"/>
                      <a:stretch>
                        <a:fillRect/>
                      </a:stretch>
                    </p:blipFill>
                    <p:spPr>
                      <a:xfrm>
                        <a:off x="1370015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 hidden="1"/>
          <p:cNvSpPr/>
          <p:nvPr>
            <p:custDataLst>
              <p:tags r:id="rId4"/>
            </p:custDataLst>
          </p:nvPr>
        </p:nvSpPr>
        <p:spPr>
          <a:xfrm>
            <a:off x="1368425" y="1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ru-RU" sz="2100" b="1" dirty="0">
              <a:solidFill>
                <a:prstClr val="white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" name="Заголовок 3"/>
          <p:cNvSpPr>
            <a:spLocks noGrp="1"/>
          </p:cNvSpPr>
          <p:nvPr>
            <p:ph type="title"/>
          </p:nvPr>
        </p:nvSpPr>
        <p:spPr>
          <a:xfrm>
            <a:off x="548457" y="240858"/>
            <a:ext cx="11509530" cy="43771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99" tIns="52150" rIns="104299" bIns="5215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4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Образец слайда</a:t>
            </a:r>
          </a:p>
        </p:txBody>
      </p:sp>
      <p:cxnSp>
        <p:nvCxnSpPr>
          <p:cNvPr id="10" name="Прямая соединительная линия 9"/>
          <p:cNvCxnSpPr/>
          <p:nvPr>
            <p:custDataLst>
              <p:tags r:id="rId5"/>
            </p:custDataLst>
          </p:nvPr>
        </p:nvCxnSpPr>
        <p:spPr bwMode="auto">
          <a:xfrm>
            <a:off x="8455028" y="1922694"/>
            <a:ext cx="26828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>
            <p:custDataLst>
              <p:tags r:id="rId6"/>
            </p:custDataLst>
          </p:nvPr>
        </p:nvCxnSpPr>
        <p:spPr bwMode="auto">
          <a:xfrm>
            <a:off x="9667879" y="2060807"/>
            <a:ext cx="26828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>
            <p:custDataLst>
              <p:tags r:id="rId7"/>
            </p:custDataLst>
          </p:nvPr>
        </p:nvCxnSpPr>
        <p:spPr bwMode="auto">
          <a:xfrm>
            <a:off x="9061454" y="2002069"/>
            <a:ext cx="26828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>
            <p:custDataLst>
              <p:tags r:id="rId8"/>
            </p:custDataLst>
          </p:nvPr>
        </p:nvCxnSpPr>
        <p:spPr bwMode="auto">
          <a:xfrm>
            <a:off x="10274302" y="2148119"/>
            <a:ext cx="2698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>
            <p:custDataLst>
              <p:tags r:id="rId9"/>
            </p:custDataLst>
          </p:nvPr>
        </p:nvCxnSpPr>
        <p:spPr bwMode="auto">
          <a:xfrm>
            <a:off x="10882316" y="2200506"/>
            <a:ext cx="26828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5" name="Chart 3"/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3962343352"/>
              </p:ext>
            </p:extLst>
          </p:nvPr>
        </p:nvGraphicFramePr>
        <p:xfrm>
          <a:off x="7292977" y="1590907"/>
          <a:ext cx="4413250" cy="2181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4"/>
          </a:graphicData>
        </a:graphic>
      </p:graphicFrame>
      <p:cxnSp>
        <p:nvCxnSpPr>
          <p:cNvPr id="77" name="Прямая соединительная линия 76"/>
          <p:cNvCxnSpPr/>
          <p:nvPr>
            <p:custDataLst>
              <p:tags r:id="rId11"/>
            </p:custDataLst>
          </p:nvPr>
        </p:nvCxnSpPr>
        <p:spPr bwMode="auto">
          <a:xfrm>
            <a:off x="10544177" y="2148119"/>
            <a:ext cx="3381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54" name="Полилиния 353"/>
          <p:cNvSpPr/>
          <p:nvPr>
            <p:custDataLst>
              <p:tags r:id="rId12"/>
            </p:custDataLst>
          </p:nvPr>
        </p:nvSpPr>
        <p:spPr bwMode="auto">
          <a:xfrm>
            <a:off x="7489827" y="2886306"/>
            <a:ext cx="376240" cy="158751"/>
          </a:xfrm>
          <a:custGeom>
            <a:avLst/>
            <a:gdLst/>
            <a:ahLst/>
            <a:cxnLst/>
            <a:rect l="0" t="0" r="0" b="0"/>
            <a:pathLst>
              <a:path w="376239" h="158751">
                <a:moveTo>
                  <a:pt x="0" y="101600"/>
                </a:moveTo>
                <a:lnTo>
                  <a:pt x="376238" y="0"/>
                </a:lnTo>
                <a:lnTo>
                  <a:pt x="376238" y="57150"/>
                </a:lnTo>
                <a:lnTo>
                  <a:pt x="0" y="158750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350" name="Полилиния 349"/>
          <p:cNvSpPr/>
          <p:nvPr>
            <p:custDataLst>
              <p:tags r:id="rId13"/>
            </p:custDataLst>
          </p:nvPr>
        </p:nvSpPr>
        <p:spPr bwMode="auto">
          <a:xfrm>
            <a:off x="8097841" y="2449744"/>
            <a:ext cx="376238" cy="158751"/>
          </a:xfrm>
          <a:custGeom>
            <a:avLst/>
            <a:gdLst/>
            <a:ahLst/>
            <a:cxnLst/>
            <a:rect l="0" t="0" r="0" b="0"/>
            <a:pathLst>
              <a:path w="376238" h="158751">
                <a:moveTo>
                  <a:pt x="0" y="101600"/>
                </a:moveTo>
                <a:lnTo>
                  <a:pt x="376237" y="0"/>
                </a:lnTo>
                <a:lnTo>
                  <a:pt x="376237" y="57150"/>
                </a:lnTo>
                <a:lnTo>
                  <a:pt x="0" y="158750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351" name="Полилиния 350"/>
          <p:cNvSpPr/>
          <p:nvPr>
            <p:custDataLst>
              <p:tags r:id="rId14"/>
            </p:custDataLst>
          </p:nvPr>
        </p:nvSpPr>
        <p:spPr bwMode="auto">
          <a:xfrm>
            <a:off x="11126790" y="2449745"/>
            <a:ext cx="385763" cy="160338"/>
          </a:xfrm>
          <a:custGeom>
            <a:avLst/>
            <a:gdLst/>
            <a:ahLst/>
            <a:cxnLst/>
            <a:rect l="0" t="0" r="0" b="0"/>
            <a:pathLst>
              <a:path w="385763" h="160338">
                <a:moveTo>
                  <a:pt x="0" y="103187"/>
                </a:moveTo>
                <a:lnTo>
                  <a:pt x="385762" y="0"/>
                </a:lnTo>
                <a:lnTo>
                  <a:pt x="385762" y="57150"/>
                </a:lnTo>
                <a:lnTo>
                  <a:pt x="0" y="160337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356" name="Полилиния 355"/>
          <p:cNvSpPr/>
          <p:nvPr>
            <p:custDataLst>
              <p:tags r:id="rId15"/>
            </p:custDataLst>
          </p:nvPr>
        </p:nvSpPr>
        <p:spPr bwMode="auto">
          <a:xfrm>
            <a:off x="11126790" y="2886306"/>
            <a:ext cx="385763" cy="160339"/>
          </a:xfrm>
          <a:custGeom>
            <a:avLst/>
            <a:gdLst/>
            <a:ahLst/>
            <a:cxnLst/>
            <a:rect l="0" t="0" r="0" b="0"/>
            <a:pathLst>
              <a:path w="385763" h="160339">
                <a:moveTo>
                  <a:pt x="0" y="103188"/>
                </a:moveTo>
                <a:lnTo>
                  <a:pt x="385762" y="0"/>
                </a:lnTo>
                <a:lnTo>
                  <a:pt x="385762" y="57150"/>
                </a:lnTo>
                <a:lnTo>
                  <a:pt x="0" y="160338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355" name="Полилиния 354"/>
          <p:cNvSpPr/>
          <p:nvPr>
            <p:custDataLst>
              <p:tags r:id="rId16"/>
            </p:custDataLst>
          </p:nvPr>
        </p:nvSpPr>
        <p:spPr bwMode="auto">
          <a:xfrm>
            <a:off x="8097841" y="2886306"/>
            <a:ext cx="376238" cy="158751"/>
          </a:xfrm>
          <a:custGeom>
            <a:avLst/>
            <a:gdLst/>
            <a:ahLst/>
            <a:cxnLst/>
            <a:rect l="0" t="0" r="0" b="0"/>
            <a:pathLst>
              <a:path w="376238" h="158751">
                <a:moveTo>
                  <a:pt x="0" y="101600"/>
                </a:moveTo>
                <a:lnTo>
                  <a:pt x="376237" y="0"/>
                </a:lnTo>
                <a:lnTo>
                  <a:pt x="376237" y="57150"/>
                </a:lnTo>
                <a:lnTo>
                  <a:pt x="0" y="158750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346" name="Полилиния 345"/>
          <p:cNvSpPr/>
          <p:nvPr>
            <p:custDataLst>
              <p:tags r:id="rId17"/>
            </p:custDataLst>
          </p:nvPr>
        </p:nvSpPr>
        <p:spPr bwMode="auto">
          <a:xfrm>
            <a:off x="7489827" y="2449744"/>
            <a:ext cx="376240" cy="158751"/>
          </a:xfrm>
          <a:custGeom>
            <a:avLst/>
            <a:gdLst/>
            <a:ahLst/>
            <a:cxnLst/>
            <a:rect l="0" t="0" r="0" b="0"/>
            <a:pathLst>
              <a:path w="376239" h="158751">
                <a:moveTo>
                  <a:pt x="0" y="101600"/>
                </a:moveTo>
                <a:lnTo>
                  <a:pt x="376238" y="0"/>
                </a:lnTo>
                <a:lnTo>
                  <a:pt x="376238" y="57150"/>
                </a:lnTo>
                <a:lnTo>
                  <a:pt x="0" y="158750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cxnSp>
        <p:nvCxnSpPr>
          <p:cNvPr id="24" name="Прямая соединительная линия 23"/>
          <p:cNvCxnSpPr/>
          <p:nvPr>
            <p:custDataLst>
              <p:tags r:id="rId18"/>
            </p:custDataLst>
          </p:nvPr>
        </p:nvCxnSpPr>
        <p:spPr bwMode="auto">
          <a:xfrm>
            <a:off x="8285166" y="1614718"/>
            <a:ext cx="30337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>
            <p:custDataLst>
              <p:tags r:id="rId19"/>
            </p:custDataLst>
          </p:nvPr>
        </p:nvCxnSpPr>
        <p:spPr bwMode="auto">
          <a:xfrm>
            <a:off x="11318877" y="1614719"/>
            <a:ext cx="0" cy="33337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>
            <p:custDataLst>
              <p:tags r:id="rId20"/>
            </p:custDataLst>
          </p:nvPr>
        </p:nvCxnSpPr>
        <p:spPr bwMode="auto">
          <a:xfrm flipV="1">
            <a:off x="8285165" y="1614719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единительная линия 79"/>
          <p:cNvCxnSpPr/>
          <p:nvPr>
            <p:custDataLst>
              <p:tags r:id="rId21"/>
            </p:custDataLst>
          </p:nvPr>
        </p:nvCxnSpPr>
        <p:spPr bwMode="auto">
          <a:xfrm flipH="1">
            <a:off x="11509378" y="1990956"/>
            <a:ext cx="96838" cy="2238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Прямая соединительная линия 194"/>
          <p:cNvCxnSpPr/>
          <p:nvPr>
            <p:custDataLst>
              <p:tags r:id="rId22"/>
            </p:custDataLst>
          </p:nvPr>
        </p:nvCxnSpPr>
        <p:spPr bwMode="auto">
          <a:xfrm flipV="1">
            <a:off x="9498015" y="2032232"/>
            <a:ext cx="0" cy="539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/>
          <p:cNvCxnSpPr/>
          <p:nvPr>
            <p:custDataLst>
              <p:tags r:id="rId23"/>
            </p:custDataLst>
          </p:nvPr>
        </p:nvCxnSpPr>
        <p:spPr bwMode="auto">
          <a:xfrm flipH="1" flipV="1">
            <a:off x="11509378" y="2529119"/>
            <a:ext cx="96838" cy="2238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единительная линия 85"/>
          <p:cNvCxnSpPr/>
          <p:nvPr>
            <p:custDataLst>
              <p:tags r:id="rId24"/>
            </p:custDataLst>
          </p:nvPr>
        </p:nvCxnSpPr>
        <p:spPr bwMode="auto">
          <a:xfrm flipH="1" flipV="1">
            <a:off x="11509378" y="3664182"/>
            <a:ext cx="96838" cy="1333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единительная линия 80"/>
          <p:cNvCxnSpPr/>
          <p:nvPr>
            <p:custDataLst>
              <p:tags r:id="rId25"/>
            </p:custDataLst>
          </p:nvPr>
        </p:nvCxnSpPr>
        <p:spPr bwMode="auto">
          <a:xfrm flipH="1" flipV="1">
            <a:off x="11509378" y="2356082"/>
            <a:ext cx="96838" cy="1936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Прямая соединительная линия 357"/>
          <p:cNvCxnSpPr/>
          <p:nvPr>
            <p:custDataLst>
              <p:tags r:id="rId26"/>
            </p:custDataLst>
          </p:nvPr>
        </p:nvCxnSpPr>
        <p:spPr bwMode="auto">
          <a:xfrm flipV="1">
            <a:off x="10712452" y="2175107"/>
            <a:ext cx="0" cy="52387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>
            <p:custDataLst>
              <p:tags r:id="rId27"/>
            </p:custDataLst>
          </p:nvPr>
        </p:nvCxnSpPr>
        <p:spPr bwMode="auto">
          <a:xfrm flipV="1">
            <a:off x="8891589" y="1962380"/>
            <a:ext cx="0" cy="650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/>
          <p:nvPr>
            <p:custDataLst>
              <p:tags r:id="rId28"/>
            </p:custDataLst>
          </p:nvPr>
        </p:nvCxnSpPr>
        <p:spPr bwMode="auto">
          <a:xfrm flipV="1">
            <a:off x="10104440" y="2105257"/>
            <a:ext cx="0" cy="6826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единительная линия 74"/>
          <p:cNvCxnSpPr/>
          <p:nvPr>
            <p:custDataLst>
              <p:tags r:id="rId29"/>
            </p:custDataLst>
          </p:nvPr>
        </p:nvCxnSpPr>
        <p:spPr bwMode="auto">
          <a:xfrm>
            <a:off x="10712452" y="2121131"/>
            <a:ext cx="0" cy="254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Текст 2"/>
          <p:cNvSpPr>
            <a:spLocks noGrp="1"/>
          </p:cNvSpPr>
          <p:nvPr>
            <p:custDataLst>
              <p:tags r:id="rId30"/>
            </p:custDataLst>
          </p:nvPr>
        </p:nvSpPr>
        <p:spPr bwMode="auto">
          <a:xfrm>
            <a:off x="11631617" y="1914757"/>
            <a:ext cx="430212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74D460AA-9DFC-4112-BCA7-4477A937B741}" type="datetime'П''р''''о''''ч''''''''и''''''''''''''''''''''''''''''''''''е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Прочие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79" name="Текст 2"/>
          <p:cNvSpPr>
            <a:spLocks noGrp="1"/>
          </p:cNvSpPr>
          <p:nvPr>
            <p:custDataLst>
              <p:tags r:id="rId31"/>
            </p:custDataLst>
          </p:nvPr>
        </p:nvSpPr>
        <p:spPr bwMode="auto">
          <a:xfrm>
            <a:off x="11631617" y="2473557"/>
            <a:ext cx="549275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9FB08807-589B-412C-8B67-551588D22E23}" type="datetime'''''Т''''''''''рейд''''''''ин''''''г''''''''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Трейдинг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30" name="Текст 2"/>
          <p:cNvSpPr>
            <a:spLocks noGrp="1"/>
          </p:cNvSpPr>
          <p:nvPr>
            <p:custDataLst>
              <p:tags r:id="rId32"/>
            </p:custDataLst>
          </p:nvPr>
        </p:nvSpPr>
        <p:spPr bwMode="auto">
          <a:xfrm>
            <a:off x="8104189" y="3610975"/>
            <a:ext cx="361951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99F8BFA4-6D05-4D5D-9EC2-E47DD61A5F9E}" type="datetime''''''' ''''''''2''''''''''''''''''''''''''''''02''''''0&#10; БП'''">
              <a:rPr lang="ru-RU" altLang="en-US" sz="10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 2020
 БП</a:t>
            </a:fld>
            <a:endParaRPr lang="ru-RU" sz="10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35" name="Текст 2"/>
          <p:cNvSpPr>
            <a:spLocks noGrp="1"/>
          </p:cNvSpPr>
          <p:nvPr>
            <p:custDataLst>
              <p:tags r:id="rId33"/>
            </p:custDataLst>
          </p:nvPr>
        </p:nvSpPr>
        <p:spPr bwMode="auto">
          <a:xfrm>
            <a:off x="11134728" y="3732113"/>
            <a:ext cx="3698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54273222-148E-4207-BA6F-DA0A0E7670F6}" type="datetime'20''''''''''''''2''0&#10;'''''''''' Фа''''''''''к''''''т'">
              <a:rPr lang="ru-RU" altLang="en-US" sz="10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2020
 Факт</a:t>
            </a:fld>
            <a:endParaRPr lang="ru-RU" sz="10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47" name="Текст 2"/>
          <p:cNvSpPr>
            <a:spLocks noGrp="1"/>
          </p:cNvSpPr>
          <p:nvPr>
            <p:custDataLst>
              <p:tags r:id="rId34"/>
            </p:custDataLst>
          </p:nvPr>
        </p:nvSpPr>
        <p:spPr bwMode="gray">
          <a:xfrm>
            <a:off x="10394952" y="2227494"/>
            <a:ext cx="635001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F8DB9"/>
                </a:solidFill>
              </a14:hiddenFill>
            </a:ext>
          </a:extLst>
        </p:spPr>
        <p:txBody>
          <a:bodyPr vert="horz" wrap="none" lIns="25400" tIns="0" rIns="25400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08BAF1D1-F9E6-4878-95A7-E7C1F27BA736}" type="datetime'''''''''''''''И''''нж''''и''н''и''''р''''''''и''''н''г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Инжиниринг</a:t>
            </a:fld>
            <a:br>
              <a:rPr lang="ru-RU" altLang="en-US" sz="9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1D784EB0-46BE-4B4D-89DC-9CFB85DB0515}" type="datetime'''''-''''''2'''''''''''''''''''''''''',''9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-2,9</a:t>
            </a:fld>
            <a:endParaRPr lang="ru-RU" sz="9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00" name="Текст 2"/>
          <p:cNvSpPr>
            <a:spLocks noGrp="1"/>
          </p:cNvSpPr>
          <p:nvPr>
            <p:custDataLst>
              <p:tags r:id="rId35"/>
            </p:custDataLst>
          </p:nvPr>
        </p:nvSpPr>
        <p:spPr bwMode="gray">
          <a:xfrm>
            <a:off x="11118852" y="3595920"/>
            <a:ext cx="231775" cy="136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none" lIns="15872" tIns="0" rIns="15872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A23D7DBF-6F31-4359-961D-B13A009D4B77}" type="datetime'-''2'''''''''''''''''''''''''''''',6'''''''''''''''">
              <a:rPr lang="en-US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-2,6</a:t>
            </a:fld>
            <a:endParaRPr lang="ru-RU" sz="9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35" name="Текст 2"/>
          <p:cNvSpPr>
            <a:spLocks noGrp="1"/>
          </p:cNvSpPr>
          <p:nvPr>
            <p:custDataLst>
              <p:tags r:id="rId36"/>
            </p:custDataLst>
          </p:nvPr>
        </p:nvSpPr>
        <p:spPr bwMode="auto">
          <a:xfrm>
            <a:off x="11631615" y="3518132"/>
            <a:ext cx="884238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BF50D8CD-90F4-437A-AE55-8CF1114B8B65}" type="datetime'''''К''о''''''р''''''р''е''''''кт''иро''вк''''''''''и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Корректировки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78" name="Текст 2"/>
          <p:cNvSpPr>
            <a:spLocks noGrp="1"/>
          </p:cNvSpPr>
          <p:nvPr>
            <p:custDataLst>
              <p:tags r:id="rId37"/>
            </p:custDataLst>
          </p:nvPr>
        </p:nvSpPr>
        <p:spPr bwMode="auto">
          <a:xfrm>
            <a:off x="11631617" y="2117956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D204647B-68DB-4CD4-90CE-3CCEB3E404BB}" type="datetime'''Зару''беж''н''ы''е ''''''''&#10;''''ак''ти''''в''ы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Зарубежные 
активы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40" name="Текст 2"/>
          <p:cNvSpPr>
            <a:spLocks noGrp="1"/>
          </p:cNvSpPr>
          <p:nvPr>
            <p:custDataLst>
              <p:tags r:id="rId38"/>
            </p:custDataLst>
          </p:nvPr>
        </p:nvSpPr>
        <p:spPr bwMode="gray">
          <a:xfrm>
            <a:off x="11288716" y="3497495"/>
            <a:ext cx="231775" cy="136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none" lIns="15872" tIns="0" rIns="15872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BDFF90E8-5895-4152-B693-199EBD677823}" type="datetime'''''''''-7'''''''',9'''''''''''''''''''''''''''''''''''">
              <a:rPr lang="en-US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-7,9</a:t>
            </a:fld>
            <a:endParaRPr lang="ru-RU" sz="9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88" name="Текст 2"/>
          <p:cNvSpPr>
            <a:spLocks noGrp="1"/>
          </p:cNvSpPr>
          <p:nvPr>
            <p:custDataLst>
              <p:tags r:id="rId39"/>
            </p:custDataLst>
          </p:nvPr>
        </p:nvSpPr>
        <p:spPr bwMode="gray">
          <a:xfrm>
            <a:off x="11320467" y="2198920"/>
            <a:ext cx="169863" cy="122238"/>
          </a:xfrm>
          <a:prstGeom prst="rect">
            <a:avLst/>
          </a:prstGeom>
          <a:solidFill>
            <a:srgbClr val="C3CFE1"/>
          </a:solidFill>
          <a:ln>
            <a:noFill/>
          </a:ln>
        </p:spPr>
        <p:txBody>
          <a:bodyPr vert="horz" wrap="none" lIns="14288" tIns="0" rIns="14288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7191A917-8423-4EA5-AA6F-4CD3A1CB368D}" type="datetime'''''3'',''''''''''''1'''''''''''''''''''''''''''''''''''''''''">
              <a:rPr lang="en-US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3,1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87" name="Текст 2"/>
          <p:cNvSpPr>
            <a:spLocks noGrp="1"/>
          </p:cNvSpPr>
          <p:nvPr>
            <p:custDataLst>
              <p:tags r:id="rId40"/>
            </p:custDataLst>
          </p:nvPr>
        </p:nvSpPr>
        <p:spPr bwMode="gray">
          <a:xfrm>
            <a:off x="11150603" y="2295756"/>
            <a:ext cx="169863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3CFE1"/>
                </a:solidFill>
              </a14:hiddenFill>
            </a:ext>
          </a:extLst>
        </p:spPr>
        <p:txBody>
          <a:bodyPr vert="horz" wrap="none" lIns="14288" tIns="0" rIns="14288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DFF84465-7B39-4DDE-9F6E-61DBA937FFE2}" type="datetime'''''''''''''''''7'',''''''''''''''''''''''''''''''''2'">
              <a:rPr lang="en-US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7,2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86" name="Текст 2"/>
          <p:cNvSpPr>
            <a:spLocks noGrp="1"/>
          </p:cNvSpPr>
          <p:nvPr>
            <p:custDataLst>
              <p:tags r:id="rId41"/>
            </p:custDataLst>
          </p:nvPr>
        </p:nvSpPr>
        <p:spPr bwMode="gray">
          <a:xfrm>
            <a:off x="11206165" y="2468795"/>
            <a:ext cx="225426" cy="122238"/>
          </a:xfrm>
          <a:prstGeom prst="rect">
            <a:avLst/>
          </a:prstGeom>
          <a:solidFill>
            <a:srgbClr val="C3CFE1"/>
          </a:solidFill>
          <a:ln>
            <a:noFill/>
          </a:ln>
        </p:spPr>
        <p:txBody>
          <a:bodyPr vert="horz" wrap="none" lIns="14288" tIns="0" rIns="14288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C10C0B56-55D9-45FD-B0E5-CB0296504D03}" type="datetime'''''''''''''''23'''''',''''''''''''9'''''''''''''''''''">
              <a:rPr lang="en-US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23,9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8" name="Текст 2"/>
          <p:cNvSpPr>
            <a:spLocks noGrp="1"/>
          </p:cNvSpPr>
          <p:nvPr>
            <p:custDataLst>
              <p:tags r:id="rId42"/>
            </p:custDataLst>
          </p:nvPr>
        </p:nvSpPr>
        <p:spPr bwMode="gray">
          <a:xfrm>
            <a:off x="11206166" y="3087919"/>
            <a:ext cx="225424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3CFE1"/>
                </a:solidFill>
              </a14:hiddenFill>
            </a:ext>
          </a:extLst>
        </p:spPr>
        <p:txBody>
          <a:bodyPr vert="horz" wrap="none" lIns="14285" tIns="0" rIns="14285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B381C9ED-9A2D-428C-9709-C300CBB7DE03}" type="datetime'''''''''''''''''''88,''''''''''''''''''''''8'''''''''''''''">
              <a:rPr lang="en-US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88,8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59" name="Текст 2"/>
          <p:cNvSpPr>
            <a:spLocks noGrp="1"/>
          </p:cNvSpPr>
          <p:nvPr>
            <p:custDataLst>
              <p:tags r:id="rId43"/>
            </p:custDataLst>
          </p:nvPr>
        </p:nvSpPr>
        <p:spPr bwMode="gray">
          <a:xfrm>
            <a:off x="10525127" y="1876658"/>
            <a:ext cx="3746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F8DB9"/>
                </a:solidFill>
              </a14:hiddenFill>
            </a:ext>
          </a:extLst>
        </p:spPr>
        <p:txBody>
          <a:bodyPr vert="horz" wrap="none" lIns="14288" tIns="0" rIns="14288" bIns="0" numCol="1" spcCol="0" rtlCol="0" anchor="b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561B4B89-E30B-4875-A6A3-93C34313E1C3}" type="datetime'П''р''''о''''ч''''''''и''''''''''''''''''''''''''''''''''''е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Прочие</a:t>
            </a:fld>
            <a:br>
              <a:rPr lang="en-US" altLang="en-US" sz="8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2E032FE0-DBA9-4382-94F4-AB6630F40756}" type="datetime'''''0'''''''''''''''''''',''''''''''''''1''''''''''''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0,1</a:t>
            </a:fld>
            <a:endParaRPr lang="ru-RU" sz="9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77" name="Текст 2"/>
          <p:cNvSpPr>
            <a:spLocks noGrp="1"/>
          </p:cNvSpPr>
          <p:nvPr>
            <p:custDataLst>
              <p:tags r:id="rId44"/>
            </p:custDataLst>
          </p:nvPr>
        </p:nvSpPr>
        <p:spPr bwMode="auto">
          <a:xfrm>
            <a:off x="11631616" y="3721332"/>
            <a:ext cx="728663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79F90F7B-B06C-4BF1-A1BD-3C287A8BCD7E}" type="datetime'И''''''нж''''''''''''''''и''''н''''''и''''ри''н''г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Инжиниринг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82" name="Текст 2"/>
          <p:cNvSpPr>
            <a:spLocks noGrp="1"/>
          </p:cNvSpPr>
          <p:nvPr>
            <p:custDataLst>
              <p:tags r:id="rId45"/>
            </p:custDataLst>
          </p:nvPr>
        </p:nvSpPr>
        <p:spPr bwMode="gray">
          <a:xfrm>
            <a:off x="9350379" y="2086206"/>
            <a:ext cx="29686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2" tIns="0" rIns="15872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F9C0F982-661F-4F49-8738-AD876D4DB129}" type="datetime'''''С''б''''''ы''''''''''''''''''''''''''''''''''''''''''т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Сбыт</a:t>
            </a:fld>
            <a:br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92042E22-3B54-46EE-BE2E-6D5882CCD037}" type="datetime'''''''''-''''3'''''''''''''''''''''''''''',2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-3,2</a:t>
            </a:fld>
            <a:endParaRPr lang="ru-RU" sz="9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88" name="Текст 2"/>
          <p:cNvSpPr>
            <a:spLocks noGrp="1"/>
          </p:cNvSpPr>
          <p:nvPr>
            <p:custDataLst>
              <p:tags r:id="rId46"/>
            </p:custDataLst>
          </p:nvPr>
        </p:nvSpPr>
        <p:spPr bwMode="gray">
          <a:xfrm>
            <a:off x="11150603" y="2154470"/>
            <a:ext cx="169863" cy="122238"/>
          </a:xfrm>
          <a:prstGeom prst="rect">
            <a:avLst/>
          </a:prstGeom>
          <a:solidFill>
            <a:srgbClr val="C3CFE1"/>
          </a:solidFill>
          <a:ln>
            <a:noFill/>
          </a:ln>
        </p:spPr>
        <p:txBody>
          <a:bodyPr vert="horz" wrap="none" lIns="14288" tIns="0" rIns="14288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D8624C38-93A8-4060-99C0-7B13628D90EE}" type="datetime'''''''''1'''',''6'''''''''''''''''''''">
              <a:rPr lang="en-US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1,6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81" name="Текст 2"/>
          <p:cNvSpPr>
            <a:spLocks noGrp="1"/>
          </p:cNvSpPr>
          <p:nvPr>
            <p:custDataLst>
              <p:tags r:id="rId47"/>
            </p:custDataLst>
          </p:nvPr>
        </p:nvSpPr>
        <p:spPr bwMode="gray">
          <a:xfrm>
            <a:off x="7456491" y="1479781"/>
            <a:ext cx="4413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0634" tIns="0" rIns="20634" bIns="0" numCol="1" spcCol="0" rtlCol="0" anchor="b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01296C82-AB70-478B-A015-3A6DCA85E2D6}" type="datetime'''''''1''''31'''''''',''''8'''">
              <a:rPr lang="en-US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131,8</a:t>
            </a:fld>
            <a:endParaRPr lang="ru-RU" sz="1100" b="1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80" name="Текст 2"/>
          <p:cNvSpPr>
            <a:spLocks noGrp="1"/>
          </p:cNvSpPr>
          <p:nvPr>
            <p:custDataLst>
              <p:tags r:id="rId48"/>
            </p:custDataLst>
          </p:nvPr>
        </p:nvSpPr>
        <p:spPr bwMode="auto">
          <a:xfrm>
            <a:off x="11631616" y="2676757"/>
            <a:ext cx="292100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CD5F5238-21F3-4347-B153-7328592847DD}" type="datetime'''С''''''''''''б''''''ы''''''т''''''''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Сбыт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83" name="Текст 2"/>
          <p:cNvSpPr>
            <a:spLocks noGrp="1"/>
          </p:cNvSpPr>
          <p:nvPr>
            <p:custDataLst>
              <p:tags r:id="rId49"/>
            </p:custDataLst>
          </p:nvPr>
        </p:nvSpPr>
        <p:spPr bwMode="gray">
          <a:xfrm>
            <a:off x="9840915" y="2173519"/>
            <a:ext cx="528638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2" tIns="0" rIns="15872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8D7D93BD-A083-4D58-B662-5A9992988755}" type="datetime'''''''''''''''Т''р''''''е''''''''й''''''''''д''и''''''нг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Трейдинг</a:t>
            </a:fld>
            <a:br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3B0E2E63-BF20-479A-94F8-6047747318D5}" type="datetime'''''''-''''''''''4'''',''''''''''''7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-4,7</a:t>
            </a:fld>
            <a:endParaRPr lang="ru-RU" sz="9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29" name="Текст 2"/>
          <p:cNvSpPr>
            <a:spLocks noGrp="1"/>
          </p:cNvSpPr>
          <p:nvPr>
            <p:custDataLst>
              <p:tags r:id="rId50"/>
            </p:custDataLst>
          </p:nvPr>
        </p:nvSpPr>
        <p:spPr bwMode="auto">
          <a:xfrm>
            <a:off x="7493002" y="3610975"/>
            <a:ext cx="3698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0A39B6A0-627B-4949-8299-ADB43E74D338}" type="datetime'2''''''''''''''''''''019''&#10; ''Ф''''''ак''''т'''''''''">
              <a:rPr lang="ru-RU" altLang="en-US" sz="10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2019
 Факт</a:t>
            </a:fld>
            <a:endParaRPr lang="ru-RU" sz="10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85" name="Текст 2"/>
          <p:cNvSpPr>
            <a:spLocks noGrp="1"/>
          </p:cNvSpPr>
          <p:nvPr>
            <p:custDataLst>
              <p:tags r:id="rId51"/>
            </p:custDataLst>
          </p:nvPr>
        </p:nvSpPr>
        <p:spPr bwMode="gray">
          <a:xfrm>
            <a:off x="11098216" y="1986195"/>
            <a:ext cx="4413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0634" tIns="0" rIns="20634" bIns="0" numCol="1" spcCol="0" rtlCol="0" anchor="b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84D57E38-EDF7-42E1-8625-AF2CEF16E1AA}" type="datetime'''''''''''''''1''''14'''''''''''''''''',1'">
              <a:rPr lang="en-US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114,1</a:t>
            </a:fld>
            <a:endParaRPr lang="ru-RU" sz="1100" b="1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48" name="Текст 2"/>
          <p:cNvSpPr>
            <a:spLocks noGrp="1"/>
          </p:cNvSpPr>
          <p:nvPr>
            <p:custDataLst>
              <p:tags r:id="rId52"/>
            </p:custDataLst>
          </p:nvPr>
        </p:nvSpPr>
        <p:spPr bwMode="gray">
          <a:xfrm>
            <a:off x="8064502" y="1729019"/>
            <a:ext cx="4413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0634" tIns="0" rIns="20634" bIns="0" numCol="1" spcCol="0" rtlCol="0" anchor="b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589A5EEA-3265-4ACC-8D71-346AD6EEA121}" type="datetime'1''''''''2''''''''''''''9'''''''''''',''''''''''0'''''''''''''">
              <a:rPr lang="en-US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129,0</a:t>
            </a:fld>
            <a:endParaRPr lang="ru-RU" sz="1100" b="1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45" name="Текст 2"/>
          <p:cNvSpPr>
            <a:spLocks noGrp="1"/>
          </p:cNvSpPr>
          <p:nvPr>
            <p:custDataLst>
              <p:tags r:id="rId53"/>
            </p:custDataLst>
          </p:nvPr>
        </p:nvSpPr>
        <p:spPr bwMode="gray">
          <a:xfrm>
            <a:off x="8596316" y="2027469"/>
            <a:ext cx="59055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2" tIns="0" rIns="15872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88750A84-D719-40A8-AF7E-D97A75363A52}" type="datetime'''''''''''''''''''Г''''''е''''''''не''р''''а''''''''ци''я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Генерация</a:t>
            </a:fld>
            <a:br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8BB85335-EA1D-4531-85D3-98CCF7CF05EE}" type="datetime'''''-4'''''''''''''''',3''''''''''''''''''''''''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-4,3</a:t>
            </a:fld>
            <a:endParaRPr lang="ru-RU" sz="9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42" name="Текст 2"/>
          <p:cNvSpPr>
            <a:spLocks noGrp="1"/>
          </p:cNvSpPr>
          <p:nvPr>
            <p:custDataLst>
              <p:tags r:id="rId54"/>
            </p:custDataLst>
          </p:nvPr>
        </p:nvSpPr>
        <p:spPr bwMode="auto">
          <a:xfrm>
            <a:off x="11631616" y="2987907"/>
            <a:ext cx="617538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7B533F24-16F9-4679-A660-B115E62C561F}" type="datetime'Ге''''не''''''''''''''''''''''р''''а''''''''''''ц''''и''я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Генерация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85" name="Текст 2"/>
          <p:cNvSpPr>
            <a:spLocks noGrp="1"/>
          </p:cNvSpPr>
          <p:nvPr>
            <p:custDataLst>
              <p:tags r:id="rId55"/>
            </p:custDataLst>
          </p:nvPr>
        </p:nvSpPr>
        <p:spPr bwMode="auto">
          <a:xfrm>
            <a:off x="9331326" y="1376595"/>
            <a:ext cx="941388" cy="476250"/>
          </a:xfrm>
          <a:prstGeom prst="ellipse">
            <a:avLst/>
          </a:prstGeom>
          <a:solidFill>
            <a:schemeClr val="bg1"/>
          </a:solidFill>
          <a:ln w="9525" algn="ctr"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B0189D04-DA14-42FE-A8EE-27E3CAAFAC1D}" type="datetime'''''''''''''''-''1''''''''''''4'''''''''''',''9'''''''''''''"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-14,9</a:t>
            </a:fld>
            <a:br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r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t>(</a:t>
            </a:r>
            <a:fld id="{2CC12FEE-4E48-4C26-BF1B-E6D3E93ED9F7}" type="datetime'-''''''1''''''''''''''''''''''1,''''''''''5''''''''%'''''''"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-11,5%</a:t>
            </a:fld>
            <a:r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t>)</a:t>
            </a:r>
            <a:endParaRPr lang="ru-RU" sz="1100" b="1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cxnSp>
        <p:nvCxnSpPr>
          <p:cNvPr id="56" name="Прямая соединительная линия 55"/>
          <p:cNvCxnSpPr/>
          <p:nvPr>
            <p:custDataLst>
              <p:tags r:id="rId56"/>
            </p:custDataLst>
          </p:nvPr>
        </p:nvCxnSpPr>
        <p:spPr bwMode="auto">
          <a:xfrm>
            <a:off x="4161987" y="5353050"/>
            <a:ext cx="2794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>
            <p:custDataLst>
              <p:tags r:id="rId57"/>
            </p:custDataLst>
          </p:nvPr>
        </p:nvCxnSpPr>
        <p:spPr bwMode="auto">
          <a:xfrm>
            <a:off x="2269688" y="4979988"/>
            <a:ext cx="2794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>
            <p:custDataLst>
              <p:tags r:id="rId58"/>
            </p:custDataLst>
          </p:nvPr>
        </p:nvCxnSpPr>
        <p:spPr bwMode="auto">
          <a:xfrm>
            <a:off x="2901513" y="5235575"/>
            <a:ext cx="2794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>
            <p:custDataLst>
              <p:tags r:id="rId59"/>
            </p:custDataLst>
          </p:nvPr>
        </p:nvCxnSpPr>
        <p:spPr bwMode="auto">
          <a:xfrm>
            <a:off x="1639451" y="4819650"/>
            <a:ext cx="2794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/>
          <p:nvPr>
            <p:custDataLst>
              <p:tags r:id="rId60"/>
            </p:custDataLst>
          </p:nvPr>
        </p:nvCxnSpPr>
        <p:spPr bwMode="auto">
          <a:xfrm>
            <a:off x="3531751" y="5297488"/>
            <a:ext cx="2794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9" name="Chart 3"/>
          <p:cNvGraphicFramePr/>
          <p:nvPr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1968257282"/>
              </p:ext>
            </p:extLst>
          </p:nvPr>
        </p:nvGraphicFramePr>
        <p:xfrm>
          <a:off x="436125" y="4737100"/>
          <a:ext cx="4578350" cy="2122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5"/>
          </a:graphicData>
        </a:graphic>
      </p:graphicFrame>
      <p:sp useBgFill="1">
        <p:nvSpPr>
          <p:cNvPr id="136" name="Полилиния 135"/>
          <p:cNvSpPr/>
          <p:nvPr>
            <p:custDataLst>
              <p:tags r:id="rId62"/>
            </p:custDataLst>
          </p:nvPr>
        </p:nvSpPr>
        <p:spPr bwMode="auto">
          <a:xfrm>
            <a:off x="639326" y="5980114"/>
            <a:ext cx="388939" cy="161925"/>
          </a:xfrm>
          <a:custGeom>
            <a:avLst/>
            <a:gdLst/>
            <a:ahLst/>
            <a:cxnLst/>
            <a:rect l="0" t="0" r="0" b="0"/>
            <a:pathLst>
              <a:path w="388939" h="161926">
                <a:moveTo>
                  <a:pt x="0" y="104775"/>
                </a:moveTo>
                <a:lnTo>
                  <a:pt x="388938" y="0"/>
                </a:lnTo>
                <a:lnTo>
                  <a:pt x="388938" y="57150"/>
                </a:lnTo>
                <a:lnTo>
                  <a:pt x="0" y="161925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143" name="Полилиния 142"/>
          <p:cNvSpPr/>
          <p:nvPr>
            <p:custDataLst>
              <p:tags r:id="rId63"/>
            </p:custDataLst>
          </p:nvPr>
        </p:nvSpPr>
        <p:spPr bwMode="auto">
          <a:xfrm>
            <a:off x="639326" y="6588126"/>
            <a:ext cx="388939" cy="161925"/>
          </a:xfrm>
          <a:custGeom>
            <a:avLst/>
            <a:gdLst/>
            <a:ahLst/>
            <a:cxnLst/>
            <a:rect l="0" t="0" r="0" b="0"/>
            <a:pathLst>
              <a:path w="388939" h="161926">
                <a:moveTo>
                  <a:pt x="0" y="104775"/>
                </a:moveTo>
                <a:lnTo>
                  <a:pt x="388938" y="0"/>
                </a:lnTo>
                <a:lnTo>
                  <a:pt x="388938" y="57150"/>
                </a:lnTo>
                <a:lnTo>
                  <a:pt x="0" y="161925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137" name="Полилиния 136"/>
          <p:cNvSpPr/>
          <p:nvPr>
            <p:custDataLst>
              <p:tags r:id="rId64"/>
            </p:custDataLst>
          </p:nvPr>
        </p:nvSpPr>
        <p:spPr bwMode="auto">
          <a:xfrm>
            <a:off x="1269564" y="5980114"/>
            <a:ext cx="388938" cy="161925"/>
          </a:xfrm>
          <a:custGeom>
            <a:avLst/>
            <a:gdLst/>
            <a:ahLst/>
            <a:cxnLst/>
            <a:rect l="0" t="0" r="0" b="0"/>
            <a:pathLst>
              <a:path w="388938" h="161926">
                <a:moveTo>
                  <a:pt x="0" y="104775"/>
                </a:moveTo>
                <a:lnTo>
                  <a:pt x="388937" y="0"/>
                </a:lnTo>
                <a:lnTo>
                  <a:pt x="388937" y="57150"/>
                </a:lnTo>
                <a:lnTo>
                  <a:pt x="0" y="161925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140" name="Полилиния 139"/>
          <p:cNvSpPr/>
          <p:nvPr>
            <p:custDataLst>
              <p:tags r:id="rId65"/>
            </p:custDataLst>
          </p:nvPr>
        </p:nvSpPr>
        <p:spPr bwMode="auto">
          <a:xfrm>
            <a:off x="639326" y="6330951"/>
            <a:ext cx="388939" cy="161925"/>
          </a:xfrm>
          <a:custGeom>
            <a:avLst/>
            <a:gdLst/>
            <a:ahLst/>
            <a:cxnLst/>
            <a:rect l="0" t="0" r="0" b="0"/>
            <a:pathLst>
              <a:path w="388939" h="161926">
                <a:moveTo>
                  <a:pt x="0" y="104775"/>
                </a:moveTo>
                <a:lnTo>
                  <a:pt x="388938" y="0"/>
                </a:lnTo>
                <a:lnTo>
                  <a:pt x="388938" y="57150"/>
                </a:lnTo>
                <a:lnTo>
                  <a:pt x="0" y="161925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145" name="Полилиния 144"/>
          <p:cNvSpPr/>
          <p:nvPr>
            <p:custDataLst>
              <p:tags r:id="rId66"/>
            </p:custDataLst>
          </p:nvPr>
        </p:nvSpPr>
        <p:spPr bwMode="auto">
          <a:xfrm>
            <a:off x="4417575" y="6586539"/>
            <a:ext cx="398464" cy="165101"/>
          </a:xfrm>
          <a:custGeom>
            <a:avLst/>
            <a:gdLst/>
            <a:ahLst/>
            <a:cxnLst/>
            <a:rect l="0" t="0" r="0" b="0"/>
            <a:pathLst>
              <a:path w="398464" h="165101">
                <a:moveTo>
                  <a:pt x="0" y="107950"/>
                </a:moveTo>
                <a:lnTo>
                  <a:pt x="398463" y="0"/>
                </a:lnTo>
                <a:lnTo>
                  <a:pt x="398463" y="57150"/>
                </a:lnTo>
                <a:lnTo>
                  <a:pt x="0" y="165100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144" name="Полилиния 143"/>
          <p:cNvSpPr/>
          <p:nvPr>
            <p:custDataLst>
              <p:tags r:id="rId67"/>
            </p:custDataLst>
          </p:nvPr>
        </p:nvSpPr>
        <p:spPr bwMode="auto">
          <a:xfrm>
            <a:off x="1269564" y="6588126"/>
            <a:ext cx="388938" cy="161925"/>
          </a:xfrm>
          <a:custGeom>
            <a:avLst/>
            <a:gdLst/>
            <a:ahLst/>
            <a:cxnLst/>
            <a:rect l="0" t="0" r="0" b="0"/>
            <a:pathLst>
              <a:path w="388938" h="161926">
                <a:moveTo>
                  <a:pt x="0" y="104775"/>
                </a:moveTo>
                <a:lnTo>
                  <a:pt x="388937" y="0"/>
                </a:lnTo>
                <a:lnTo>
                  <a:pt x="388937" y="57150"/>
                </a:lnTo>
                <a:lnTo>
                  <a:pt x="0" y="161925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142" name="Полилиния 141"/>
          <p:cNvSpPr/>
          <p:nvPr>
            <p:custDataLst>
              <p:tags r:id="rId68"/>
            </p:custDataLst>
          </p:nvPr>
        </p:nvSpPr>
        <p:spPr bwMode="auto">
          <a:xfrm>
            <a:off x="4417575" y="6329364"/>
            <a:ext cx="398464" cy="165101"/>
          </a:xfrm>
          <a:custGeom>
            <a:avLst/>
            <a:gdLst/>
            <a:ahLst/>
            <a:cxnLst/>
            <a:rect l="0" t="0" r="0" b="0"/>
            <a:pathLst>
              <a:path w="398464" h="165101">
                <a:moveTo>
                  <a:pt x="0" y="107950"/>
                </a:moveTo>
                <a:lnTo>
                  <a:pt x="398463" y="0"/>
                </a:lnTo>
                <a:lnTo>
                  <a:pt x="398463" y="57150"/>
                </a:lnTo>
                <a:lnTo>
                  <a:pt x="0" y="165100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141" name="Полилиния 140"/>
          <p:cNvSpPr/>
          <p:nvPr>
            <p:custDataLst>
              <p:tags r:id="rId69"/>
            </p:custDataLst>
          </p:nvPr>
        </p:nvSpPr>
        <p:spPr bwMode="auto">
          <a:xfrm>
            <a:off x="1269564" y="6330951"/>
            <a:ext cx="388938" cy="161925"/>
          </a:xfrm>
          <a:custGeom>
            <a:avLst/>
            <a:gdLst/>
            <a:ahLst/>
            <a:cxnLst/>
            <a:rect l="0" t="0" r="0" b="0"/>
            <a:pathLst>
              <a:path w="388938" h="161926">
                <a:moveTo>
                  <a:pt x="0" y="104775"/>
                </a:moveTo>
                <a:lnTo>
                  <a:pt x="388937" y="0"/>
                </a:lnTo>
                <a:lnTo>
                  <a:pt x="388937" y="57150"/>
                </a:lnTo>
                <a:lnTo>
                  <a:pt x="0" y="161925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138" name="Полилиния 137"/>
          <p:cNvSpPr/>
          <p:nvPr>
            <p:custDataLst>
              <p:tags r:id="rId70"/>
            </p:custDataLst>
          </p:nvPr>
        </p:nvSpPr>
        <p:spPr bwMode="auto">
          <a:xfrm>
            <a:off x="4417575" y="5978526"/>
            <a:ext cx="398464" cy="165101"/>
          </a:xfrm>
          <a:custGeom>
            <a:avLst/>
            <a:gdLst/>
            <a:ahLst/>
            <a:cxnLst/>
            <a:rect l="0" t="0" r="0" b="0"/>
            <a:pathLst>
              <a:path w="398464" h="165101">
                <a:moveTo>
                  <a:pt x="0" y="107950"/>
                </a:moveTo>
                <a:lnTo>
                  <a:pt x="398463" y="0"/>
                </a:lnTo>
                <a:lnTo>
                  <a:pt x="398463" y="57150"/>
                </a:lnTo>
                <a:lnTo>
                  <a:pt x="0" y="165100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cxnSp>
        <p:nvCxnSpPr>
          <p:cNvPr id="61" name="Прямая соединительная линия 60"/>
          <p:cNvCxnSpPr/>
          <p:nvPr>
            <p:custDataLst>
              <p:tags r:id="rId71"/>
            </p:custDataLst>
          </p:nvPr>
        </p:nvCxnSpPr>
        <p:spPr bwMode="auto">
          <a:xfrm>
            <a:off x="4616013" y="4511676"/>
            <a:ext cx="0" cy="58737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/>
          <p:nvPr>
            <p:custDataLst>
              <p:tags r:id="rId72"/>
            </p:custDataLst>
          </p:nvPr>
        </p:nvCxnSpPr>
        <p:spPr bwMode="auto">
          <a:xfrm>
            <a:off x="1463239" y="4511675"/>
            <a:ext cx="3152775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/>
          <p:cNvCxnSpPr/>
          <p:nvPr>
            <p:custDataLst>
              <p:tags r:id="rId73"/>
            </p:custDataLst>
          </p:nvPr>
        </p:nvCxnSpPr>
        <p:spPr bwMode="auto">
          <a:xfrm flipV="1">
            <a:off x="1463238" y="4511675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>
            <p:custDataLst>
              <p:tags r:id="rId74"/>
            </p:custDataLst>
          </p:nvPr>
        </p:nvCxnSpPr>
        <p:spPr bwMode="auto">
          <a:xfrm flipH="1" flipV="1">
            <a:off x="4812864" y="5732463"/>
            <a:ext cx="96837" cy="2063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Прямая соединительная линия 105"/>
          <p:cNvCxnSpPr/>
          <p:nvPr>
            <p:custDataLst>
              <p:tags r:id="rId75"/>
            </p:custDataLst>
          </p:nvPr>
        </p:nvCxnSpPr>
        <p:spPr bwMode="auto">
          <a:xfrm flipH="1">
            <a:off x="4812864" y="5380041"/>
            <a:ext cx="96837" cy="746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/>
          <p:cNvCxnSpPr/>
          <p:nvPr>
            <p:custDataLst>
              <p:tags r:id="rId76"/>
            </p:custDataLst>
          </p:nvPr>
        </p:nvCxnSpPr>
        <p:spPr bwMode="auto">
          <a:xfrm flipV="1">
            <a:off x="2093476" y="4903787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Прямая соединительная линия 319"/>
          <p:cNvCxnSpPr/>
          <p:nvPr>
            <p:custDataLst>
              <p:tags r:id="rId77"/>
            </p:custDataLst>
          </p:nvPr>
        </p:nvCxnSpPr>
        <p:spPr bwMode="auto">
          <a:xfrm flipH="1">
            <a:off x="4812864" y="5176838"/>
            <a:ext cx="96837" cy="2047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>
            <p:custDataLst>
              <p:tags r:id="rId78"/>
            </p:custDataLst>
          </p:nvPr>
        </p:nvCxnSpPr>
        <p:spPr bwMode="auto">
          <a:xfrm flipV="1">
            <a:off x="2725299" y="5159375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/>
          <p:nvPr>
            <p:custDataLst>
              <p:tags r:id="rId79"/>
            </p:custDataLst>
          </p:nvPr>
        </p:nvCxnSpPr>
        <p:spPr bwMode="auto">
          <a:xfrm flipV="1">
            <a:off x="3355538" y="5267326"/>
            <a:ext cx="0" cy="5556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/>
          <p:nvPr>
            <p:custDataLst>
              <p:tags r:id="rId80"/>
            </p:custDataLst>
          </p:nvPr>
        </p:nvCxnSpPr>
        <p:spPr bwMode="auto">
          <a:xfrm flipV="1">
            <a:off x="3985775" y="5326064"/>
            <a:ext cx="0" cy="52387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Прямая соединительная линия 106"/>
          <p:cNvCxnSpPr/>
          <p:nvPr>
            <p:custDataLst>
              <p:tags r:id="rId81"/>
            </p:custDataLst>
          </p:nvPr>
        </p:nvCxnSpPr>
        <p:spPr bwMode="auto">
          <a:xfrm flipH="1" flipV="1">
            <a:off x="4812864" y="5551487"/>
            <a:ext cx="96837" cy="1079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7" name="Текст 2"/>
          <p:cNvSpPr>
            <a:spLocks noGrp="1"/>
          </p:cNvSpPr>
          <p:nvPr>
            <p:custDataLst>
              <p:tags r:id="rId82"/>
            </p:custDataLst>
          </p:nvPr>
        </p:nvSpPr>
        <p:spPr bwMode="gray">
          <a:xfrm>
            <a:off x="4485838" y="6608764"/>
            <a:ext cx="261939" cy="122238"/>
          </a:xfrm>
          <a:prstGeom prst="rect">
            <a:avLst/>
          </a:prstGeom>
          <a:ln>
            <a:noFill/>
          </a:ln>
        </p:spPr>
        <p:txBody>
          <a:bodyPr vert="horz" wrap="none" lIns="14288" tIns="0" rIns="14288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FA54292B-2721-4974-BA19-1DBF44FF9203}" type="datetime'''''''''''''-''''''''''''''84'''''''''''',''2'''''''''''">
              <a:rPr lang="en-US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-84,2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80" name="Текст 2"/>
          <p:cNvSpPr>
            <a:spLocks noGrp="1"/>
          </p:cNvSpPr>
          <p:nvPr>
            <p:custDataLst>
              <p:tags r:id="rId83"/>
            </p:custDataLst>
          </p:nvPr>
        </p:nvSpPr>
        <p:spPr bwMode="gray">
          <a:xfrm>
            <a:off x="4415989" y="5491163"/>
            <a:ext cx="225426" cy="122238"/>
          </a:xfrm>
          <a:prstGeom prst="rect">
            <a:avLst/>
          </a:prstGeom>
          <a:solidFill>
            <a:srgbClr val="C3CFE1"/>
          </a:solidFill>
          <a:ln>
            <a:noFill/>
          </a:ln>
        </p:spPr>
        <p:txBody>
          <a:bodyPr vert="horz" wrap="none" lIns="14288" tIns="0" rIns="14288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7929EEE5-34DC-491A-9E72-796A30A7008D}" type="datetime'2''''''''''''''2'''''''''''''''',''''''''''''''''''''9'''''''">
              <a:rPr lang="en-US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22,9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85" name="Текст 2"/>
          <p:cNvSpPr>
            <a:spLocks noGrp="1"/>
          </p:cNvSpPr>
          <p:nvPr>
            <p:custDataLst>
              <p:tags r:id="rId84"/>
            </p:custDataLst>
          </p:nvPr>
        </p:nvSpPr>
        <p:spPr bwMode="gray">
          <a:xfrm>
            <a:off x="1177487" y="4625976"/>
            <a:ext cx="5715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0634" tIns="0" rIns="20634" bIns="0" numCol="1" spcCol="0" rtlCol="0" anchor="b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1CFB574B-6BDD-4FBE-AB40-82F45633ED06}" type="datetime'''''''1'''' ''''''1''''6''''''''''''''5'''''''''''''''''',0'">
              <a:rPr lang="en-US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1 165,0</a:t>
            </a:fld>
            <a:endParaRPr lang="ru-RU" sz="1100" b="1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03" name="Текст 2"/>
          <p:cNvSpPr>
            <a:spLocks noGrp="1"/>
          </p:cNvSpPr>
          <p:nvPr>
            <p:custDataLst>
              <p:tags r:id="rId85"/>
            </p:custDataLst>
          </p:nvPr>
        </p:nvSpPr>
        <p:spPr bwMode="gray">
          <a:xfrm>
            <a:off x="4503300" y="5672138"/>
            <a:ext cx="225426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3CFE1"/>
                </a:solidFill>
              </a14:hiddenFill>
            </a:ext>
          </a:extLst>
        </p:spPr>
        <p:txBody>
          <a:bodyPr vert="horz" wrap="none" lIns="14288" tIns="0" rIns="14288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622F2A30-81BE-4133-B72B-82E49D268E22}" type="datetime'''''''''5''''''''''''''''4'',''''''''''''''''9'''''">
              <a:rPr lang="en-US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54,9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02" name="Текст 2"/>
          <p:cNvSpPr>
            <a:spLocks noGrp="1"/>
          </p:cNvSpPr>
          <p:nvPr>
            <p:custDataLst>
              <p:tags r:id="rId86"/>
            </p:custDataLst>
          </p:nvPr>
        </p:nvSpPr>
        <p:spPr bwMode="gray">
          <a:xfrm>
            <a:off x="4476313" y="5870576"/>
            <a:ext cx="280988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3CFE1"/>
                </a:solidFill>
              </a14:hiddenFill>
            </a:ext>
          </a:extLst>
        </p:spPr>
        <p:txBody>
          <a:bodyPr vert="horz" wrap="none" lIns="14288" tIns="0" rIns="14288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D5F6066E-0FB9-4950-AD29-D64FCE63888B}" type="datetime'''''''''''''''''''''''7''''''''''56,''''3'''''''''">
              <a:rPr lang="en-US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756,3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94" name="Текст 2"/>
          <p:cNvSpPr>
            <a:spLocks noGrp="1"/>
          </p:cNvSpPr>
          <p:nvPr>
            <p:custDataLst>
              <p:tags r:id="rId87"/>
            </p:custDataLst>
          </p:nvPr>
        </p:nvSpPr>
        <p:spPr bwMode="auto">
          <a:xfrm>
            <a:off x="4431863" y="6823075"/>
            <a:ext cx="3698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7A9ED82F-00D0-46A5-A937-9F2D95BD5279}" type="datetime'''''2''''''''0''''''20''''&#10;'' ''Ф''''''а''''''к''''''т'''">
              <a:rPr lang="ru-RU" altLang="en-US" sz="10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2020
 Факт</a:t>
            </a:fld>
            <a:endParaRPr lang="ru-RU" sz="10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00" name="Текст 2"/>
          <p:cNvSpPr>
            <a:spLocks noGrp="1"/>
          </p:cNvSpPr>
          <p:nvPr>
            <p:custDataLst>
              <p:tags r:id="rId88"/>
            </p:custDataLst>
          </p:nvPr>
        </p:nvSpPr>
        <p:spPr bwMode="gray">
          <a:xfrm>
            <a:off x="4592201" y="5394325"/>
            <a:ext cx="225426" cy="122238"/>
          </a:xfrm>
          <a:prstGeom prst="rect">
            <a:avLst/>
          </a:prstGeom>
          <a:solidFill>
            <a:srgbClr val="C3CFE1"/>
          </a:solidFill>
          <a:ln>
            <a:noFill/>
          </a:ln>
        </p:spPr>
        <p:txBody>
          <a:bodyPr vert="horz" wrap="none" lIns="14288" tIns="0" rIns="14288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939665E2-548D-4485-A96B-CCD21EBFA66A}" type="datetime'''1''''''''''''''''''''''''''''''''''''''''''8'',''''7'''''">
              <a:rPr lang="en-US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18,7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72" name="Текст 2"/>
          <p:cNvSpPr>
            <a:spLocks noGrp="1"/>
          </p:cNvSpPr>
          <p:nvPr>
            <p:custDataLst>
              <p:tags r:id="rId89"/>
            </p:custDataLst>
          </p:nvPr>
        </p:nvSpPr>
        <p:spPr bwMode="auto">
          <a:xfrm>
            <a:off x="4935102" y="5100639"/>
            <a:ext cx="430212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5BDD194D-4463-40C6-9791-13E7D96D21F8}" type="datetime'''П''''''''''''''''ро''''''''''''''ч''''''и''''е''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Прочие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99" name="Текст 2"/>
          <p:cNvSpPr>
            <a:spLocks noGrp="1"/>
          </p:cNvSpPr>
          <p:nvPr>
            <p:custDataLst>
              <p:tags r:id="rId90"/>
            </p:custDataLst>
          </p:nvPr>
        </p:nvSpPr>
        <p:spPr bwMode="auto">
          <a:xfrm>
            <a:off x="4935101" y="5303840"/>
            <a:ext cx="728663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7FCD5577-F64B-4B5C-B1DB-49459722891A}" type="datetime'''''И''нж''''''ин''и''''''р''''''и''н''''''''''''''''''г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Инжиниринг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32" name="Текст 2"/>
          <p:cNvSpPr>
            <a:spLocks noGrp="1"/>
          </p:cNvSpPr>
          <p:nvPr>
            <p:custDataLst>
              <p:tags r:id="rId91"/>
            </p:custDataLst>
          </p:nvPr>
        </p:nvSpPr>
        <p:spPr bwMode="gray">
          <a:xfrm>
            <a:off x="4366775" y="5301458"/>
            <a:ext cx="225426" cy="122238"/>
          </a:xfrm>
          <a:prstGeom prst="rect">
            <a:avLst/>
          </a:prstGeom>
          <a:solidFill>
            <a:srgbClr val="C3CFE1"/>
          </a:solidFill>
          <a:ln>
            <a:noFill/>
          </a:ln>
        </p:spPr>
        <p:txBody>
          <a:bodyPr vert="horz" wrap="none" lIns="14288" tIns="0" rIns="14288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DF4EE6AD-0DA3-4047-8B6C-B34F4DB09A37}" type="datetime'''''''''''1''''''2'''''''''''''''''''',8'''">
              <a:rPr lang="en-US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12,8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73" name="Текст 2"/>
          <p:cNvSpPr>
            <a:spLocks noGrp="1"/>
          </p:cNvSpPr>
          <p:nvPr>
            <p:custDataLst>
              <p:tags r:id="rId92"/>
            </p:custDataLst>
          </p:nvPr>
        </p:nvSpPr>
        <p:spPr bwMode="auto">
          <a:xfrm>
            <a:off x="4935101" y="5507039"/>
            <a:ext cx="7223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DF9EF704-2559-4C89-8E8A-FFDBD4D5F902}" type="datetime'З''ар''''уб''е''жны''''е&#10;'''' а''к''''''''''''''ти''вы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Зарубежные
 активы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74" name="Текст 2"/>
          <p:cNvSpPr>
            <a:spLocks noGrp="1"/>
          </p:cNvSpPr>
          <p:nvPr>
            <p:custDataLst>
              <p:tags r:id="rId93"/>
            </p:custDataLst>
          </p:nvPr>
        </p:nvSpPr>
        <p:spPr bwMode="auto">
          <a:xfrm>
            <a:off x="4935101" y="5862639"/>
            <a:ext cx="549275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D1466D10-1366-4831-A312-6A56FD511F6E}" type="datetime'Т''''р''''''''''''''е''й''''''д''''''''''''''ин''''''г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Трейдинг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91" name="Текст 2"/>
          <p:cNvSpPr>
            <a:spLocks noGrp="1"/>
          </p:cNvSpPr>
          <p:nvPr>
            <p:custDataLst>
              <p:tags r:id="rId94"/>
            </p:custDataLst>
          </p:nvPr>
        </p:nvSpPr>
        <p:spPr bwMode="gray">
          <a:xfrm>
            <a:off x="3774638" y="5378450"/>
            <a:ext cx="422275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2" tIns="0" rIns="15872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D360D4CE-80B4-4B63-9601-5B5D78DCF59E}" type="datetime'П''''''''ро''''''''ч''''''''''''''''''''''''ие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Прочие</a:t>
            </a:fld>
            <a:br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D3097846-414A-4576-8C01-93CD4CBFC783}" type="datetime'''''''-''''''''1''1'''''''''',''''''9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-11,9</a:t>
            </a:fld>
            <a:endParaRPr lang="ru-RU" sz="9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63" name="Текст 2"/>
          <p:cNvSpPr>
            <a:spLocks noGrp="1"/>
          </p:cNvSpPr>
          <p:nvPr>
            <p:custDataLst>
              <p:tags r:id="rId95"/>
            </p:custDataLst>
          </p:nvPr>
        </p:nvSpPr>
        <p:spPr bwMode="auto">
          <a:xfrm>
            <a:off x="4935100" y="6586539"/>
            <a:ext cx="884238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C566B642-8918-4689-86C1-6A728A4CCAF5}" type="datetime'''''''''''К''о''''''р''р''е''''''''''''кт''''иров''''ки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Корректировки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90" name="Текст 2"/>
          <p:cNvSpPr>
            <a:spLocks noGrp="1"/>
          </p:cNvSpPr>
          <p:nvPr>
            <p:custDataLst>
              <p:tags r:id="rId96"/>
            </p:custDataLst>
          </p:nvPr>
        </p:nvSpPr>
        <p:spPr bwMode="gray">
          <a:xfrm>
            <a:off x="3092013" y="5322887"/>
            <a:ext cx="528638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2" tIns="0" rIns="15872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65E06B90-D0B6-4F0C-A635-71A0842BE20F}" type="datetime'Т''''''''''''''''''''''ре''йди''''''н''г''''''''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Трейдинг</a:t>
            </a:fld>
            <a:br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54C7C8EA-BEB7-4D66-A8A4-583EC0159B81}" type="datetime'''''''''''''''''''''-1''3'',''''''''''''''''''''''''3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-13,3</a:t>
            </a:fld>
            <a:endParaRPr lang="ru-RU" sz="9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89" name="Текст 2"/>
          <p:cNvSpPr>
            <a:spLocks noGrp="1"/>
          </p:cNvSpPr>
          <p:nvPr>
            <p:custDataLst>
              <p:tags r:id="rId97"/>
            </p:custDataLst>
          </p:nvPr>
        </p:nvSpPr>
        <p:spPr bwMode="gray">
          <a:xfrm>
            <a:off x="2577663" y="5260975"/>
            <a:ext cx="29686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2" tIns="0" rIns="15872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A99CBF77-1A87-4D80-B1CF-C26E9E94B83A}" type="datetime'С''''''''б''''''''ыт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Сбыт</a:t>
            </a:fld>
            <a:br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334720C4-0021-4F69-AE26-C19E311C2FA1}" type="datetime'''''''-''''''''5''''5'',''''''''''''2''''''''''''''''''''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-55,2</a:t>
            </a:fld>
            <a:endParaRPr lang="ru-RU" sz="9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27" name="Текст 2"/>
          <p:cNvSpPr>
            <a:spLocks noGrp="1"/>
          </p:cNvSpPr>
          <p:nvPr>
            <p:custDataLst>
              <p:tags r:id="rId98"/>
            </p:custDataLst>
          </p:nvPr>
        </p:nvSpPr>
        <p:spPr bwMode="gray">
          <a:xfrm>
            <a:off x="547249" y="4956175"/>
            <a:ext cx="5715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0634" tIns="0" rIns="20634" bIns="0" numCol="1" spcCol="0" rtlCol="0" anchor="b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BCE58479-2850-4AE4-89D9-5AC69B92F98D}" type="datetime'''''1'' ''0''''9''''''''3,''''6'''''''''''''''''''''''">
              <a:rPr lang="en-US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1 093,6</a:t>
            </a:fld>
            <a:endParaRPr lang="ru-RU" sz="1100" b="1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82" name="Текст 2"/>
          <p:cNvSpPr>
            <a:spLocks noGrp="1"/>
          </p:cNvSpPr>
          <p:nvPr>
            <p:custDataLst>
              <p:tags r:id="rId99"/>
            </p:custDataLst>
          </p:nvPr>
        </p:nvSpPr>
        <p:spPr bwMode="auto">
          <a:xfrm>
            <a:off x="4935101" y="6332540"/>
            <a:ext cx="617538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B841F673-33CE-4005-91AB-C42B4104516E}" type="datetime'''''''''''''''''''Г''''''''''е''''''н''''''''''ерация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Генерация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01" name="Текст 2"/>
          <p:cNvSpPr>
            <a:spLocks noGrp="1"/>
          </p:cNvSpPr>
          <p:nvPr>
            <p:custDataLst>
              <p:tags r:id="rId100"/>
            </p:custDataLst>
          </p:nvPr>
        </p:nvSpPr>
        <p:spPr bwMode="gray">
          <a:xfrm>
            <a:off x="4476313" y="6350000"/>
            <a:ext cx="280988" cy="122238"/>
          </a:xfrm>
          <a:prstGeom prst="rect">
            <a:avLst/>
          </a:prstGeom>
          <a:solidFill>
            <a:srgbClr val="C3CFE1"/>
          </a:solidFill>
          <a:ln>
            <a:noFill/>
          </a:ln>
        </p:spPr>
        <p:txBody>
          <a:bodyPr vert="horz" wrap="none" lIns="14288" tIns="0" rIns="14288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5CEC3530-5907-41E7-9446-CC121AE98D19}" type="datetime'''2''''''''''''''''''''''''''''6''''''8'',8'''''''">
              <a:rPr lang="en-US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268,8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96" name="Текст 2"/>
          <p:cNvSpPr>
            <a:spLocks noGrp="1"/>
          </p:cNvSpPr>
          <p:nvPr>
            <p:custDataLst>
              <p:tags r:id="rId101"/>
            </p:custDataLst>
          </p:nvPr>
        </p:nvSpPr>
        <p:spPr bwMode="gray">
          <a:xfrm>
            <a:off x="1798201" y="5005388"/>
            <a:ext cx="59055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2" tIns="0" rIns="15872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70E93259-08B4-4228-BED6-1787731EDC32}" type="datetime'Ге''''''''н''''''''ер''''''''''а''ц''и''я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Генерация</a:t>
            </a:fld>
            <a:br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7B76E4A1-D338-464A-80E3-905CAF729C16}" type="datetime'''-''''''''''''3''4'''''''''''''''''''''''''',''5''''''''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-34,5</a:t>
            </a:fld>
            <a:endParaRPr lang="ru-RU" sz="9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75" name="Текст 2"/>
          <p:cNvSpPr>
            <a:spLocks noGrp="1"/>
          </p:cNvSpPr>
          <p:nvPr>
            <p:custDataLst>
              <p:tags r:id="rId102"/>
            </p:custDataLst>
          </p:nvPr>
        </p:nvSpPr>
        <p:spPr bwMode="auto">
          <a:xfrm>
            <a:off x="4935101" y="6065839"/>
            <a:ext cx="292100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4DDE7537-05D9-4F62-A16A-BA423CC150BD}" type="datetime'С''''''''''''''''''''''б''''''ыт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Сбыт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67" name="Текст 2"/>
          <p:cNvSpPr>
            <a:spLocks noGrp="1"/>
          </p:cNvSpPr>
          <p:nvPr>
            <p:custDataLst>
              <p:tags r:id="rId103"/>
            </p:custDataLst>
          </p:nvPr>
        </p:nvSpPr>
        <p:spPr bwMode="auto">
          <a:xfrm>
            <a:off x="1282263" y="6823075"/>
            <a:ext cx="361951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0CAAC145-609B-416B-BFE5-83A60776EF03}" type="datetime' 2''0''''''''''''20''''''&#10;'''''''' ''''''''Б''''''''''''П'">
              <a:rPr lang="ru-RU" altLang="en-US" sz="10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 2020
 БП</a:t>
            </a:fld>
            <a:endParaRPr lang="ru-RU" sz="10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66" name="Текст 2"/>
          <p:cNvSpPr>
            <a:spLocks noGrp="1"/>
          </p:cNvSpPr>
          <p:nvPr>
            <p:custDataLst>
              <p:tags r:id="rId104"/>
            </p:custDataLst>
          </p:nvPr>
        </p:nvSpPr>
        <p:spPr bwMode="auto">
          <a:xfrm>
            <a:off x="648850" y="6823075"/>
            <a:ext cx="3698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8AECAC41-CDBA-46E1-97F4-E7959584FF44}" type="datetime'''2''''''''0''1''''9&#10;'''''''''''' ''Ф''''''''''ак''''''''''т'">
              <a:rPr lang="ru-RU" altLang="en-US" sz="10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2019
 Факт</a:t>
            </a:fld>
            <a:endParaRPr lang="ru-RU" sz="10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69" name="Текст 2"/>
          <p:cNvSpPr>
            <a:spLocks noGrp="1"/>
          </p:cNvSpPr>
          <p:nvPr>
            <p:custDataLst>
              <p:tags r:id="rId105"/>
            </p:custDataLst>
          </p:nvPr>
        </p:nvSpPr>
        <p:spPr bwMode="gray">
          <a:xfrm>
            <a:off x="4273113" y="5137150"/>
            <a:ext cx="5715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0634" tIns="0" rIns="20634" bIns="0" numCol="1" spcCol="0" rtlCol="0" anchor="b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2DDBFE79-E3BB-4F2E-B80A-AD5F591DCA71}" type="datetime'''''''1 ''''''''''''''0''''''''''5''''''0,1'''">
              <a:rPr lang="en-US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1 050,1</a:t>
            </a:fld>
            <a:endParaRPr lang="ru-RU" sz="1100" b="1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95" name="Текст 2"/>
          <p:cNvSpPr>
            <a:spLocks noGrp="1"/>
          </p:cNvSpPr>
          <p:nvPr>
            <p:custDataLst>
              <p:tags r:id="rId106"/>
            </p:custDataLst>
          </p:nvPr>
        </p:nvSpPr>
        <p:spPr bwMode="auto">
          <a:xfrm>
            <a:off x="2631639" y="4273551"/>
            <a:ext cx="815975" cy="476250"/>
          </a:xfrm>
          <a:prstGeom prst="ellipse">
            <a:avLst/>
          </a:prstGeom>
          <a:solidFill>
            <a:schemeClr val="bg1"/>
          </a:solidFill>
          <a:ln w="9525" algn="ctr"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96B35748-0E3B-4CE7-91D0-F3A5211948C0}" type="datetime'''''''''''-1''''''''1''''''4,''''''''''''''''''''''9'''''''"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-114,9</a:t>
            </a:fld>
            <a:br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r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t>(</a:t>
            </a:r>
            <a:fld id="{E44FF110-FA58-4151-9BED-1A359F45EA96}" type="datetime'-''''''''''''''''9'''''''',''''''''9''''''%'''''''"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-9,9%</a:t>
            </a:fld>
            <a:r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t>)</a:t>
            </a:r>
            <a:endParaRPr lang="ru-RU" sz="1100" b="1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cxnSp>
        <p:nvCxnSpPr>
          <p:cNvPr id="103" name="Прямая соединительная линия 102"/>
          <p:cNvCxnSpPr/>
          <p:nvPr>
            <p:custDataLst>
              <p:tags r:id="rId107"/>
            </p:custDataLst>
          </p:nvPr>
        </p:nvCxnSpPr>
        <p:spPr bwMode="auto">
          <a:xfrm>
            <a:off x="9667879" y="5019675"/>
            <a:ext cx="26828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Прямая соединительная линия 103"/>
          <p:cNvCxnSpPr/>
          <p:nvPr>
            <p:custDataLst>
              <p:tags r:id="rId108"/>
            </p:custDataLst>
          </p:nvPr>
        </p:nvCxnSpPr>
        <p:spPr bwMode="auto">
          <a:xfrm>
            <a:off x="9061454" y="4989513"/>
            <a:ext cx="26828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единительная линия 101"/>
          <p:cNvCxnSpPr/>
          <p:nvPr>
            <p:custDataLst>
              <p:tags r:id="rId109"/>
            </p:custDataLst>
          </p:nvPr>
        </p:nvCxnSpPr>
        <p:spPr bwMode="auto">
          <a:xfrm>
            <a:off x="8455028" y="4889500"/>
            <a:ext cx="26828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Прямая соединительная линия 99"/>
          <p:cNvCxnSpPr/>
          <p:nvPr>
            <p:custDataLst>
              <p:tags r:id="rId110"/>
            </p:custDataLst>
          </p:nvPr>
        </p:nvCxnSpPr>
        <p:spPr bwMode="auto">
          <a:xfrm>
            <a:off x="10274304" y="5130800"/>
            <a:ext cx="2698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Прямая соединительная линия 268"/>
          <p:cNvCxnSpPr/>
          <p:nvPr>
            <p:custDataLst>
              <p:tags r:id="rId111"/>
            </p:custDataLst>
          </p:nvPr>
        </p:nvCxnSpPr>
        <p:spPr bwMode="auto">
          <a:xfrm>
            <a:off x="10882316" y="4906963"/>
            <a:ext cx="26828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4" name="Chart 3"/>
          <p:cNvGraphicFramePr/>
          <p:nvPr>
            <p:custDataLst>
              <p:tags r:id="rId112"/>
            </p:custDataLst>
            <p:extLst>
              <p:ext uri="{D42A27DB-BD31-4B8C-83A1-F6EECF244321}">
                <p14:modId xmlns:p14="http://schemas.microsoft.com/office/powerpoint/2010/main" val="1012584277"/>
              </p:ext>
            </p:extLst>
          </p:nvPr>
        </p:nvGraphicFramePr>
        <p:xfrm>
          <a:off x="7292977" y="4592639"/>
          <a:ext cx="4413250" cy="2701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6"/>
          </a:graphicData>
        </a:graphic>
      </p:graphicFrame>
      <p:sp useBgFill="1">
        <p:nvSpPr>
          <p:cNvPr id="344" name="Полилиния 343"/>
          <p:cNvSpPr/>
          <p:nvPr>
            <p:custDataLst>
              <p:tags r:id="rId113"/>
            </p:custDataLst>
          </p:nvPr>
        </p:nvSpPr>
        <p:spPr bwMode="auto">
          <a:xfrm>
            <a:off x="8097841" y="6326188"/>
            <a:ext cx="376238" cy="158751"/>
          </a:xfrm>
          <a:custGeom>
            <a:avLst/>
            <a:gdLst/>
            <a:ahLst/>
            <a:cxnLst/>
            <a:rect l="0" t="0" r="0" b="0"/>
            <a:pathLst>
              <a:path w="376238" h="158751">
                <a:moveTo>
                  <a:pt x="0" y="101600"/>
                </a:moveTo>
                <a:lnTo>
                  <a:pt x="376237" y="0"/>
                </a:lnTo>
                <a:lnTo>
                  <a:pt x="376237" y="57150"/>
                </a:lnTo>
                <a:lnTo>
                  <a:pt x="0" y="158750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343" name="Полилиния 342"/>
          <p:cNvSpPr/>
          <p:nvPr>
            <p:custDataLst>
              <p:tags r:id="rId114"/>
            </p:custDataLst>
          </p:nvPr>
        </p:nvSpPr>
        <p:spPr bwMode="auto">
          <a:xfrm>
            <a:off x="7489827" y="6326188"/>
            <a:ext cx="376240" cy="158751"/>
          </a:xfrm>
          <a:custGeom>
            <a:avLst/>
            <a:gdLst/>
            <a:ahLst/>
            <a:cxnLst/>
            <a:rect l="0" t="0" r="0" b="0"/>
            <a:pathLst>
              <a:path w="376239" h="158751">
                <a:moveTo>
                  <a:pt x="0" y="101600"/>
                </a:moveTo>
                <a:lnTo>
                  <a:pt x="376238" y="0"/>
                </a:lnTo>
                <a:lnTo>
                  <a:pt x="376238" y="57150"/>
                </a:lnTo>
                <a:lnTo>
                  <a:pt x="0" y="158750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 useBgFill="1">
        <p:nvSpPr>
          <p:cNvPr id="345" name="Полилиния 344"/>
          <p:cNvSpPr/>
          <p:nvPr>
            <p:custDataLst>
              <p:tags r:id="rId115"/>
            </p:custDataLst>
          </p:nvPr>
        </p:nvSpPr>
        <p:spPr bwMode="auto">
          <a:xfrm>
            <a:off x="11126790" y="6326189"/>
            <a:ext cx="385763" cy="160338"/>
          </a:xfrm>
          <a:custGeom>
            <a:avLst/>
            <a:gdLst/>
            <a:ahLst/>
            <a:cxnLst/>
            <a:rect l="0" t="0" r="0" b="0"/>
            <a:pathLst>
              <a:path w="385763" h="160338">
                <a:moveTo>
                  <a:pt x="0" y="103187"/>
                </a:moveTo>
                <a:lnTo>
                  <a:pt x="385762" y="0"/>
                </a:lnTo>
                <a:lnTo>
                  <a:pt x="385762" y="57150"/>
                </a:lnTo>
                <a:lnTo>
                  <a:pt x="0" y="160337"/>
                </a:lnTo>
                <a:close/>
              </a:path>
            </a:pathLst>
          </a:cu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000" b="1">
              <a:solidFill>
                <a:prstClr val="white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cxnSp>
        <p:nvCxnSpPr>
          <p:cNvPr id="114" name="Прямая соединительная линия 113"/>
          <p:cNvCxnSpPr/>
          <p:nvPr>
            <p:custDataLst>
              <p:tags r:id="rId116"/>
            </p:custDataLst>
          </p:nvPr>
        </p:nvCxnSpPr>
        <p:spPr bwMode="auto">
          <a:xfrm flipV="1">
            <a:off x="8285165" y="4522787"/>
            <a:ext cx="0" cy="1349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Прямая соединительная линия 126"/>
          <p:cNvCxnSpPr/>
          <p:nvPr>
            <p:custDataLst>
              <p:tags r:id="rId117"/>
            </p:custDataLst>
          </p:nvPr>
        </p:nvCxnSpPr>
        <p:spPr bwMode="auto">
          <a:xfrm>
            <a:off x="8285166" y="4522788"/>
            <a:ext cx="30337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Прямая соединительная линия 112"/>
          <p:cNvCxnSpPr/>
          <p:nvPr>
            <p:custDataLst>
              <p:tags r:id="rId118"/>
            </p:custDataLst>
          </p:nvPr>
        </p:nvCxnSpPr>
        <p:spPr bwMode="auto">
          <a:xfrm>
            <a:off x="11318877" y="4522789"/>
            <a:ext cx="0" cy="152399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/>
          <p:nvPr>
            <p:custDataLst>
              <p:tags r:id="rId119"/>
            </p:custDataLst>
          </p:nvPr>
        </p:nvCxnSpPr>
        <p:spPr bwMode="auto">
          <a:xfrm flipV="1">
            <a:off x="10712452" y="5054600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Прямая соединительная линия 111"/>
          <p:cNvCxnSpPr/>
          <p:nvPr>
            <p:custDataLst>
              <p:tags r:id="rId120"/>
            </p:custDataLst>
          </p:nvPr>
        </p:nvCxnSpPr>
        <p:spPr bwMode="auto">
          <a:xfrm flipV="1">
            <a:off x="8891589" y="4940301"/>
            <a:ext cx="0" cy="746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/>
          <p:cNvCxnSpPr/>
          <p:nvPr>
            <p:custDataLst>
              <p:tags r:id="rId121"/>
            </p:custDataLst>
          </p:nvPr>
        </p:nvCxnSpPr>
        <p:spPr bwMode="auto">
          <a:xfrm flipH="1">
            <a:off x="11509378" y="4954590"/>
            <a:ext cx="96838" cy="666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>
            <p:custDataLst>
              <p:tags r:id="rId122"/>
            </p:custDataLst>
          </p:nvPr>
        </p:nvCxnSpPr>
        <p:spPr bwMode="auto">
          <a:xfrm>
            <a:off x="10712452" y="4881564"/>
            <a:ext cx="0" cy="3492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/>
          <p:cNvCxnSpPr/>
          <p:nvPr>
            <p:custDataLst>
              <p:tags r:id="rId123"/>
            </p:custDataLst>
          </p:nvPr>
        </p:nvCxnSpPr>
        <p:spPr bwMode="auto">
          <a:xfrm flipV="1">
            <a:off x="9498015" y="5005389"/>
            <a:ext cx="0" cy="396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Прямая соединительная линия 244"/>
          <p:cNvCxnSpPr/>
          <p:nvPr>
            <p:custDataLst>
              <p:tags r:id="rId124"/>
            </p:custDataLst>
          </p:nvPr>
        </p:nvCxnSpPr>
        <p:spPr bwMode="auto">
          <a:xfrm flipV="1">
            <a:off x="10104440" y="5075239"/>
            <a:ext cx="0" cy="8096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Прямая соединительная линия 87"/>
          <p:cNvCxnSpPr/>
          <p:nvPr>
            <p:custDataLst>
              <p:tags r:id="rId125"/>
            </p:custDataLst>
          </p:nvPr>
        </p:nvCxnSpPr>
        <p:spPr bwMode="auto">
          <a:xfrm>
            <a:off x="11128377" y="5021263"/>
            <a:ext cx="6350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>
            <p:custDataLst>
              <p:tags r:id="rId126"/>
            </p:custDataLst>
          </p:nvPr>
        </p:nvCxnSpPr>
        <p:spPr bwMode="auto">
          <a:xfrm flipH="1" flipV="1">
            <a:off x="11509378" y="5237164"/>
            <a:ext cx="96838" cy="27622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>
            <p:custDataLst>
              <p:tags r:id="rId127"/>
            </p:custDataLst>
          </p:nvPr>
        </p:nvCxnSpPr>
        <p:spPr bwMode="auto">
          <a:xfrm flipH="1" flipV="1">
            <a:off x="11509378" y="5138739"/>
            <a:ext cx="96838" cy="952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/>
          <p:nvPr>
            <p:custDataLst>
              <p:tags r:id="rId128"/>
            </p:custDataLst>
          </p:nvPr>
        </p:nvCxnSpPr>
        <p:spPr bwMode="auto">
          <a:xfrm flipH="1">
            <a:off x="11509378" y="4751388"/>
            <a:ext cx="96838" cy="1920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Текст 2"/>
          <p:cNvSpPr>
            <a:spLocks noGrp="1"/>
          </p:cNvSpPr>
          <p:nvPr>
            <p:custDataLst>
              <p:tags r:id="rId129"/>
            </p:custDataLst>
          </p:nvPr>
        </p:nvSpPr>
        <p:spPr bwMode="gray">
          <a:xfrm>
            <a:off x="9350379" y="5045074"/>
            <a:ext cx="29686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2" tIns="0" rIns="15872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E57F87EB-85E0-437D-9C93-4E2D1B9CAE29}" type="datetime'''С''''''''''''''''''''''''''б''ыт''''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Сбыт</a:t>
            </a:fld>
            <a:br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2A424FA1-FD83-4948-9BD1-BDEEC73059DE}" type="datetime'''-''''''0'''''''''''''''''''',''''''''''''8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-0,8</a:t>
            </a:fld>
            <a:endParaRPr lang="ru-RU" sz="9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26" name="Текст 2"/>
          <p:cNvSpPr>
            <a:spLocks noGrp="1"/>
          </p:cNvSpPr>
          <p:nvPr>
            <p:custDataLst>
              <p:tags r:id="rId130"/>
            </p:custDataLst>
          </p:nvPr>
        </p:nvSpPr>
        <p:spPr bwMode="auto">
          <a:xfrm>
            <a:off x="11631617" y="5437189"/>
            <a:ext cx="549275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797F2E70-1432-485A-886B-60A2066B66EC}" type="datetime'''''''Т''''р''''''''''''''''''''''''ейдин''''''''г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Трейдинг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05" name="Текст 2"/>
          <p:cNvSpPr>
            <a:spLocks noGrp="1"/>
          </p:cNvSpPr>
          <p:nvPr>
            <p:custDataLst>
              <p:tags r:id="rId131"/>
            </p:custDataLst>
          </p:nvPr>
        </p:nvSpPr>
        <p:spPr bwMode="gray">
          <a:xfrm>
            <a:off x="8596316" y="5014913"/>
            <a:ext cx="59055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2" tIns="0" rIns="15872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11612AC5-CD93-490E-B3B1-C5F18E1C76BD}" type="datetime'''''Ге''н''''''''ера''''''''ц''''и''''''''я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Генерация</a:t>
            </a:fld>
            <a:br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E14C7EE0-7567-4290-A943-A7A8BE9D388A}" type="datetime'-2'''''''''''''''',''''''5''''''''''''''''''''''''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-2,5</a:t>
            </a:fld>
            <a:endParaRPr lang="ru-RU" sz="9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28" name="Текст 2"/>
          <p:cNvSpPr>
            <a:spLocks noGrp="1"/>
          </p:cNvSpPr>
          <p:nvPr>
            <p:custDataLst>
              <p:tags r:id="rId132"/>
            </p:custDataLst>
          </p:nvPr>
        </p:nvSpPr>
        <p:spPr bwMode="auto">
          <a:xfrm>
            <a:off x="11631617" y="5081588"/>
            <a:ext cx="7223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AE55301A-ADC9-4B4D-8D47-09FA32D13B8C}" type="datetime'''З''ар''''убе''''''жны''''''''''е&#10;'' ''''''''''активы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Зарубежные
 активы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25" name="Текст 2"/>
          <p:cNvSpPr>
            <a:spLocks noGrp="1"/>
          </p:cNvSpPr>
          <p:nvPr>
            <p:custDataLst>
              <p:tags r:id="rId133"/>
            </p:custDataLst>
          </p:nvPr>
        </p:nvSpPr>
        <p:spPr bwMode="auto">
          <a:xfrm>
            <a:off x="11631616" y="5640389"/>
            <a:ext cx="292100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929907B0-1927-42D2-8A6F-5481743A8357}" type="datetime'''''''''''''''''''''''''''С''б''ы''т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Сбыт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60" name="Текст 2"/>
          <p:cNvSpPr>
            <a:spLocks noGrp="1"/>
          </p:cNvSpPr>
          <p:nvPr>
            <p:custDataLst>
              <p:tags r:id="rId134"/>
            </p:custDataLst>
          </p:nvPr>
        </p:nvSpPr>
        <p:spPr bwMode="auto">
          <a:xfrm>
            <a:off x="11631616" y="4878389"/>
            <a:ext cx="728663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01847432-D89A-44B2-AABC-FE736B0745DD}" type="datetime'''''''''''''''''И''''нжи''''''''н''и''р''''''''''''и''нг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Инжиниринг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06" name="Текст 2"/>
          <p:cNvSpPr>
            <a:spLocks noGrp="1"/>
          </p:cNvSpPr>
          <p:nvPr>
            <p:custDataLst>
              <p:tags r:id="rId135"/>
            </p:custDataLst>
          </p:nvPr>
        </p:nvSpPr>
        <p:spPr bwMode="gray">
          <a:xfrm>
            <a:off x="9809165" y="5156200"/>
            <a:ext cx="59055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2" tIns="0" rIns="15872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27B912BA-2A1A-4502-99AA-FF040969FC31}" type="datetime'Тр''е''''''''й''д''''и''''н''''''''''''г''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Трейдинг</a:t>
            </a:fld>
            <a:r>
              <a:rPr lang="ru-RU" altLang="en-US" sz="9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t>*</a:t>
            </a:r>
            <a:br>
              <a:rPr lang="ru-RU" altLang="en-US" sz="9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EA964261-57A5-4DE2-88DB-3F3B99C5C8B4}" type="datetime'''''-''''''''''''''''''''''''''2'''''''''',''''''''''7'''''''">
              <a:rPr lang="ru-RU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-2,7</a:t>
            </a:fld>
            <a:endParaRPr lang="ru-RU" sz="9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71" name="Текст 2"/>
          <p:cNvSpPr>
            <a:spLocks noGrp="1"/>
          </p:cNvSpPr>
          <p:nvPr>
            <p:custDataLst>
              <p:tags r:id="rId136"/>
            </p:custDataLst>
          </p:nvPr>
        </p:nvSpPr>
        <p:spPr bwMode="gray">
          <a:xfrm>
            <a:off x="10525127" y="4637090"/>
            <a:ext cx="3746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numCol="1" spcCol="0" rtlCol="0" anchor="b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AE4A6D18-395F-4EF9-A00E-C04BE5A1A26A}" type="datetime'П''р''''''''''''оч''''''''''''''''и''е''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Прочие</a:t>
            </a:fld>
            <a:br>
              <a:rPr lang="en-US" altLang="en-US" sz="8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02877622-D5B1-45E3-BEDB-3669861A7FF4}" type="datetime'0'',''''''5''''''''''''''''''''''''''''''''''''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0,5</a:t>
            </a:fld>
            <a:endParaRPr lang="ru-RU" sz="9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70" name="Текст 2"/>
          <p:cNvSpPr>
            <a:spLocks noGrp="1"/>
          </p:cNvSpPr>
          <p:nvPr>
            <p:custDataLst>
              <p:tags r:id="rId137"/>
            </p:custDataLst>
          </p:nvPr>
        </p:nvSpPr>
        <p:spPr bwMode="auto">
          <a:xfrm>
            <a:off x="11631616" y="4675189"/>
            <a:ext cx="430212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C59D2142-D2BE-4873-9804-39B031E7A262}" type="datetime'П''р''''''''''''оч''''''''''''''''и''е''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Прочие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07" name="Текст 2"/>
          <p:cNvSpPr>
            <a:spLocks noGrp="1"/>
          </p:cNvSpPr>
          <p:nvPr>
            <p:custDataLst>
              <p:tags r:id="rId138"/>
            </p:custDataLst>
          </p:nvPr>
        </p:nvSpPr>
        <p:spPr bwMode="gray">
          <a:xfrm>
            <a:off x="10394951" y="5156200"/>
            <a:ext cx="635001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3CFE1"/>
                </a:solidFill>
              </a14:hiddenFill>
            </a:ext>
          </a:extLst>
        </p:spPr>
        <p:txBody>
          <a:bodyPr vert="horz" wrap="none" lIns="25400" tIns="0" rIns="25400" bIns="0" numCol="1" spcCol="0" rtlCol="0" anchor="t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FA24360A-BB9A-480B-A4DB-8C2FDFC494D4}" type="datetime'''''''''''''''''И''''нжи''''''''н''и''р''''''''''''и''нг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Инжиниринг</a:t>
            </a:fld>
            <a:br>
              <a:rPr lang="en-US" altLang="en-US" sz="8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fld id="{6A1F8B48-D821-402C-9E6C-66956A0E3544}" type="datetime'''''''''''''5'',''''''''''''''''''1'''''''">
              <a:rPr lang="en-US" altLang="en-US" sz="9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5,1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57" name="Текст 2"/>
          <p:cNvSpPr>
            <a:spLocks noGrp="1"/>
          </p:cNvSpPr>
          <p:nvPr>
            <p:custDataLst>
              <p:tags r:id="rId139"/>
            </p:custDataLst>
          </p:nvPr>
        </p:nvSpPr>
        <p:spPr bwMode="gray">
          <a:xfrm>
            <a:off x="11206165" y="5594350"/>
            <a:ext cx="225426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3CFE1"/>
                </a:solidFill>
              </a14:hiddenFill>
            </a:ext>
          </a:extLst>
        </p:spPr>
        <p:txBody>
          <a:bodyPr vert="horz" wrap="none" lIns="14288" tIns="0" rIns="14288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60743BED-528E-423A-B4E1-5B7EDE965B0D}" type="datetime'''''''''''''''''''1''''''''9,''''''''7'''''''''">
              <a:rPr lang="en-US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19,7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29" name="Текст 2"/>
          <p:cNvSpPr>
            <a:spLocks noGrp="1"/>
          </p:cNvSpPr>
          <p:nvPr>
            <p:custDataLst>
              <p:tags r:id="rId140"/>
            </p:custDataLst>
          </p:nvPr>
        </p:nvSpPr>
        <p:spPr bwMode="gray">
          <a:xfrm>
            <a:off x="11320467" y="5078414"/>
            <a:ext cx="169863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3CFE1"/>
                </a:solidFill>
              </a14:hiddenFill>
            </a:ext>
          </a:extLst>
        </p:spPr>
        <p:txBody>
          <a:bodyPr vert="horz" wrap="none" lIns="14288" tIns="0" rIns="14288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E5CAB40E-1EC0-4C89-BFB2-424A8AE8D2C6}" type="datetime'3'''''''''''''''''''''''''',''''''''''''''''''''''''''''''8'''">
              <a:rPr lang="en-US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3,8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07" name="Текст 2"/>
          <p:cNvSpPr>
            <a:spLocks noGrp="1"/>
          </p:cNvSpPr>
          <p:nvPr>
            <p:custDataLst>
              <p:tags r:id="rId141"/>
            </p:custDataLst>
          </p:nvPr>
        </p:nvSpPr>
        <p:spPr bwMode="gray">
          <a:xfrm>
            <a:off x="10958515" y="4960939"/>
            <a:ext cx="169863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3CFE1"/>
                </a:solidFill>
              </a14:hiddenFill>
            </a:ext>
          </a:extLst>
        </p:spPr>
        <p:txBody>
          <a:bodyPr vert="horz" wrap="none" lIns="14285" tIns="0" rIns="14285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7D2021E3-2410-4B54-A66E-512AC00ABE16}" type="datetime'''''''''''2'''',''''0'''''''''">
              <a:rPr lang="en-US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2,0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75" name="Текст 2"/>
          <p:cNvSpPr>
            <a:spLocks noGrp="1"/>
          </p:cNvSpPr>
          <p:nvPr>
            <p:custDataLst>
              <p:tags r:id="rId142"/>
            </p:custDataLst>
          </p:nvPr>
        </p:nvSpPr>
        <p:spPr bwMode="gray">
          <a:xfrm>
            <a:off x="11234742" y="4883151"/>
            <a:ext cx="169863" cy="122238"/>
          </a:xfrm>
          <a:prstGeom prst="rect">
            <a:avLst/>
          </a:prstGeom>
          <a:solidFill>
            <a:srgbClr val="C3CFE1"/>
          </a:solidFill>
          <a:ln>
            <a:noFill/>
          </a:ln>
        </p:spPr>
        <p:txBody>
          <a:bodyPr vert="horz" wrap="none" lIns="14288" tIns="0" rIns="14288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18AF9CC4-A132-4654-B246-769081F0A025}" type="datetime'''''''''''''''''''''''1'''''''''''''',''''''''''''''''''''8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1,8</a:t>
            </a:fld>
            <a:endParaRPr lang="ru-RU" sz="9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318" name="Текст 2"/>
          <p:cNvSpPr>
            <a:spLocks noGrp="1"/>
          </p:cNvSpPr>
          <p:nvPr>
            <p:custDataLst>
              <p:tags r:id="rId143"/>
            </p:custDataLst>
          </p:nvPr>
        </p:nvSpPr>
        <p:spPr bwMode="gray">
          <a:xfrm>
            <a:off x="11150603" y="5176838"/>
            <a:ext cx="169863" cy="122238"/>
          </a:xfrm>
          <a:prstGeom prst="rect">
            <a:avLst/>
          </a:prstGeom>
          <a:solidFill>
            <a:srgbClr val="C3CFE1"/>
          </a:solidFill>
          <a:ln>
            <a:noFill/>
          </a:ln>
        </p:spPr>
        <p:txBody>
          <a:bodyPr vert="horz" wrap="none" lIns="14288" tIns="0" rIns="14288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3481E8D9-9779-4C50-BDF7-52931002AB60}" type="datetime'''''''''''''''''''''''''''''1,1'''">
              <a:rPr lang="en-US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1,1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68" name="Текст 2"/>
          <p:cNvSpPr>
            <a:spLocks noGrp="1"/>
          </p:cNvSpPr>
          <p:nvPr>
            <p:custDataLst>
              <p:tags r:id="rId144"/>
            </p:custDataLst>
          </p:nvPr>
        </p:nvSpPr>
        <p:spPr bwMode="gray">
          <a:xfrm>
            <a:off x="8108953" y="4695825"/>
            <a:ext cx="3524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0634" tIns="0" rIns="20634" bIns="0" numCol="1" spcCol="0" rtlCol="0" anchor="b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1602A9A5-A783-4BDA-A30E-54EEB317D2E1}" type="datetime'''''9''''''''''''8'''''''''''''''''''''''''''''''''',2'''''''">
              <a:rPr lang="en-US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98,2</a:t>
            </a:fld>
            <a:endParaRPr lang="ru-RU" sz="1100" b="1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10" name="Текст 2"/>
          <p:cNvSpPr>
            <a:spLocks noGrp="1"/>
          </p:cNvSpPr>
          <p:nvPr>
            <p:custDataLst>
              <p:tags r:id="rId145"/>
            </p:custDataLst>
          </p:nvPr>
        </p:nvSpPr>
        <p:spPr bwMode="gray">
          <a:xfrm>
            <a:off x="11142666" y="4713289"/>
            <a:ext cx="3524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0634" tIns="0" rIns="20634" bIns="0" numCol="1" spcCol="0" rtlCol="0" anchor="b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D5450838-F5A6-4884-B49D-FEA4BF3B00FB}" type="datetime'''''''9''''7'',7'''''''''''''''''''''''''''''''''''''''''''">
              <a:rPr lang="en-US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97,7</a:t>
            </a:fld>
            <a:endParaRPr lang="ru-RU" sz="1100" b="1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24" name="Текст 2"/>
          <p:cNvSpPr>
            <a:spLocks noGrp="1"/>
          </p:cNvSpPr>
          <p:nvPr>
            <p:custDataLst>
              <p:tags r:id="rId146"/>
            </p:custDataLst>
          </p:nvPr>
        </p:nvSpPr>
        <p:spPr bwMode="auto">
          <a:xfrm>
            <a:off x="11631616" y="6329364"/>
            <a:ext cx="617538" cy="15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680E85C2-F26C-44B3-9D87-113A3B2BC409}" type="datetime'''Г''е''н''''''''''''''''е''''ра''''''''ци''''''''''я'''''''">
              <a:rPr lang="ru-RU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Генерация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219" name="Текст 2"/>
          <p:cNvSpPr>
            <a:spLocks noGrp="1"/>
          </p:cNvSpPr>
          <p:nvPr>
            <p:custDataLst>
              <p:tags r:id="rId147"/>
            </p:custDataLst>
          </p:nvPr>
        </p:nvSpPr>
        <p:spPr bwMode="gray">
          <a:xfrm>
            <a:off x="11206166" y="6527800"/>
            <a:ext cx="225424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5" tIns="0" rIns="14285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72534D1D-8C61-4E95-9D78-4FDD16826692}" type="datetime'''6''9'''''''',''''''''''''''''''3'''''''''''''''''''''''">
              <a:rPr lang="en-US" altLang="en-US" sz="80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69,3</a:t>
            </a:fld>
            <a:endParaRPr lang="ru-RU" sz="8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35" name="Текст 2"/>
          <p:cNvSpPr>
            <a:spLocks noGrp="1"/>
          </p:cNvSpPr>
          <p:nvPr>
            <p:custDataLst>
              <p:tags r:id="rId148"/>
            </p:custDataLst>
          </p:nvPr>
        </p:nvSpPr>
        <p:spPr bwMode="gray">
          <a:xfrm>
            <a:off x="7456491" y="4481513"/>
            <a:ext cx="4413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0634" tIns="0" rIns="20634" bIns="0" numCol="1" spcCol="0" rtlCol="0" anchor="b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4B977A81-FD57-401C-82CC-E1CFEEC72C38}" type="datetime'''1''0''''''3'''',''''''''''''''''''''''''''''''''''''5'''''">
              <a:rPr lang="en-US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103,5</a:t>
            </a:fld>
            <a:endParaRPr lang="ru-RU" sz="1100" b="1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39" name="Текст 2"/>
          <p:cNvSpPr>
            <a:spLocks noGrp="1"/>
          </p:cNvSpPr>
          <p:nvPr>
            <p:custDataLst>
              <p:tags r:id="rId149"/>
            </p:custDataLst>
          </p:nvPr>
        </p:nvSpPr>
        <p:spPr bwMode="auto">
          <a:xfrm>
            <a:off x="9393241" y="4284663"/>
            <a:ext cx="815975" cy="476250"/>
          </a:xfrm>
          <a:prstGeom prst="ellipse">
            <a:avLst/>
          </a:prstGeom>
          <a:solidFill>
            <a:schemeClr val="bg1"/>
          </a:solidFill>
          <a:ln w="9525" algn="ctr"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91076" indent="-391076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7334" indent="-32589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359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502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6462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7898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33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70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06" indent="-260718" algn="l" defTabSz="104287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042838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6726E72E-7BC8-4A4D-B831-91CE5F7FAD36}" type="datetime'''''''-0'''''''''''''''''''''''''''''',''''''4'''''"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-0,4</a:t>
            </a:fld>
            <a:br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</a:br>
            <a:r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t>(</a:t>
            </a:r>
            <a:fld id="{C0399F61-6BD3-4A6F-9732-247425CBD818}" type="datetime'''''''''''''''''-''''''''''''''0'',''''''''5%'''''''''''"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pPr marL="0" indent="0" algn="ctr" defTabSz="1042838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-0,5%</a:t>
            </a:fld>
            <a:r>
              <a:rPr lang="ru-RU" altLang="en-US" sz="1100" b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  <a:sym typeface="Tahoma"/>
              </a:rPr>
              <a:t>)</a:t>
            </a:r>
            <a:endParaRPr lang="ru-RU" sz="1100" b="1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  <a:sym typeface="Tahoma"/>
            </a:endParaRPr>
          </a:p>
        </p:txBody>
      </p:sp>
      <p:sp>
        <p:nvSpPr>
          <p:cNvPr id="147" name="Прямоугольник 146"/>
          <p:cNvSpPr/>
          <p:nvPr/>
        </p:nvSpPr>
        <p:spPr>
          <a:xfrm>
            <a:off x="558419" y="3999543"/>
            <a:ext cx="4972888" cy="2174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 ГРАФИКА ИЛИ ДИАГРАММЫ</a:t>
            </a:r>
            <a:endParaRPr lang="en-US" sz="1400" b="1" dirty="0">
              <a:solidFill>
                <a:srgbClr val="F184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599292" y="4218593"/>
            <a:ext cx="871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800" b="1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млрд руб.</a:t>
            </a:r>
          </a:p>
        </p:txBody>
      </p:sp>
      <p:sp>
        <p:nvSpPr>
          <p:cNvPr id="151" name="Прямоугольник 150"/>
          <p:cNvSpPr/>
          <p:nvPr/>
        </p:nvSpPr>
        <p:spPr>
          <a:xfrm>
            <a:off x="7399686" y="1042699"/>
            <a:ext cx="4973638" cy="2176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 ГРАФИКА ИЛИ ДИАГРАММЫ</a:t>
            </a:r>
            <a:endParaRPr lang="en-US" sz="1400" b="1" dirty="0">
              <a:solidFill>
                <a:srgbClr val="F184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7447660" y="1260351"/>
            <a:ext cx="8714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800" b="1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млрд руб.</a:t>
            </a:r>
          </a:p>
        </p:txBody>
      </p:sp>
      <p:sp>
        <p:nvSpPr>
          <p:cNvPr id="155" name="Прямоугольник 154"/>
          <p:cNvSpPr/>
          <p:nvPr/>
        </p:nvSpPr>
        <p:spPr>
          <a:xfrm>
            <a:off x="7375653" y="4001989"/>
            <a:ext cx="4972888" cy="2174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 dirty="0">
                <a:solidFill>
                  <a:srgbClr val="F1840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НАЗВАНИЕ ГРАФИКА ИЛИ ДИАГРАММЫ</a:t>
            </a:r>
            <a:endParaRPr lang="en-US" sz="1400" b="1" dirty="0">
              <a:solidFill>
                <a:srgbClr val="F1840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7440487" y="4221037"/>
            <a:ext cx="871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800" b="1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млрд руб.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7447660" y="6776001"/>
            <a:ext cx="750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0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2019</a:t>
            </a:r>
          </a:p>
          <a:p>
            <a:pPr defTabSz="91437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0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Факт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807699" y="6776001"/>
            <a:ext cx="940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0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2020</a:t>
            </a:r>
          </a:p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0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БП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0832036" y="6776001"/>
            <a:ext cx="940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0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2020</a:t>
            </a:r>
          </a:p>
          <a:p>
            <a:pPr algn="ctr" defTabSz="91437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0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Факт</a:t>
            </a:r>
          </a:p>
        </p:txBody>
      </p:sp>
      <p:sp>
        <p:nvSpPr>
          <p:cNvPr id="161" name="Прямоугольник 160"/>
          <p:cNvSpPr/>
          <p:nvPr/>
        </p:nvSpPr>
        <p:spPr>
          <a:xfrm>
            <a:off x="8426371" y="6296953"/>
            <a:ext cx="1935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9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*включая прочие поступления и </a:t>
            </a:r>
            <a:br>
              <a:rPr lang="en-US" sz="9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en-US" sz="9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 </a:t>
            </a:r>
            <a:r>
              <a:rPr lang="ru-RU" sz="9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платежи ПАО "</a:t>
            </a:r>
            <a:r>
              <a:rPr lang="ru-RU" sz="900" dirty="0" err="1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Интер</a:t>
            </a:r>
            <a:r>
              <a:rPr lang="ru-RU" sz="900" dirty="0">
                <a:solidFill>
                  <a:prstClr val="black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РАО"</a:t>
            </a:r>
            <a:endParaRPr lang="en-US" sz="900" dirty="0">
              <a:solidFill>
                <a:prstClr val="black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graphicFrame>
        <p:nvGraphicFramePr>
          <p:cNvPr id="162" name="Таблица 161">
            <a:extLst>
              <a:ext uri="{FF2B5EF4-FFF2-40B4-BE49-F238E27FC236}">
                <a16:creationId xmlns:a16="http://schemas.microsoft.com/office/drawing/2014/main" id="{825D683A-E557-437F-9860-6B26795DC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634753"/>
              </p:ext>
            </p:extLst>
          </p:nvPr>
        </p:nvGraphicFramePr>
        <p:xfrm>
          <a:off x="639326" y="1104387"/>
          <a:ext cx="5621779" cy="2402398"/>
        </p:xfrm>
        <a:graphic>
          <a:graphicData uri="http://schemas.openxmlformats.org/drawingml/2006/table">
            <a:tbl>
              <a:tblPr/>
              <a:tblGrid>
                <a:gridCol w="95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9748">
                  <a:extLst>
                    <a:ext uri="{9D8B030D-6E8A-4147-A177-3AD203B41FA5}">
                      <a16:colId xmlns:a16="http://schemas.microsoft.com/office/drawing/2014/main" val="672398677"/>
                    </a:ext>
                  </a:extLst>
                </a:gridCol>
                <a:gridCol w="749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7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031">
                  <a:extLst>
                    <a:ext uri="{9D8B030D-6E8A-4147-A177-3AD203B41FA5}">
                      <a16:colId xmlns:a16="http://schemas.microsoft.com/office/drawing/2014/main" val="1574121354"/>
                    </a:ext>
                  </a:extLst>
                </a:gridCol>
                <a:gridCol w="8638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925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900" b="1" i="0" u="none" strike="noStrike" dirty="0">
                          <a:solidFill>
                            <a:srgbClr val="F08800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Ед. изм.</a:t>
                      </a:r>
                      <a:endParaRPr lang="ru-RU" sz="800" b="1" i="0" u="none" strike="noStrike" dirty="0">
                        <a:solidFill>
                          <a:srgbClr val="F08800"/>
                        </a:solidFill>
                        <a:effectLst/>
                        <a:latin typeface="Arial" panose="020B0604020202020204" pitchFamily="34" charset="0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0408" marR="50408" marT="39692" marB="396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 dirty="0">
                          <a:solidFill>
                            <a:srgbClr val="F08800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Показатель</a:t>
                      </a:r>
                      <a:endParaRPr lang="ru-RU" sz="1000" b="1" i="0" u="none" strike="noStrike" dirty="0">
                        <a:solidFill>
                          <a:srgbClr val="F08800"/>
                        </a:solidFill>
                        <a:effectLst/>
                        <a:latin typeface="Arial" panose="020B0604020202020204" pitchFamily="34" charset="0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50408" marR="50408" marT="39692" marB="3969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F08800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2019</a:t>
                      </a:r>
                    </a:p>
                  </a:txBody>
                  <a:tcPr marL="50408" marR="50408" marT="39692" marB="39692" anchor="ctr">
                    <a:lnL w="12700" cmpd="sng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F08800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2020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F08800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2021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F08800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% исп.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844">
                <a:tc>
                  <a:txBody>
                    <a:bodyPr/>
                    <a:lstStyle/>
                    <a:p>
                      <a:pPr marL="0" marR="0" lvl="0" indent="0" algn="l" defTabSz="104299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млрд </a:t>
                      </a:r>
                      <a:br>
                        <a:rPr lang="ru-RU" sz="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</a:br>
                      <a:r>
                        <a:rPr lang="ru-RU" sz="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руб.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4299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Наименование параметра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1,9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1,0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1,0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50,7%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844">
                <a:tc>
                  <a:txBody>
                    <a:bodyPr/>
                    <a:lstStyle/>
                    <a:p>
                      <a:pPr marL="0" marR="0" lvl="0" indent="0" algn="l" defTabSz="104299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Млрд</a:t>
                      </a:r>
                      <a:b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</a:br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руб.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5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Наименование параметра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1,9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1,0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1,0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50,7%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844">
                <a:tc>
                  <a:txBody>
                    <a:bodyPr/>
                    <a:lstStyle/>
                    <a:p>
                      <a:pPr marL="0" marR="0" lvl="0" indent="0" algn="l" defTabSz="104299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млрд </a:t>
                      </a:r>
                      <a:b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</a:br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руб.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5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Наименование параметра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7,5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7,0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7,0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93,1%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844">
                <a:tc>
                  <a:txBody>
                    <a:bodyPr/>
                    <a:lstStyle/>
                    <a:p>
                      <a:pPr marL="0" marR="0" lvl="0" indent="0" algn="l" defTabSz="104299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млрд </a:t>
                      </a:r>
                      <a:b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</a:br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руб.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5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Наименование параметра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0,8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0,8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0,0%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77865"/>
                  </a:ext>
                </a:extLst>
              </a:tr>
              <a:tr h="369097">
                <a:tc>
                  <a:txBody>
                    <a:bodyPr/>
                    <a:lstStyle/>
                    <a:p>
                      <a:pPr marL="0" marR="0" lvl="0" indent="0" algn="l" defTabSz="104299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млрд </a:t>
                      </a:r>
                      <a:b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</a:br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руб.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5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Lato" pitchFamily="34" charset="0"/>
                          <a:cs typeface="Arial" panose="020B0604020202020204" pitchFamily="34" charset="0"/>
                        </a:rPr>
                        <a:t>ИТОГ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24,8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20,4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20,4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82,4%</a:t>
                      </a:r>
                    </a:p>
                  </a:txBody>
                  <a:tcPr marL="50408" marR="50408" marT="39692" marB="3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14180281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64950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8Vx3l0tDh9si1MbBK.B7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cLWcGBOk5hPN4MIsHc8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Ao8HVXYGbzFNpCbf_AfU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NwadYGgH5sgLshy3lb5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rkkTEuTQ7BTDbLsVDjDt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4jDtpasFOLtq5aIlyeds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obfFLJes.FNQPyADOljw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KaLeJmOn9SFygKjGg3wd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a8o9eyZtTjKwg40TLxyM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4dYRRWTklDZvrZfuvfFR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svsBxJMI5_ELcYmPlqYw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j6urG7VY1CY8g7.R0td7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E2rIL13rhifrau1HEOCD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8LhVq3sBonDkcmCFhqKs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qmtJVua2f147JTuuxVt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obfFLJes.FNQPyADOljw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HB94LA1nmTHd_.NxvfN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2Ozv4MQ3P.tIjFu4iHsl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mqmrHTYfDqQX8ztP7q76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4KhW95vi_pFH05UiV1uC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078ogNhIVoBV9lJSlGVr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7oNcBbJjGc5f7j.hJG2Q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DIjcXY0Cz1V3lOUSe_I2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2WndypJXvVkX18y_yM9W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obfFLJes.FNQPyADOljw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obfFLJes.FNQPyADOljw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obfFLJes.FNQPyADOljw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IQowPk0KJb21sjsDSoYi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kxGX2.1Ru202rs8elNrc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kxGX2.1Ru202rs8elNrc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kxGX2.1Ru202rs8elNrc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" val="87B2C109-D1E6-11D4-A9F0-00A0C9AAF2D8"/>
  <p:tag name="NAME" val="Rectangle"/>
  <p:tag name="GRAPHICFILE" val="\\ny_bdc_02\projects\Merrill Lynch\Global Pitchbook 1-19-00\TestServerEnvironment\Global Libraries\Shape Library\Rectangle.WMF"/>
  <p:tag name="CIRCLEGROUP" val="true"/>
  <p:tag name="LEGALDAYONE" val="True"/>
  <p:tag name="PITCHBOOKPALETTE" val="3.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ep_aAPVIYOB0Iqd6NmT4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E4QP8hf0HXtJXcw1d7j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jVKEzUAp4ymYJ3Qf4XzZ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sAb_X5RlCN_3MffMYgQH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yPOmqVRD.jpnrOI9pUBz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kxGX2.1Ru202rs8elNrc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YPE" val="3"/>
  <p:tag name="WSPAGENUMBER" val="1"/>
  <p:tag name="INCLUDEINTOC" val="0"/>
  <p:tag name="GUID" val="C2A5722D-9ACA-11D4-AB8E-0010A4E5E143"/>
  <p:tag name="NAME" val="Blank Slide"/>
  <p:tag name="GREYBORDERS" val="True"/>
  <p:tag name="SPACEBETWEENOBJECTS" val="p9"/>
  <p:tag name="FONTRATIO" val="p1"/>
  <p:tag name="SLIDELEFTMARGIN" val="p36"/>
  <p:tag name="SLIDERIGHTMARGIN" val="p744"/>
  <p:tag name="SLIDETOPMARGIN" val="p36"/>
  <p:tag name="SLIDEBOTTOMMARGIN" val="p504"/>
  <p:tag name="LEFTCOLLEFTMARGIN" val="p36"/>
  <p:tag name="LEFTCOLRIGHTMARGIN" val="p726"/>
  <p:tag name="RIGHTCOLLEFTMARGIN" val="p0"/>
  <p:tag name="RIGHTCOLRIGHTMARGIN" val="p0"/>
  <p:tag name="ARRANGETOGRID" val="False"/>
  <p:tag name="LEFTCOLTOPMARGIN" val="p126"/>
  <p:tag name="RIGHTCOLTOPMARGIN" val="p126"/>
  <p:tag name="LEFTCOLBOTTOMMARGIN" val="p463"/>
  <p:tag name="RIGHTCOLBOTTOMMARGIN" val="p463"/>
  <p:tag name="SLIDEPAGENUMBER" val="7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PM_SLIDE_ROLE" val="jpmPag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nFkmk4wS2WrxqpqltQbI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RdiHc7Rb3lDRG9esqwPp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QGT6P.NeadI4NpyNGDGt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SNlZ3..M.89B_jjBjHsaw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CVeq_CrhhCYrDN341eE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aV49P7rAd7QVIyKh004.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tsXZ8JWPskl.1D50625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eYMn1gaHG3G5yxqtUwRKA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6lcI29BaJ.1Np5rcZP0A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zhHsfmxRHLr26FfS5odc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c470_0xNtPpKHg8_AnxD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0rSk1nlPIfswVbu3YYxNw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jhxZcfka.aeHiAySOFaw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VtSJ_Cgb_VSfUWo5vymD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7tA8tB8czDk6Zum3w3kVw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nKlrYZJr6pWWEBBp3I0E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_orXIx6t435bHiL6BlmUA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pI8H3i_b.CdYAJ2bBDf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B2C3GWXwcJUmsc2bdJ4AQ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o4jzRBxYIXQoVEy9si_AQ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0b9KP2GweokppbZcG9.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2DavHKKLfMaJjUQCzFEi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8WdgHgMFdlTPjhgnu7FZ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_m1qSnX6RQq_NdngkAFz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15J0PVMqGZ9ZF1Sz13fD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FwlX1NGjCC4SGZ3pG6NI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zVBitU0e7eUIV8BgIsf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zgMUypQR4c5qpgljxH6oQ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HaHUPS3FQvcpz__P3cF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CgUe_VXRJuoK.CkCQac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oX0SLZ_A14PME6R17x30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LsLNm0I3m.qmSXNg6Xxvw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KYjxufPGiI0.gs03pvYn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a1mFnpNDCTRx1W.qB.9tQ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QOK23w8zahNLWNViS0QA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AT8uLlQ0jMfk8s3Fv5j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bhnQXW9l_5dR2F2URMDW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R_5ntAbmxLC.xZsMBCfA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TPGsnoTS5brzGXS.4AgxQ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aa7vsTnVgaKFnWpVjDo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.URrx3vW1FjeVUGV8juY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mwbg1_d1yOk2c1lBkBcAQ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oHuKXgvU0QJt2sWe_rO8Q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7rp5zgKVQ0jmlvvxvV5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8HBsbM6b4cr0x2gj4P0v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.iBfzT2WEqRcTZcHc6Y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NHvV9Tojx1fH09X_s2drw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9hq4SLf4d1O.UH0dWtss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VvwsdZ1DFZmfh3DBr.jlQ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vH0DGmdhLcyJrxotNcIx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FZf8woK2AvGSzxga26.i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KJsw.0lbgVVpdPcltI.AQ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TNbuHYwqPQs1G7Co1jj0w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F5ciasJeHFqoYUDzxE8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db2fD_egQIrOvwXM9OjcQ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BEepD5qSEtTdFWu.0GxMg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nEiyYbQ3tnxsdhSpge1Q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0769qub2wiWc_M.GysXp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BSm.A6j78tPabxEqkfgc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4fZJlkw7oINl10yxpBucA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8kdfH0OjRW3Y2GN3n19Qg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EQfibzBLnN_aFG0IpV_5A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0RSMxxpRpQVkgFEk0Vul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4orvyzIPEI.Sxu.r98bj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gtCondSBhcQJvwOB.0Z5g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sOzOT2_K3zePVJMW0A3Q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wATByUIawz_r.si8Y_iA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5QuQQqTV8V787uN3IC3xQ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22ckg1U46ObkW7y1FpDZQ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Dtoasxnn7vxLxc6sRsBxA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q1GpQ0c2Wn6483w2QKBE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SHKFzvXBKKLyAMhaTbtmw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gxsaaF7XVxtyreaXcDMlg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XFKbNam9ksIvCprPKlfg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Ph3_6x60x0Nur2yP5rmA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W2el7Pa3nJUgp2rh9cYw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NyV8Nts1GD_lYE0QSY4tA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h_4hylTVS1QFwhVtZPAmQ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nHNKrX.VkCbwHIopX9Xjw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0dgH0SmiTAgwig8PLipjA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7zUIy0UowjCkY309YRNw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jaovFu.gRDV6TTW8V51MA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cd5AQPb8EmIebCIy1Z8gA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EKTaiHUELOLu2Dfey45w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nYPImEPmokq_9tabd9Vlw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oBp8.RxmcwUDxPTKfTK8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H.WXjHWVQydas6.URGbtw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OTNqnzxp7t5hsCcO1WaVQ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0Y04Maft1xW4mPDZYSAw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D8Wu8UC6MG_0zENLUA0F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9BmyS7yzPLd45B56zEWJQ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qBAimwu0mlM45oAfB1eA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hf1Gg6aMWfS8plkV3mH_A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4KIahgI4rjjvv.WYnyM4A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8T8iLfhCX0GDwhdLepmYg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QX.jRtHdzoUdGfJTY5vg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uTvCLsD48uk_Xb5.2BWOg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Il9EgBtSKJuKyfa5klsA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PPfUnVqasNcZPtykIlnQ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8AcVL_kHxfwc_1ZaW_2kQ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V8Na6fh9q4b.BZMS6Ul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lD8vVvPBpsK.CV5xf6zjg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RBx5jfMPC9nMcy.QYC2Wg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ghJOQzBSnhSbKYeznc76Q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rk6v1o3SkKCBi6Qftfw8w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ETG5GL2Axn.OG2e2261Sg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YhTSk9_jA5e.cXwpukFxw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L2QjiidnCtKET.b9XUkpw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JwVu28zgeH3cVQL2OPnJQ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GIH_knRWwLqqo02a1pvA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h6eozSavjJc3FUin1.Edg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WmCLFFxfguGKV1QFif.YA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53mfaQDYBctfrymhhkQUg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13ikjWPB1c8Qw42ybuq8g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T.JhAQXaFEjO0OUZc._TA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wu.MSP.GHH0F4hatrMqQ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nIi5olCIhc8Lf8z351UwA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d3905NcGCNs0kSKnqtFmw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WzCPRmhQAiXAdoaJdOYA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PYmtllb8AhZOUC3aKl7Ww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4g3Rkt71o7iew_VX3BWNw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Ze1uwQMyE4kAICyishBmg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EPddgTk3FZq2w1PaE0Ylg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aBJHs9MQBpRbh2.9amE7A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zdjQWmreLhb7AE7Uzeeow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DTSpqn_ckV.K_aIEYfVIw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cIaQcvkX2K0WEn7LebHfg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HXdwpMm0ngNgT9357Opw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z.0rlthqDQ5kKxgtDBn4A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4nwfC.n.pcR2uSVR8TVg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BZaMyCRd367IQR5z85obw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FCNp1VbkV8Fxn26AXduw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p772RvOh4WjpPrPORDTeA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nEMRmAXEx4hEP3WAI8Rjw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VKYJUVkF3GaF1JKsHV_cQ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rinC9h9Hz0UiEIEPqvTA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Ms6SGkQeeUjPMo0aTPqBg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Ipn35ALOJ.cReSRQzg21w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fq_EuKLLxpPhx8ABlY4BQ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JPUURQkOWkZtuD8r8i8Q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kSVSXrbogDJykx63J_PK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MaJXRtJCp2luabLH2Nk4g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b5E7XATcjQ79VtIqf4AOA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FCVjLeFq6YcBZ3x8eVKg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bybNGAi7ACMN.V4SjVIoQ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qqah3F1ZzkYOC_6BBM3g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bivmISFZ1pSnjkSYa02FA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qgEXlcWZQmoF1wH4zqkA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ENXbnRF.PPPHr.fp7A1w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HIj8TqV0vYN5XkhxKwBkA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k6k.fGXA4GsFXWo_Pq83A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VOI3caVxxiGkCetPqZ8w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MVgjAR_rhuRtZXGH8cehA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2XSVfGOgdBCn9w9MnZ75Q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LI7uA5lBAuvr4su1pWiTw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nr12Gn3fnRPLN65ox5wGg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nOTebahJ.d6EyEwMvuOAw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KG28nduNEDSn9J0G_tLYw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559AuscARqPBwJHloBg9A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9r06klRT5v5i.qK5QDGw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BlJgUF7mb2C4RRIBlNUQ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XtxA.9fcQRigNMCWZkzUg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desG0obCdAjWJQvBoWTbw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OCA_0uG2wjEsWYwlvwnPA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PM_SLIDE_ROLE" val="jpmPag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yoxgD0TbqzcjJkKIcWCA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2A2jg4qLMn60iZEzF0vLw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a3rYV_2Q_jz_fEWHofjvg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0i8mMwx8ctFls7LcJCSsQ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e6teCikCtIwiIo11sYmyQ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loGGhrsGaHu.RCr0xoftA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2O1LbXAzTvjAqHyOPj3Q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Rd4Fh6bXi_t4TX2XxYsNg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WzXFaloiRyG82mHi24UQ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32kERNS9KF12vUzRUH1ww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7O2.NI7cEJFqMAGIYaM6g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Irt4tngcZBp630ReCiPA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5qeTxrgzIzhPwfBddlptw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75dFR_Xm7A_6xfxK64Meg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UFBMkE39jji3N7F1lUdFw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4tBGIxJoJIp3lO90TVMYA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HMEKXqsfp3kGWZoWJmKqw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mKIzHTvNnrMeIE2LQHaEQ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S0aMx3pUch5F9K91noTAQ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PTNJ4rwhGBXZHHhX77jyg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rVEuK5oimf25j877tgAlw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afBRRvFhabh3rHarsjGA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E0OLPG7lJ5J7zwDObUrmw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QjDK2og3uQdn5uJM80TnQ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tbjZ_yb8pHnnQpKcb_Q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kHPxcPOKSk4LyCUrfxDvA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Gu4RzoUElP7jnZV2DRg9A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IIYt6m2EJ0DcE7hgzhzEg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p_W.bQjHrSFK9M3zw_g9Q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uBJ9nBOhzW4_DIb_C.rrQ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1g1EfsXseFLmoHiciBTOg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m2JcDb.vy3jD9yMU28q4w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J3WlddKuLCq7Yf0jkRGQ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gVXlWSi2W3QPezn2Qn0mQ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JIb56Y5.r5dR_M_MFlYA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hsoI8C6ljC3mDqoSVzcHA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rYygM6hIWnvq7.rSjuX4A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wARmRvQBPh_y_c4_Vx.Ag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kJxyzTOjZZqXgLk8GMng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oTffx7Hysr08zATs8STbg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Z4DoYmWviPNzc8XP2gM8g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jkAQI92l3BH2XGtEnp2tQ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FmbPh6N3XXx2tLwZKUCMQ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KpwisLccOZULJWfPt8GgQ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z6XUosdF6kl3RGVa4LRPA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0BKbH8H8pqeFxSptuap7A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cgIIv_kMF.aO_n.UwsXQ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GMA16s3DELeY07IV1xInQ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qRGxyExukOT8XFRaJrGA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jTYjhODBaMxTfJC_jyv9w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mIkN9nRp3Z6nK3DcaXyng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pLEKC8NYuszauPIuzX8w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Lx9sy46IK32a50DoLXOYw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DF5P9KzRVyJY4gZcQvkYw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afkAsZfzNXAHVpWpwOJsQ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3W_2VvuKcvehD1DaiDd5Q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RFdx5b6UIbrF7rRZin2Xw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lXKSyeKpz5Dsiqki_wMPA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DVFjdrimw1Y8n6fk4oY8w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0ZwYuo1DDUHbMEtNj3Tw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MGEwrNHQd.cPg.N0X1Mg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jrMxU6x580hoEwiP4uSg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bmAHSuhvTCXzm0VrzA1Q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OYS7AJgufXkquoZOy6zFQ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ECgAULjHOiLQSfEQJ1uw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uLsgml2iegzsWvr7Sz.Bw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TOhahmpNz2HKdm9LUfLDA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hOIdTxrSrLJnzUto6wSg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ChgQhQDWqMznFOo2UU1yQ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kO0gL0utLGI__VAVHF2Q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LTheuD8TZX31YT6lK9o8w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TmqaIjHJkwVhp20uAfB0w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ory7NIlB5PmTQxtxdSQuQ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pE8ZOqVydL5NT.6JcIUQ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Alrgt8NMwjDnU6qM1crbA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1E2VyY3nA8d1IyMzUyx3w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rbn7r74SjldICFwsbUnSQ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r6Dl8Fr6O8gEV7VGQROKg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cxbcXjVx2kXWhlL5lCHEw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gLGgh0M1o_7Xxs28aRCtg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BfTsEToMp915ajHtqfxJA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v7x8ifhlRU0ddpz_mpMgA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4iqc_LSnyWF9bqnJeFpEw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HDEmdDe_BPMuDmUckPtMw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.rb1b9OJvYhQ6wMI3xTg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xJLpfP8bX7mNdzSV3OIhw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ioZkeputCJh0HlIcJKLEQ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fCW17xF8pc2MtVma2iWnw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ONUemB6DdIJmQiDlr7pnA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CYGQsUU_BzVCgLpm3JP4A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NB4UdcFYu0Lg1mfNXPVTQ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37ngbp98EF3iLmpkjSjgw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Eo9YpA0cw1dBhi3UaU.uA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jTMXF28dHDB6ajsT_zUXQ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NXB57TYRBknRQxIrIjcYQ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ViP3Ru8XtY4e.k5B9JWQ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osGmj5A_74O2NM4dPhYCw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FUI4TjjOVYivru_6fkU5Q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R9tzFbb0HYcOwX3Nde_g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3YbW_VNKm8Be6GoGNYE4A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TJj85FxYcUnVsWryJSkg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pP.mpAc2zEt.go2FDeZuw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ddko61dh.NGtkemeR_pQ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p9n2FieQfJozkeSH9ocCg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0W0oDcxNXO.Mawxo5cNcg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r9Bfzp_C1nJL1iDIawduQ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pTrMCXnOwbbJ1sw01bc2A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PvtpVJiuT4NnvEYAuBrw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rq5Ekyfn4idyY_5s8tk0A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tXitZXSfSAOTrsozltjg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1Fyi6XBemEd6Ft2s_6mvQ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2IoTGdAyDmueOuBohfWLQ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eBL69pxU4NiQ.BmQxIcrQ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sC.4I7k6IziHlvxWo4r0g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oaf4Axuaam86HV4qYrNbw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oDSb_Ilixud3LZ1D2LCSA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u_ugdg.IDxUPhNGWDslKA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Yex9Q9Oii73OmhqXlSzQ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F4_mKIc9nDcF1Q.s68J6Q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f8a994EJKGxonvhgwJTiQ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MtpTlx90dVGQJejgTkjw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KXifNgob4m_hhFBoutSNw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TKJDna6rsRuPxhXdQabw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w.pIpW9fPTXugV64_Dopg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CRsimBS97XIrGoXABn_A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JorxyaxTfUcRuto.wnhCg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YlcbWb40V3GhVJUkDH1fg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4BMPBJA6ozR4BGBWr0XXg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XPChQupTef05mr0VlMjrA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t_DL58dlfXwmmqqYxtlQ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6x1tUlva8pTumKxT6.GA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QXSlRrkuAeKB7COr.gpjg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TQmUPtesuaPd1gTCCuT8w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QBPHX2vyqgdaNRU5P8Gg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T5BPuWdT3O0tHk2OQlHgg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KdJc46MwzQK9R_.zPKjg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1wJZwNofAiPenBMpmfT_Q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3J62eI4ZBjVP8oQPjgt.w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dIuyCLwGz_PWti2xI54iA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LC5tGhFP60bQx2E.Sw.nw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ovWkbl_n2GJ6ursviCyWg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uarTlv.8BTtkv3gA62Gqw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TUgSyIC0gp7yMKIOoZrtQ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8rZPS0yHhfyHHB9Lo46A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xEHifixg02QT3DHtALpLg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Hyt3PAlsKnGXOvSnrr.RQ"/>
</p:tagLst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1247</TotalTime>
  <Words>2934</Words>
  <Application>Microsoft Office PowerPoint</Application>
  <PresentationFormat>Произвольный</PresentationFormat>
  <Paragraphs>830</Paragraphs>
  <Slides>28</Slides>
  <Notes>7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8" baseType="lpstr">
      <vt:lpstr>Arial</vt:lpstr>
      <vt:lpstr>Arial Narrow</vt:lpstr>
      <vt:lpstr>Calibri</vt:lpstr>
      <vt:lpstr>Cordia New</vt:lpstr>
      <vt:lpstr>Lato</vt:lpstr>
      <vt:lpstr>Liberation Sans</vt:lpstr>
      <vt:lpstr>Tahoma</vt:lpstr>
      <vt:lpstr>Wingdings</vt:lpstr>
      <vt:lpstr>Тема Office</vt:lpstr>
      <vt:lpstr>Слайд think-cell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Шрифты</vt:lpstr>
      <vt:lpstr>Презентация PowerPoint</vt:lpstr>
      <vt:lpstr>Образец слайда с диаграммами и таблицей</vt:lpstr>
      <vt:lpstr>Презентация PowerPoint</vt:lpstr>
      <vt:lpstr>Образец слайда с иконками</vt:lpstr>
      <vt:lpstr>Образец слайда</vt:lpstr>
      <vt:lpstr>Образец слайда</vt:lpstr>
      <vt:lpstr>Образец слайда</vt:lpstr>
      <vt:lpstr>Образец слайда</vt:lpstr>
      <vt:lpstr>Образец слайда</vt:lpstr>
      <vt:lpstr>Образец слайда</vt:lpstr>
      <vt:lpstr>Образец слайда</vt:lpstr>
      <vt:lpstr>Образец слайда</vt:lpstr>
      <vt:lpstr>Образец слайда</vt:lpstr>
      <vt:lpstr>Образец слайда</vt:lpstr>
      <vt:lpstr>Образец слайда</vt:lpstr>
      <vt:lpstr>Образец слайда</vt:lpstr>
      <vt:lpstr>Образец слайда</vt:lpstr>
      <vt:lpstr>Образец слайда</vt:lpstr>
      <vt:lpstr>Образец слайда</vt:lpstr>
      <vt:lpstr>Образец слайда</vt:lpstr>
      <vt:lpstr>Образец слайда</vt:lpstr>
      <vt:lpstr>Презентация PowerPoint</vt:lpstr>
    </vt:vector>
  </TitlesOfParts>
  <Company>Interrao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Кадушин Александр Владимирович</dc:creator>
  <cp:lastModifiedBy>Кадушин Александр Владимирович</cp:lastModifiedBy>
  <cp:revision>29</cp:revision>
  <dcterms:created xsi:type="dcterms:W3CDTF">2019-10-09T15:53:58Z</dcterms:created>
  <dcterms:modified xsi:type="dcterms:W3CDTF">2024-04-25T14:46:40Z</dcterms:modified>
</cp:coreProperties>
</file>