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handoutMasterIdLst>
    <p:handoutMasterId r:id="rId4"/>
  </p:handoutMasterIdLst>
  <p:sldIdLst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DA37D80-6434-44D0-A028-1B22A696006F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Светлый стиль 3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828" autoAdjust="0"/>
  </p:normalViewPr>
  <p:slideViewPr>
    <p:cSldViewPr snapToGrid="0" snapToObjects="1">
      <p:cViewPr varScale="1">
        <p:scale>
          <a:sx n="102" d="100"/>
          <a:sy n="102" d="100"/>
        </p:scale>
        <p:origin x="918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89" d="100"/>
          <a:sy n="89" d="100"/>
        </p:scale>
        <p:origin x="2634" y="7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handoutMaster" Target="handoutMasters/handout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345A26-03BB-4187-8D70-8D5361528A81}" type="datetimeFigureOut">
              <a:rPr lang="ru-RU" smtClean="0"/>
              <a:t>14.08.2025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2E6483-D6E6-46CD-B44E-327AE4BA44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38944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D78BF-0394-D549-A535-A40133B5DC51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FCC19-E3A1-4B4F-9AAC-715A6622D0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406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Акцент на росте выработки и снижении аварийности.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FIELD"/>
          <p:cNvSpPr>
            <a:spLocks noGrp="1"/>
          </p:cNvSpPr>
          <p:nvPr>
            <p:ph type="ctrTitle" hasCustomPrompt="1"/>
          </p:nvPr>
        </p:nvSpPr>
        <p:spPr>
          <a:xfrm>
            <a:off x="589935" y="2854487"/>
            <a:ext cx="10854813" cy="1322497"/>
          </a:xfrm>
          <a:prstGeom prst="rect">
            <a:avLst/>
          </a:prstGeom>
          <a:noFill/>
        </p:spPr>
        <p:txBody>
          <a:bodyPr wrap="square" lIns="114300" tIns="57150" rIns="114300" bIns="57150" rtlCol="0" anchor="t" anchorCtr="0">
            <a:noAutofit/>
          </a:bodyPr>
          <a:lstStyle>
            <a:lvl1pPr>
              <a:defRPr lang="en-US" sz="4200" b="1" baseline="0" dirty="0">
                <a:solidFill>
                  <a:srgbClr val="003D80"/>
                </a:solidFill>
              </a:defRPr>
            </a:lvl1pPr>
          </a:lstStyle>
          <a:p>
            <a:pPr marL="0" lvl="0" algn="ctr"/>
            <a:r>
              <a:rPr lang="ru-RU" dirty="0" smtClean="0"/>
              <a:t>Слайд начальный.</a:t>
            </a:r>
            <a:r>
              <a:rPr lang="en-US" dirty="0" smtClean="0"/>
              <a:t> </a:t>
            </a:r>
            <a:r>
              <a:rPr lang="ru-RU" dirty="0" smtClean="0"/>
              <a:t>Вариант 1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3133D12-CE5E-6B41-8E9D-91EDFBAFC85F}" type="datetime1">
              <a:rPr lang="en-GB" smtClean="0"/>
              <a:t>14/08/2025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469359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991" y="712820"/>
            <a:ext cx="2132014" cy="20118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5526372"/>
            <a:ext cx="12191999" cy="7001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FIELD" title="TITLE_FIELD"/>
          <p:cNvSpPr>
            <a:spLocks noGrp="1"/>
          </p:cNvSpPr>
          <p:nvPr>
            <p:ph type="ctrTitle" hasCustomPrompt="1"/>
          </p:nvPr>
        </p:nvSpPr>
        <p:spPr>
          <a:xfrm>
            <a:off x="589935" y="2854487"/>
            <a:ext cx="10854813" cy="1322497"/>
          </a:xfrm>
          <a:prstGeom prst="rect">
            <a:avLst/>
          </a:prstGeom>
          <a:noFill/>
        </p:spPr>
        <p:txBody>
          <a:bodyPr wrap="square" lIns="114300" tIns="57150" rIns="114300" bIns="57150" rtlCol="0" anchor="t" anchorCtr="0">
            <a:noAutofit/>
          </a:bodyPr>
          <a:lstStyle>
            <a:lvl1pPr>
              <a:defRPr lang="en-US" sz="4200" b="1" baseline="0" dirty="0">
                <a:solidFill>
                  <a:srgbClr val="003D80"/>
                </a:solidFill>
              </a:defRPr>
            </a:lvl1pPr>
          </a:lstStyle>
          <a:p>
            <a:pPr marL="0" lvl="0" algn="ctr"/>
            <a:r>
              <a:rPr lang="ru-RU" dirty="0" smtClean="0"/>
              <a:t>Слайд раздела. Вариант 1. Название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469359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991" y="712820"/>
            <a:ext cx="2132014" cy="20118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5526372"/>
            <a:ext cx="12191999" cy="700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6482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FIELD" title="TITLE_FIELD"/>
          <p:cNvSpPr>
            <a:spLocks noGrp="1"/>
          </p:cNvSpPr>
          <p:nvPr>
            <p:ph type="title" hasCustomPrompt="1"/>
          </p:nvPr>
        </p:nvSpPr>
        <p:spPr>
          <a:xfrm>
            <a:off x="458649" y="222961"/>
            <a:ext cx="10515600" cy="449567"/>
          </a:xfrm>
          <a:prstGeom prst="rect">
            <a:avLst/>
          </a:prstGeom>
        </p:spPr>
        <p:txBody>
          <a:bodyPr/>
          <a:lstStyle>
            <a:lvl1pPr>
              <a:defRPr lang="en-US" sz="2400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 smtClean="0"/>
              <a:t>Слайд обычный. Вариант 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27820" y="6441703"/>
            <a:ext cx="1025979" cy="384006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Прямая соединительная линия 6"/>
          <p:cNvCxnSpPr/>
          <p:nvPr userDrawn="1"/>
        </p:nvCxnSpPr>
        <p:spPr>
          <a:xfrm flipH="1" flipV="1">
            <a:off x="548456" y="672528"/>
            <a:ext cx="12161250" cy="0"/>
          </a:xfrm>
          <a:prstGeom prst="line">
            <a:avLst/>
          </a:prstGeom>
          <a:ln w="15875">
            <a:gradFill flip="none" rotWithShape="1">
              <a:gsLst>
                <a:gs pos="26000">
                  <a:schemeClr val="bg1"/>
                </a:gs>
                <a:gs pos="100000">
                  <a:srgbClr val="003264"/>
                </a:gs>
              </a:gsLst>
              <a:lin ang="0" scaled="1"/>
              <a:tileRect/>
            </a:gra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 userDrawn="1"/>
        </p:nvCxnSpPr>
        <p:spPr>
          <a:xfrm flipH="1">
            <a:off x="0" y="6371812"/>
            <a:ext cx="12161250" cy="0"/>
          </a:xfrm>
          <a:prstGeom prst="line">
            <a:avLst/>
          </a:prstGeom>
          <a:ln w="19050" cmpd="thickThin">
            <a:gradFill flip="none" rotWithShape="1">
              <a:gsLst>
                <a:gs pos="0">
                  <a:srgbClr val="FF6408"/>
                </a:gs>
                <a:gs pos="100000">
                  <a:schemeClr val="bg1"/>
                </a:gs>
              </a:gsLst>
              <a:lin ang="10800000" scaled="1"/>
              <a:tileRect/>
            </a:gradFill>
            <a:headEnd w="lg" len="med"/>
            <a:tailEnd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0396" y="112490"/>
            <a:ext cx="710560" cy="670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_FIELD" title="TEXT_FIELD"/>
          <p:cNvSpPr>
            <a:spLocks noGrp="1"/>
          </p:cNvSpPr>
          <p:nvPr>
            <p:ph type="body" idx="1" hasCustomPrompt="1"/>
          </p:nvPr>
        </p:nvSpPr>
        <p:spPr>
          <a:xfrm>
            <a:off x="458649" y="902810"/>
            <a:ext cx="10515600" cy="5216071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1008126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F08800"/>
              </a:buClr>
              <a:buSzTx/>
              <a:buFontTx/>
              <a:buNone/>
              <a:tabLst/>
              <a:defRPr lang="en-US" sz="1323" kern="1200" dirty="0" smtClean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1pPr>
            <a:lvl2pPr marL="800100" indent="-34290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2pPr>
            <a:lvl3pPr marL="1200150" indent="-28575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3pPr>
            <a:lvl4pPr marL="1657350" indent="-28575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4pPr>
            <a:lvl5pPr marL="2114550" indent="-28575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TEXT_FIELD </a:t>
            </a:r>
            <a:r>
              <a:rPr lang="ru-RU" dirty="0" smtClean="0"/>
              <a:t>Заголовок 3</a:t>
            </a:r>
            <a:endParaRPr lang="en-US" dirty="0" smtClean="0"/>
          </a:p>
          <a:p>
            <a:pPr lvl="1"/>
            <a:r>
              <a:rPr lang="ru-RU" dirty="0" smtClean="0"/>
              <a:t>Заголовок 4</a:t>
            </a:r>
            <a:endParaRPr lang="en-US" dirty="0" smtClean="0"/>
          </a:p>
          <a:p>
            <a:pPr lvl="2"/>
            <a:r>
              <a:rPr lang="ru-RU" dirty="0" smtClean="0"/>
              <a:t>Заголовок 5</a:t>
            </a:r>
            <a:endParaRPr lang="en-US" dirty="0" smtClean="0"/>
          </a:p>
          <a:p>
            <a:pPr lvl="3"/>
            <a:r>
              <a:rPr lang="ru-RU" dirty="0" smtClean="0"/>
              <a:t>Заголовок 6</a:t>
            </a:r>
            <a:endParaRPr lang="en-US" dirty="0" smtClean="0"/>
          </a:p>
          <a:p>
            <a:pPr lvl="4"/>
            <a:r>
              <a:rPr lang="ru-RU" dirty="0" smtClean="0"/>
              <a:t>Заголовок 7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FIELD" title="TITLE_FIELD"/>
          <p:cNvSpPr>
            <a:spLocks noGrp="1"/>
          </p:cNvSpPr>
          <p:nvPr>
            <p:ph type="title" hasCustomPrompt="1"/>
          </p:nvPr>
        </p:nvSpPr>
        <p:spPr>
          <a:xfrm>
            <a:off x="458649" y="222961"/>
            <a:ext cx="10515600" cy="449567"/>
          </a:xfrm>
          <a:prstGeom prst="rect">
            <a:avLst/>
          </a:prstGeom>
        </p:spPr>
        <p:txBody>
          <a:bodyPr/>
          <a:lstStyle>
            <a:lvl1pPr>
              <a:defRPr lang="en-US" sz="2400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 smtClean="0"/>
              <a:t>Слайд обычный. Вариант 2</a:t>
            </a:r>
            <a:endParaRPr lang="en-US" dirty="0"/>
          </a:p>
        </p:txBody>
      </p:sp>
      <p:sp>
        <p:nvSpPr>
          <p:cNvPr id="3" name="TEXT_FIELD" title="TEXT_FIELD"/>
          <p:cNvSpPr>
            <a:spLocks noGrp="1"/>
          </p:cNvSpPr>
          <p:nvPr>
            <p:ph type="body" idx="1" hasCustomPrompt="1"/>
          </p:nvPr>
        </p:nvSpPr>
        <p:spPr>
          <a:xfrm>
            <a:off x="458649" y="902810"/>
            <a:ext cx="4946108" cy="5216071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1008126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F08800"/>
              </a:buClr>
              <a:buSzTx/>
              <a:buFont typeface="Arial" panose="020B0604020202020204" pitchFamily="34" charset="0"/>
              <a:buNone/>
              <a:tabLst/>
              <a:defRPr lang="en-US" sz="1323" kern="1200" dirty="0" smtClean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1pPr>
            <a:lvl2pPr marL="800100" indent="-34290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2pPr>
            <a:lvl3pPr marL="1200150" indent="-28575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3pPr>
            <a:lvl4pPr marL="1657350" indent="-28575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4pPr>
            <a:lvl5pPr marL="2114550" indent="-28575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TEXT_FIELD </a:t>
            </a:r>
            <a:r>
              <a:rPr lang="ru-RU" dirty="0" smtClean="0"/>
              <a:t>Заголовок 3</a:t>
            </a:r>
            <a:endParaRPr lang="en-US" dirty="0" smtClean="0"/>
          </a:p>
          <a:p>
            <a:pPr lvl="1"/>
            <a:r>
              <a:rPr lang="ru-RU" dirty="0" smtClean="0"/>
              <a:t>Заголовок 4</a:t>
            </a:r>
            <a:endParaRPr lang="en-US" dirty="0" smtClean="0"/>
          </a:p>
          <a:p>
            <a:pPr lvl="2"/>
            <a:r>
              <a:rPr lang="ru-RU" dirty="0" smtClean="0"/>
              <a:t>Заголовок 5</a:t>
            </a:r>
            <a:endParaRPr lang="en-US" dirty="0" smtClean="0"/>
          </a:p>
          <a:p>
            <a:pPr lvl="3"/>
            <a:r>
              <a:rPr lang="ru-RU" dirty="0" smtClean="0"/>
              <a:t>Заголовок 6</a:t>
            </a:r>
            <a:endParaRPr lang="en-US" dirty="0" smtClean="0"/>
          </a:p>
          <a:p>
            <a:pPr lvl="4"/>
            <a:r>
              <a:rPr lang="ru-RU" dirty="0" smtClean="0"/>
              <a:t>Заголовок 7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27820" y="6441703"/>
            <a:ext cx="1025979" cy="384006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Прямая соединительная линия 6"/>
          <p:cNvCxnSpPr/>
          <p:nvPr userDrawn="1"/>
        </p:nvCxnSpPr>
        <p:spPr>
          <a:xfrm flipH="1" flipV="1">
            <a:off x="548456" y="672528"/>
            <a:ext cx="12161250" cy="0"/>
          </a:xfrm>
          <a:prstGeom prst="line">
            <a:avLst/>
          </a:prstGeom>
          <a:ln w="15875">
            <a:gradFill flip="none" rotWithShape="1">
              <a:gsLst>
                <a:gs pos="26000">
                  <a:schemeClr val="bg1"/>
                </a:gs>
                <a:gs pos="100000">
                  <a:srgbClr val="003264"/>
                </a:gs>
              </a:gsLst>
              <a:lin ang="0" scaled="1"/>
              <a:tileRect/>
            </a:gra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 userDrawn="1"/>
        </p:nvCxnSpPr>
        <p:spPr>
          <a:xfrm flipH="1">
            <a:off x="0" y="6371812"/>
            <a:ext cx="12161250" cy="0"/>
          </a:xfrm>
          <a:prstGeom prst="line">
            <a:avLst/>
          </a:prstGeom>
          <a:ln w="19050" cmpd="thickThin">
            <a:gradFill flip="none" rotWithShape="1">
              <a:gsLst>
                <a:gs pos="0">
                  <a:srgbClr val="FF6408"/>
                </a:gs>
                <a:gs pos="100000">
                  <a:schemeClr val="bg1"/>
                </a:gs>
              </a:gsLst>
              <a:lin ang="10800000" scaled="1"/>
              <a:tileRect/>
            </a:gradFill>
            <a:headEnd w="lg" len="med"/>
            <a:tailEnd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0396" y="112490"/>
            <a:ext cx="710560" cy="670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IMAGE_FIELD"/>
          <p:cNvSpPr>
            <a:spLocks noGrp="1"/>
          </p:cNvSpPr>
          <p:nvPr>
            <p:ph type="pic" sz="quarter" idx="13" hasCustomPrompt="1"/>
          </p:nvPr>
        </p:nvSpPr>
        <p:spPr>
          <a:xfrm>
            <a:off x="5846763" y="903287"/>
            <a:ext cx="5127486" cy="52155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 smtClean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396448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_text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FIELD" title="TITLE_FIELD"/>
          <p:cNvSpPr>
            <a:spLocks noGrp="1"/>
          </p:cNvSpPr>
          <p:nvPr>
            <p:ph type="title" hasCustomPrompt="1"/>
          </p:nvPr>
        </p:nvSpPr>
        <p:spPr>
          <a:xfrm>
            <a:off x="458649" y="222961"/>
            <a:ext cx="10515600" cy="449567"/>
          </a:xfrm>
          <a:prstGeom prst="rect">
            <a:avLst/>
          </a:prstGeom>
        </p:spPr>
        <p:txBody>
          <a:bodyPr/>
          <a:lstStyle>
            <a:lvl1pPr>
              <a:defRPr lang="en-US" sz="2400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 smtClean="0"/>
              <a:t>Слайд с таблицей. Вариант 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27820" y="6441703"/>
            <a:ext cx="1025979" cy="384006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Прямая соединительная линия 6"/>
          <p:cNvCxnSpPr/>
          <p:nvPr userDrawn="1"/>
        </p:nvCxnSpPr>
        <p:spPr>
          <a:xfrm flipH="1" flipV="1">
            <a:off x="548456" y="672528"/>
            <a:ext cx="12161250" cy="0"/>
          </a:xfrm>
          <a:prstGeom prst="line">
            <a:avLst/>
          </a:prstGeom>
          <a:ln w="15875">
            <a:gradFill flip="none" rotWithShape="1">
              <a:gsLst>
                <a:gs pos="26000">
                  <a:schemeClr val="bg1"/>
                </a:gs>
                <a:gs pos="100000">
                  <a:srgbClr val="003264"/>
                </a:gs>
              </a:gsLst>
              <a:lin ang="0" scaled="1"/>
              <a:tileRect/>
            </a:gra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 userDrawn="1"/>
        </p:nvCxnSpPr>
        <p:spPr>
          <a:xfrm flipH="1">
            <a:off x="0" y="6371812"/>
            <a:ext cx="12161250" cy="0"/>
          </a:xfrm>
          <a:prstGeom prst="line">
            <a:avLst/>
          </a:prstGeom>
          <a:ln w="19050" cmpd="thickThin">
            <a:gradFill flip="none" rotWithShape="1">
              <a:gsLst>
                <a:gs pos="0">
                  <a:srgbClr val="FF6408"/>
                </a:gs>
                <a:gs pos="100000">
                  <a:schemeClr val="bg1"/>
                </a:gs>
              </a:gsLst>
              <a:lin ang="10800000" scaled="1"/>
              <a:tileRect/>
            </a:gradFill>
            <a:headEnd w="lg" len="med"/>
            <a:tailEnd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0396" y="112490"/>
            <a:ext cx="710560" cy="670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_FIELD" title="TEXT_FIELD"/>
          <p:cNvSpPr>
            <a:spLocks noGrp="1"/>
          </p:cNvSpPr>
          <p:nvPr>
            <p:ph type="body" idx="1" hasCustomPrompt="1"/>
          </p:nvPr>
        </p:nvSpPr>
        <p:spPr>
          <a:xfrm>
            <a:off x="458649" y="902810"/>
            <a:ext cx="4946108" cy="5216071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1008126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F08800"/>
              </a:buClr>
              <a:buSzTx/>
              <a:buFont typeface="Arial" panose="020B0604020202020204" pitchFamily="34" charset="0"/>
              <a:buNone/>
              <a:tabLst/>
              <a:defRPr lang="en-US" sz="1323" kern="1200" dirty="0" smtClean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1pPr>
            <a:lvl2pPr marL="800100" indent="-34290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2pPr>
            <a:lvl3pPr marL="1200150" indent="-28575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3pPr>
            <a:lvl4pPr marL="1657350" indent="-28575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4pPr>
            <a:lvl5pPr marL="2114550" indent="-28575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TEXT_FIELD </a:t>
            </a:r>
            <a:r>
              <a:rPr lang="ru-RU" dirty="0" smtClean="0"/>
              <a:t>Заголовок 3</a:t>
            </a:r>
            <a:endParaRPr lang="en-US" dirty="0" smtClean="0"/>
          </a:p>
          <a:p>
            <a:pPr lvl="1"/>
            <a:r>
              <a:rPr lang="ru-RU" dirty="0" smtClean="0"/>
              <a:t>Заголовок 4</a:t>
            </a:r>
            <a:endParaRPr lang="en-US" dirty="0" smtClean="0"/>
          </a:p>
          <a:p>
            <a:pPr lvl="2"/>
            <a:r>
              <a:rPr lang="ru-RU" dirty="0" smtClean="0"/>
              <a:t>Заголовок 5</a:t>
            </a:r>
            <a:endParaRPr lang="en-US" dirty="0" smtClean="0"/>
          </a:p>
          <a:p>
            <a:pPr lvl="3"/>
            <a:r>
              <a:rPr lang="ru-RU" dirty="0" smtClean="0"/>
              <a:t>Заголовок 6</a:t>
            </a:r>
            <a:endParaRPr lang="en-US" dirty="0" smtClean="0"/>
          </a:p>
          <a:p>
            <a:pPr lvl="4"/>
            <a:r>
              <a:rPr lang="ru-RU" dirty="0" smtClean="0"/>
              <a:t>Заголовок 7</a:t>
            </a:r>
            <a:endParaRPr lang="en-US" dirty="0"/>
          </a:p>
        </p:txBody>
      </p:sp>
      <p:sp>
        <p:nvSpPr>
          <p:cNvPr id="12" name="TABLE_FIELD"/>
          <p:cNvSpPr>
            <a:spLocks noGrp="1"/>
          </p:cNvSpPr>
          <p:nvPr>
            <p:ph type="tbl" sz="half" idx="2" hasCustomPrompt="1"/>
          </p:nvPr>
        </p:nvSpPr>
        <p:spPr>
          <a:xfrm>
            <a:off x="5792649" y="902809"/>
            <a:ext cx="5181600" cy="5216071"/>
          </a:xfrm>
          <a:prstGeom prst="rect">
            <a:avLst/>
          </a:prstGeom>
        </p:spPr>
        <p:txBody>
          <a:bodyPr/>
          <a:lstStyle>
            <a:lvl1pPr marL="0" indent="0" algn="l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323" kern="1200" baseline="0" dirty="0" smtClean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1pPr>
            <a:lvl2pPr algn="l" rtl="0" eaLnBrk="1" latinLnBrk="0" hangingPunct="1">
              <a:lnSpc>
                <a:spcPct val="90000"/>
              </a:lnSpc>
              <a:buClr>
                <a:srgbClr val="FF6408"/>
              </a:buClr>
              <a:buFont typeface="Arial" panose="020B0604020202020204" pitchFamily="34" charset="0"/>
              <a:defRPr lang="en-US" sz="1323" kern="1200" baseline="0" dirty="0" smtClean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2pPr>
            <a:lvl3pPr algn="l" rtl="0" eaLnBrk="1" latinLnBrk="0" hangingPunct="1">
              <a:lnSpc>
                <a:spcPct val="90000"/>
              </a:lnSpc>
              <a:buClr>
                <a:srgbClr val="FF6408"/>
              </a:buClr>
              <a:buFont typeface="Arial" panose="020B0604020202020204" pitchFamily="34" charset="0"/>
              <a:defRPr lang="en-US" sz="1323" kern="1200" baseline="0" dirty="0" smtClean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3pPr>
            <a:lvl4pPr algn="l" rtl="0" eaLnBrk="1" latinLnBrk="0" hangingPunct="1">
              <a:lnSpc>
                <a:spcPct val="90000"/>
              </a:lnSpc>
              <a:buClr>
                <a:srgbClr val="FF6408"/>
              </a:buClr>
              <a:buFont typeface="Arial" panose="020B0604020202020204" pitchFamily="34" charset="0"/>
              <a:defRPr lang="en-US" sz="1323" kern="1200" baseline="0" dirty="0" smtClean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4pPr>
            <a:lvl5pPr algn="l" rtl="0" eaLnBrk="1" latinLnBrk="0" hangingPunct="1">
              <a:lnSpc>
                <a:spcPct val="90000"/>
              </a:lnSpc>
              <a:buClr>
                <a:srgbClr val="FF6408"/>
              </a:buClr>
              <a:buFont typeface="Arial" panose="020B0604020202020204" pitchFamily="34" charset="0"/>
              <a:defRPr lang="en-US" sz="1323" kern="1200" baseline="0" dirty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5pPr>
          </a:lstStyle>
          <a:p>
            <a:pPr lvl="0"/>
            <a:r>
              <a:rPr lang="ru-RU" dirty="0" smtClean="0"/>
              <a:t>Таблица</a:t>
            </a:r>
            <a:endParaRPr lang="en-US" dirty="0"/>
          </a:p>
        </p:txBody>
      </p:sp>
      <p:graphicFrame>
        <p:nvGraphicFramePr>
          <p:cNvPr id="3" name="STYLE_TABLE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871754521"/>
              </p:ext>
            </p:extLst>
          </p:nvPr>
        </p:nvGraphicFramePr>
        <p:xfrm>
          <a:off x="12328376" y="3933646"/>
          <a:ext cx="4064000" cy="74168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6668619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iberation Sans"/>
                          <a:ea typeface="+mn-ea"/>
                          <a:cs typeface="+mn-cs"/>
                        </a:rPr>
                        <a:t>ТАБЛИЦА ДЛЯ СТИЛЕЙ</a:t>
                      </a:r>
                      <a:endParaRPr kumimoji="0" lang="ru-RU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iberation Sans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7028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iberation Sans"/>
                          <a:ea typeface="+mn-ea"/>
                          <a:cs typeface="+mn-cs"/>
                        </a:rPr>
                        <a:t>ТАБЛИЦА ДЛЯ СТИЛЕЙ</a:t>
                      </a:r>
                      <a:endParaRPr kumimoji="0" lang="ru-RU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iberation Sans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40204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57479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_only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FIELD" title="TITLE_FIELD"/>
          <p:cNvSpPr>
            <a:spLocks noGrp="1"/>
          </p:cNvSpPr>
          <p:nvPr>
            <p:ph type="title" hasCustomPrompt="1"/>
          </p:nvPr>
        </p:nvSpPr>
        <p:spPr>
          <a:xfrm>
            <a:off x="458649" y="222961"/>
            <a:ext cx="10515600" cy="449567"/>
          </a:xfrm>
          <a:prstGeom prst="rect">
            <a:avLst/>
          </a:prstGeom>
        </p:spPr>
        <p:txBody>
          <a:bodyPr/>
          <a:lstStyle>
            <a:lvl1pPr>
              <a:defRPr lang="en-US" sz="2400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 smtClean="0"/>
              <a:t>Слайд с таблицей. Вариант 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27820" y="6441703"/>
            <a:ext cx="1025979" cy="384006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Прямая соединительная линия 6"/>
          <p:cNvCxnSpPr/>
          <p:nvPr userDrawn="1"/>
        </p:nvCxnSpPr>
        <p:spPr>
          <a:xfrm flipH="1" flipV="1">
            <a:off x="548456" y="672528"/>
            <a:ext cx="12161250" cy="0"/>
          </a:xfrm>
          <a:prstGeom prst="line">
            <a:avLst/>
          </a:prstGeom>
          <a:ln w="15875">
            <a:gradFill flip="none" rotWithShape="1">
              <a:gsLst>
                <a:gs pos="26000">
                  <a:schemeClr val="bg1"/>
                </a:gs>
                <a:gs pos="100000">
                  <a:srgbClr val="003264"/>
                </a:gs>
              </a:gsLst>
              <a:lin ang="0" scaled="1"/>
              <a:tileRect/>
            </a:gra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 userDrawn="1"/>
        </p:nvCxnSpPr>
        <p:spPr>
          <a:xfrm flipH="1">
            <a:off x="0" y="6371812"/>
            <a:ext cx="12161250" cy="0"/>
          </a:xfrm>
          <a:prstGeom prst="line">
            <a:avLst/>
          </a:prstGeom>
          <a:ln w="19050" cmpd="thickThin">
            <a:gradFill flip="none" rotWithShape="1">
              <a:gsLst>
                <a:gs pos="0">
                  <a:srgbClr val="FF6408"/>
                </a:gs>
                <a:gs pos="100000">
                  <a:schemeClr val="bg1"/>
                </a:gs>
              </a:gsLst>
              <a:lin ang="10800000" scaled="1"/>
              <a:tileRect/>
            </a:gradFill>
            <a:headEnd w="lg" len="med"/>
            <a:tailEnd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0396" y="112490"/>
            <a:ext cx="710560" cy="670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TABLE_FIELD"/>
          <p:cNvSpPr>
            <a:spLocks noGrp="1"/>
          </p:cNvSpPr>
          <p:nvPr>
            <p:ph type="tbl" sz="half" idx="2" hasCustomPrompt="1"/>
          </p:nvPr>
        </p:nvSpPr>
        <p:spPr>
          <a:xfrm>
            <a:off x="458649" y="920472"/>
            <a:ext cx="5181600" cy="5216071"/>
          </a:xfrm>
          <a:prstGeom prst="rect">
            <a:avLst/>
          </a:prstGeom>
        </p:spPr>
        <p:txBody>
          <a:bodyPr/>
          <a:lstStyle>
            <a:lvl1pPr marL="0" indent="0" algn="l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323" kern="1200" baseline="0" dirty="0" smtClean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1pPr>
            <a:lvl2pPr algn="l" rtl="0" eaLnBrk="1" latinLnBrk="0" hangingPunct="1">
              <a:lnSpc>
                <a:spcPct val="90000"/>
              </a:lnSpc>
              <a:buClr>
                <a:srgbClr val="FF6408"/>
              </a:buClr>
              <a:buFont typeface="Arial" panose="020B0604020202020204" pitchFamily="34" charset="0"/>
              <a:defRPr lang="en-US" sz="1323" kern="1200" baseline="0" dirty="0" smtClean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2pPr>
            <a:lvl3pPr algn="l" rtl="0" eaLnBrk="1" latinLnBrk="0" hangingPunct="1">
              <a:lnSpc>
                <a:spcPct val="90000"/>
              </a:lnSpc>
              <a:buClr>
                <a:srgbClr val="FF6408"/>
              </a:buClr>
              <a:buFont typeface="Arial" panose="020B0604020202020204" pitchFamily="34" charset="0"/>
              <a:defRPr lang="en-US" sz="1323" kern="1200" baseline="0" dirty="0" smtClean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3pPr>
            <a:lvl4pPr algn="l" rtl="0" eaLnBrk="1" latinLnBrk="0" hangingPunct="1">
              <a:lnSpc>
                <a:spcPct val="90000"/>
              </a:lnSpc>
              <a:buClr>
                <a:srgbClr val="FF6408"/>
              </a:buClr>
              <a:buFont typeface="Arial" panose="020B0604020202020204" pitchFamily="34" charset="0"/>
              <a:defRPr lang="en-US" sz="1323" kern="1200" baseline="0" dirty="0" smtClean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4pPr>
            <a:lvl5pPr algn="l" rtl="0" eaLnBrk="1" latinLnBrk="0" hangingPunct="1">
              <a:lnSpc>
                <a:spcPct val="90000"/>
              </a:lnSpc>
              <a:buClr>
                <a:srgbClr val="FF6408"/>
              </a:buClr>
              <a:buFont typeface="Arial" panose="020B0604020202020204" pitchFamily="34" charset="0"/>
              <a:defRPr lang="en-US" sz="1323" kern="1200" baseline="0" dirty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5pPr>
          </a:lstStyle>
          <a:p>
            <a:pPr lvl="0"/>
            <a:r>
              <a:rPr lang="ru-RU" dirty="0" smtClean="0"/>
              <a:t>Таблица</a:t>
            </a:r>
            <a:endParaRPr lang="en-US" dirty="0"/>
          </a:p>
        </p:txBody>
      </p:sp>
      <p:graphicFrame>
        <p:nvGraphicFramePr>
          <p:cNvPr id="3" name="STYLE_TABLE"/>
          <p:cNvGraphicFramePr>
            <a:graphicFrameLocks noGrp="1"/>
          </p:cNvGraphicFramePr>
          <p:nvPr userDrawn="1">
            <p:extLst/>
          </p:nvPr>
        </p:nvGraphicFramePr>
        <p:xfrm>
          <a:off x="12328376" y="3933646"/>
          <a:ext cx="4064000" cy="74168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6668619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iberation Sans"/>
                          <a:ea typeface="+mn-ea"/>
                          <a:cs typeface="+mn-cs"/>
                        </a:rPr>
                        <a:t>ТАБЛИЦА ДЛЯ СТИЛЕЙ</a:t>
                      </a:r>
                      <a:endParaRPr kumimoji="0" lang="ru-RU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iberation Sans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7028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Liberation Sans"/>
                          <a:ea typeface="+mn-ea"/>
                          <a:cs typeface="+mn-cs"/>
                        </a:rPr>
                        <a:t>ТАБЛИЦА ДЛЯ СТИЛЕЙ</a:t>
                      </a:r>
                      <a:endParaRPr kumimoji="0" lang="ru-RU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Liberation Sans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4020486"/>
                  </a:ext>
                </a:extLst>
              </a:tr>
            </a:tbl>
          </a:graphicData>
        </a:graphic>
      </p:graphicFrame>
      <p:sp>
        <p:nvSpPr>
          <p:cNvPr id="10" name="IMAGE_FIELD"/>
          <p:cNvSpPr>
            <a:spLocks noGrp="1"/>
          </p:cNvSpPr>
          <p:nvPr>
            <p:ph type="pic" sz="quarter" idx="13" hasCustomPrompt="1"/>
          </p:nvPr>
        </p:nvSpPr>
        <p:spPr>
          <a:xfrm>
            <a:off x="5846763" y="903287"/>
            <a:ext cx="5127486" cy="52155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 smtClean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070932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FIELD" title="TITLE_FIELD"/>
          <p:cNvSpPr>
            <a:spLocks noGrp="1"/>
          </p:cNvSpPr>
          <p:nvPr>
            <p:ph type="ctrTitle" hasCustomPrompt="1"/>
          </p:nvPr>
        </p:nvSpPr>
        <p:spPr>
          <a:xfrm>
            <a:off x="3118757" y="2854487"/>
            <a:ext cx="6180364" cy="1322497"/>
          </a:xfrm>
          <a:prstGeom prst="rect">
            <a:avLst/>
          </a:prstGeom>
          <a:noFill/>
        </p:spPr>
        <p:txBody>
          <a:bodyPr wrap="square" lIns="114300" tIns="57150" rIns="114300" bIns="57150" rtlCol="0" anchor="t" anchorCtr="0">
            <a:noAutofit/>
          </a:bodyPr>
          <a:lstStyle>
            <a:lvl1pPr>
              <a:defRPr lang="en-US" sz="4200" b="1" baseline="0" dirty="0">
                <a:solidFill>
                  <a:srgbClr val="003D80"/>
                </a:solidFill>
              </a:defRPr>
            </a:lvl1pPr>
          </a:lstStyle>
          <a:p>
            <a:pPr marL="0" lvl="0" algn="ctr"/>
            <a:r>
              <a:rPr lang="ru-RU" dirty="0" smtClean="0"/>
              <a:t>Спасибо за внимание!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469359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991" y="712820"/>
            <a:ext cx="2132014" cy="20118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5526372"/>
            <a:ext cx="12191999" cy="700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2803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2308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81" r:id="rId2"/>
    <p:sldLayoutId id="2147483675" r:id="rId3"/>
    <p:sldLayoutId id="2147483678" r:id="rId4"/>
    <p:sldLayoutId id="2147483680" r:id="rId5"/>
    <p:sldLayoutId id="2147483684" r:id="rId6"/>
    <p:sldLayoutId id="2147483683" r:id="rId7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1143000" rtl="0" eaLnBrk="1" latinLnBrk="0" hangingPunct="1">
        <a:lnSpc>
          <a:spcPct val="90000"/>
        </a:lnSpc>
        <a:spcBef>
          <a:spcPct val="0"/>
        </a:spcBef>
        <a:buNone/>
        <a:defRPr lang="en-US" sz="3000" kern="1200" baseline="0" dirty="0">
          <a:solidFill>
            <a:srgbClr val="003264"/>
          </a:solidFill>
          <a:latin typeface="Liberation Sans" panose="020B0604020202020204" pitchFamily="34" charset="0"/>
          <a:ea typeface="Liberation Sans" panose="020B0604020202020204" pitchFamily="34" charset="0"/>
          <a:cs typeface="Liberation Sans" panose="020B0604020202020204" pitchFamily="34" charset="0"/>
        </a:defRPr>
      </a:lvl1pPr>
    </p:titleStyle>
    <p:bodyStyle>
      <a:lvl1pPr marL="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tx1"/>
          </a:solidFill>
          <a:latin typeface="Liberation Sans" panose="020B0604020202020204" pitchFamily="34" charset="0"/>
          <a:ea typeface="+mn-ea"/>
          <a:cs typeface="+mn-cs"/>
        </a:defRPr>
      </a:lvl1pPr>
      <a:lvl2pPr marL="450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Liberation Sans" panose="020B0604020202020204" pitchFamily="34" charset="0"/>
          <a:ea typeface="+mn-ea"/>
          <a:cs typeface="+mn-cs"/>
        </a:defRPr>
      </a:lvl2pPr>
      <a:lvl3pPr marL="810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Liberation Sans" panose="020B0604020202020204" pitchFamily="34" charset="0"/>
          <a:ea typeface="+mn-ea"/>
          <a:cs typeface="+mn-cs"/>
        </a:defRPr>
      </a:lvl3pPr>
      <a:lvl4pPr marL="1170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Liberation Sans" panose="020B0604020202020204" pitchFamily="34" charset="0"/>
          <a:ea typeface="+mn-ea"/>
          <a:cs typeface="+mn-cs"/>
        </a:defRPr>
      </a:lvl4pPr>
      <a:lvl5pPr marL="1530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Liberation Sans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>
            <a:noAutofit/>
          </a:bodyPr>
          <a:lstStyle/>
          <a:p>
            <a:pPr algn="ctr"/>
            <a:r>
              <a:rPr sz="4200">
                <a:latin typeface="Liberation Sans"/>
                <a:ea typeface="Liberation Sans"/>
                <a:cs typeface="Liberation Sans"/>
              </a:rPr>
              <a:t>Итоги работы генерирующей компании за 2024 год</a:t>
            </a:r>
            <a:endParaRPr sz="4200"/>
          </a:p>
        </p:txBody>
      </p:sp>
      <p:sp>
        <p:nvSpPr>
          <p:cNvPr id="3" name="SUBTITLE_FIELD"/>
          <p:cNvSpPr txBox="1"/>
          <p:nvPr/>
        </p:nvSpPr>
        <p:spPr>
          <a:xfrm>
            <a:off x="589935" y="4268424"/>
            <a:ext cx="10854813" cy="11665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900">
                <a:latin typeface="Liberation Sans"/>
                <a:ea typeface="Liberation Sans"/>
                <a:cs typeface="Liberation Sans"/>
              </a:rPr>
              <a:t>Докладчик: И. И. Иванов, директор по производству</a:t>
            </a:r>
            <a:br/>
            <a:r>
              <a:rPr sz="1900">
                <a:latin typeface="Liberation Sans"/>
                <a:ea typeface="Liberation Sans"/>
                <a:cs typeface="Liberation Sans"/>
              </a:rPr>
              <a:t>Москва, 2025</a:t>
            </a:r>
            <a:endParaRPr sz="1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>
            <a:noAutofit/>
          </a:bodyPr>
          <a:lstStyle/>
          <a:p>
            <a:pPr algn="ctr"/>
            <a:r>
              <a:rPr sz="4200">
                <a:latin typeface="Liberation Sans"/>
                <a:ea typeface="Liberation Sans"/>
                <a:cs typeface="Liberation Sans"/>
              </a:rPr>
              <a:t>Производственные результаты</a:t>
            </a:r>
            <a:endParaRPr sz="4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algn="l"/>
            <a:r>
              <a:rPr sz="2400">
                <a:latin typeface="Liberation Sans"/>
                <a:ea typeface="Liberation Sans"/>
                <a:cs typeface="Liberation Sans"/>
              </a:rPr>
              <a:t>Главное за год</a:t>
            </a:r>
            <a:endParaRPr sz="24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pPr marL="228600" indent="-22860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8800"/>
              </a:buClr>
              <a:buFont typeface="Arial" panose="020B0604020202020204" pitchFamily="34" charset="0"/>
              <a:buChar char="•"/>
            </a:pPr>
            <a:r>
              <a:rPr sz="1323">
                <a:latin typeface="Liberation Sans"/>
                <a:ea typeface="Liberation Sans"/>
                <a:cs typeface="Liberation Sans"/>
              </a:rPr>
              <a:t>Выработка электроэнергии — 19,1 млрд кВт·ч (+2,7% к 2023 году)</a:t>
            </a:r>
            <a:endParaRPr sz="1323"/>
          </a:p>
          <a:p>
            <a:pPr marL="228600" indent="-228600" lv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Clr>
                <a:srgbClr val="F08800"/>
              </a:buClr>
              <a:buFont typeface="Arial" panose="020B0604020202020204" pitchFamily="34" charset="0"/>
              <a:buChar char="•"/>
            </a:pPr>
            <a:r>
              <a:rPr sz="1323">
                <a:latin typeface="Liberation Sans"/>
                <a:ea typeface="Liberation Sans"/>
                <a:cs typeface="Liberation Sans"/>
              </a:rPr>
              <a:t>Установленная мощность увеличена до 5 310 МВт после ввода ПГУ</a:t>
            </a:r>
            <a:endParaRPr sz="1323"/>
          </a:p>
          <a:p>
            <a:pPr marL="228600" indent="-228600" lv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Clr>
                <a:srgbClr val="F08800"/>
              </a:buClr>
              <a:buFont typeface="Arial" panose="020B0604020202020204" pitchFamily="34" charset="0"/>
              <a:buChar char="•"/>
            </a:pPr>
            <a:r>
              <a:rPr sz="1323">
                <a:latin typeface="Liberation Sans"/>
                <a:ea typeface="Liberation Sans"/>
                <a:cs typeface="Liberation Sans"/>
              </a:rPr>
              <a:t>Аварийность снижена на 18,2%: 9 событий против 11 годом ранее</a:t>
            </a:r>
            <a:endParaRPr sz="1323"/>
          </a:p>
          <a:p>
            <a:pPr marL="228600" indent="-228600" lv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Clr>
                <a:srgbClr val="F08800"/>
              </a:buClr>
              <a:buFont typeface="Arial" panose="020B0604020202020204" pitchFamily="34" charset="0"/>
              <a:buChar char="•"/>
            </a:pPr>
            <a:r>
              <a:rPr sz="1323">
                <a:latin typeface="Liberation Sans"/>
                <a:ea typeface="Liberation Sans"/>
                <a:cs typeface="Liberation Sans"/>
              </a:rPr>
              <a:t>Удельный расход условного топлива — 306,2 г/кВт·ч</a:t>
            </a:r>
            <a:endParaRPr sz="1323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algn="l"/>
            <a:r>
              <a:rPr sz="2400">
                <a:latin typeface="Liberation Sans"/>
                <a:ea typeface="Liberation Sans"/>
                <a:cs typeface="Liberation Sans"/>
              </a:rPr>
              <a:t>Ключевые показатели 2022–2024</a:t>
            </a:r>
            <a:endParaRPr sz="24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pPr marL="228600" indent="-22860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8800"/>
              </a:buClr>
              <a:buFont typeface="Arial" panose="020B0604020202020204" pitchFamily="34" charset="0"/>
              <a:buChar char="•"/>
            </a:pPr>
            <a:r>
              <a:rPr sz="1323">
                <a:latin typeface="Liberation Sans"/>
                <a:ea typeface="Liberation Sans"/>
                <a:cs typeface="Liberation Sans"/>
              </a:rPr>
              <a:t>Рост выработки при снижении удельного расхода топлива</a:t>
            </a:r>
            <a:endParaRPr sz="1323"/>
          </a:p>
          <a:p>
            <a:pPr marL="228600" indent="-228600" lv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Clr>
                <a:srgbClr val="F08800"/>
              </a:buClr>
              <a:buFont typeface="Arial" panose="020B0604020202020204" pitchFamily="34" charset="0"/>
              <a:buChar char="•"/>
            </a:pPr>
            <a:r>
              <a:rPr sz="1323">
                <a:latin typeface="Liberation Sans"/>
                <a:ea typeface="Liberation Sans"/>
                <a:cs typeface="Liberation Sans"/>
              </a:rPr>
              <a:t>EBITDA выросла на 13,1%</a:t>
            </a:r>
            <a:endParaRPr sz="1323"/>
          </a:p>
        </p:txBody>
      </p:sp>
      <p:graphicFrame>
        <p:nvGraphicFramePr>
          <p:cNvPr id="4" name="TABLE"/>
          <p:cNvGraphicFramePr>
            <a:graphicFrameLocks noGrp="1"/>
          </p:cNvGraphicFramePr>
          <p:nvPr>
            <p:ph type="tbl" idx="2" sz="half"/>
          </p:nvPr>
        </p:nvGraphicFramePr>
        <p:xfrm>
          <a:off x="5792649" y="902809"/>
          <a:ext cx="5181600" cy="4578096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2023772"/>
                <a:gridCol w="789694"/>
                <a:gridCol w="561977"/>
                <a:gridCol w="600294"/>
                <a:gridCol w="561977"/>
                <a:gridCol w="643886"/>
              </a:tblGrid>
              <a:tr h="439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Показатель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254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Ед. изм.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254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2022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254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2023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254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2024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254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Изм., %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254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</a:tr>
              <a:tr h="439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Установленная мощность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254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МВт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254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5 120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254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5 120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254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5 310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254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3,7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254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</a:tr>
              <a:tr h="439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Выработка электроэнергии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млрд кВт·ч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18,4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18,6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19,1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2,7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</a:tr>
              <a:tr h="439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Отпуск тепла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тыс. Гкал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9 870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10 020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9 940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−0,8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</a:tr>
              <a:tr h="26466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КИУМ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%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41,0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41,5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41,1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—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</a:tr>
              <a:tr h="439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Удельный расход условного топлива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г/кВт·ч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312,4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309,8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306,2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−1,2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</a:tr>
              <a:tr h="26466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Аварийность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ед.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14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11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9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−18,2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</a:tr>
              <a:tr h="439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Выручка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млрд руб.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142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158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171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8,2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</a:tr>
              <a:tr h="439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EBITDA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млрд руб.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~23*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27,4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31,0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13,1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</a:tr>
              <a:tr h="439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Инвестиции (CAPEX)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млрд руб.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18,9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22,3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25,0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12,1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</a:tr>
              <a:tr h="26466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Численность персонала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чел.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4 812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4 760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4 701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−1,2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</a:tr>
              <a:tr h="26466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Доля ВИЭ в выработке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%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≥ 11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≥ 12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—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algn="l"/>
            <a:r>
              <a:rPr sz="2400">
                <a:latin typeface="Liberation Sans"/>
                <a:ea typeface="Liberation Sans"/>
                <a:cs typeface="Liberation Sans"/>
              </a:rPr>
              <a:t>Ключевые показатели (таблица целиком)</a:t>
            </a:r>
            <a:endParaRPr sz="2400"/>
          </a:p>
        </p:txBody>
      </p:sp>
      <p:graphicFrame>
        <p:nvGraphicFramePr>
          <p:cNvPr id="3" name="TABLE"/>
          <p:cNvGraphicFramePr>
            <a:graphicFrameLocks noGrp="1"/>
          </p:cNvGraphicFramePr>
          <p:nvPr>
            <p:ph type="tbl" idx="2" sz="half"/>
          </p:nvPr>
        </p:nvGraphicFramePr>
        <p:xfrm>
          <a:off x="458649" y="920472"/>
          <a:ext cx="9055020" cy="3176016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4140875"/>
                <a:gridCol w="1374466"/>
                <a:gridCol w="786768"/>
                <a:gridCol w="913876"/>
                <a:gridCol w="786768"/>
                <a:gridCol w="1052267"/>
              </a:tblGrid>
              <a:tr h="26466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Показатель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254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Ед. изм.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254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2022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254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2023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254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2024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254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Изм., %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254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</a:tr>
              <a:tr h="26466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Установленная мощность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254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МВт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254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5 120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254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5 120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254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5 310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254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3,7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254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</a:tr>
              <a:tr h="26466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Выработка электроэнергии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млрд кВт·ч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18,4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18,6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19,1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2,7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</a:tr>
              <a:tr h="26466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Отпуск тепла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тыс. Гкал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9 870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10 020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9 940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−0,8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</a:tr>
              <a:tr h="26466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КИУМ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%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41,0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41,5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41,1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—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</a:tr>
              <a:tr h="26466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Удельный расход условного топлива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г/кВт·ч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312,4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309,8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306,2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−1,2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</a:tr>
              <a:tr h="26466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Аварийность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ед.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14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11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9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−18,2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</a:tr>
              <a:tr h="26466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Выручка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млрд руб.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142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158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171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8,2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</a:tr>
              <a:tr h="26466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EBITDA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млрд руб.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~23*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27,4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31,0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13,1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</a:tr>
              <a:tr h="26466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Инвестиции (CAPEX)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млрд руб.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18,9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22,3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25,0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12,1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</a:tr>
              <a:tr h="26466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Численность персонала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чел.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4 812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4 760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4 701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−1,2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</a:tr>
              <a:tr h="26466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Доля ВИЭ в выработке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%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≥ 10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≥ 11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≥ 12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—</a:t>
                      </a:r>
                      <a:endParaRPr sz="12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algn="l"/>
            <a:r>
              <a:rPr sz="2400">
                <a:latin typeface="Liberation Sans"/>
                <a:ea typeface="Liberation Sans"/>
                <a:cs typeface="Liberation Sans"/>
              </a:rPr>
              <a:t>Программа повышения эффективности (1/2)</a:t>
            </a:r>
            <a:endParaRPr sz="24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pPr marL="228600" indent="-22860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8800"/>
              </a:buClr>
              <a:buFont typeface="Arial" panose="020B0604020202020204" pitchFamily="34" charset="0"/>
              <a:buChar char="•"/>
            </a:pPr>
            <a:r>
              <a:rPr sz="1323">
                <a:latin typeface="Liberation Sans"/>
                <a:ea typeface="Liberation Sans"/>
                <a:cs typeface="Liberation Sans"/>
              </a:rPr>
              <a:t>Мероприятие 1: модернизация оборудования и цифровизация процессов на объекте №1 с целью снижения удельного расхода топлива и повышения надёжности</a:t>
            </a:r>
            <a:endParaRPr sz="1323"/>
          </a:p>
          <a:p>
            <a:pPr marL="228600" indent="-228600" lv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Clr>
                <a:srgbClr val="F08800"/>
              </a:buClr>
              <a:buFont typeface="Arial" panose="020B0604020202020204" pitchFamily="34" charset="0"/>
              <a:buChar char="•"/>
            </a:pPr>
            <a:r>
              <a:rPr sz="1323">
                <a:latin typeface="Liberation Sans"/>
                <a:ea typeface="Liberation Sans"/>
                <a:cs typeface="Liberation Sans"/>
              </a:rPr>
              <a:t>Мероприятие 2: модернизация оборудования и цифровизация процессов на объекте №2 с целью снижения удельного расхода топлива и повышения надёжности</a:t>
            </a:r>
            <a:endParaRPr sz="1323"/>
          </a:p>
          <a:p>
            <a:pPr marL="228600" indent="-228600" lv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Clr>
                <a:srgbClr val="F08800"/>
              </a:buClr>
              <a:buFont typeface="Arial" panose="020B0604020202020204" pitchFamily="34" charset="0"/>
              <a:buChar char="•"/>
            </a:pPr>
            <a:r>
              <a:rPr sz="1323">
                <a:latin typeface="Liberation Sans"/>
                <a:ea typeface="Liberation Sans"/>
                <a:cs typeface="Liberation Sans"/>
              </a:rPr>
              <a:t>Мероприятие 3: модернизация оборудования и цифровизация процессов на объекте №3 с целью снижения удельного расхода топлива и повышения надёжности</a:t>
            </a:r>
            <a:endParaRPr sz="1323"/>
          </a:p>
          <a:p>
            <a:pPr marL="228600" indent="-228600" lv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Clr>
                <a:srgbClr val="F08800"/>
              </a:buClr>
              <a:buFont typeface="Arial" panose="020B0604020202020204" pitchFamily="34" charset="0"/>
              <a:buChar char="•"/>
            </a:pPr>
            <a:r>
              <a:rPr sz="1323">
                <a:latin typeface="Liberation Sans"/>
                <a:ea typeface="Liberation Sans"/>
                <a:cs typeface="Liberation Sans"/>
              </a:rPr>
              <a:t>Мероприятие 4: модернизация оборудования и цифровизация процессов на объекте №4 с целью снижения удельного расхода топлива и повышения надёжности</a:t>
            </a:r>
            <a:endParaRPr sz="1323"/>
          </a:p>
          <a:p>
            <a:pPr marL="228600" indent="-228600" lv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Clr>
                <a:srgbClr val="F08800"/>
              </a:buClr>
              <a:buFont typeface="Arial" panose="020B0604020202020204" pitchFamily="34" charset="0"/>
              <a:buChar char="•"/>
            </a:pPr>
            <a:r>
              <a:rPr sz="1323">
                <a:latin typeface="Liberation Sans"/>
                <a:ea typeface="Liberation Sans"/>
                <a:cs typeface="Liberation Sans"/>
              </a:rPr>
              <a:t>Мероприятие 5: модернизация оборудования и цифровизация процессов на объекте №5 с целью снижения удельного расхода топлива и повышения надёжности</a:t>
            </a:r>
            <a:endParaRPr sz="1323"/>
          </a:p>
          <a:p>
            <a:pPr marL="228600" indent="-228600" lv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Clr>
                <a:srgbClr val="F08800"/>
              </a:buClr>
              <a:buFont typeface="Arial" panose="020B0604020202020204" pitchFamily="34" charset="0"/>
              <a:buChar char="•"/>
            </a:pPr>
            <a:r>
              <a:rPr sz="1323">
                <a:latin typeface="Liberation Sans"/>
                <a:ea typeface="Liberation Sans"/>
                <a:cs typeface="Liberation Sans"/>
              </a:rPr>
              <a:t>Мероприятие 6: модернизация оборудования и цифровизация процессов на объекте №6 с целью снижения удельного расхода топлива и повышения надёжности</a:t>
            </a:r>
            <a:endParaRPr sz="1323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algn="l"/>
            <a:r>
              <a:rPr sz="2400">
                <a:latin typeface="Liberation Sans"/>
                <a:ea typeface="Liberation Sans"/>
                <a:cs typeface="Liberation Sans"/>
              </a:rPr>
              <a:t>Программа повышения эффективности (2/2)</a:t>
            </a:r>
            <a:endParaRPr sz="24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>
            <a:noAutofit/>
          </a:bodyPr>
          <a:lstStyle/>
          <a:p>
            <a:pPr marL="228600" indent="-22860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8800"/>
              </a:buClr>
              <a:buFont typeface="Arial" panose="020B0604020202020204" pitchFamily="34" charset="0"/>
              <a:buChar char="•"/>
            </a:pPr>
            <a:r>
              <a:rPr sz="1323">
                <a:latin typeface="Liberation Sans"/>
                <a:ea typeface="Liberation Sans"/>
                <a:cs typeface="Liberation Sans"/>
              </a:rPr>
              <a:t>Мероприятие 7: модернизация оборудования и цифровизация процессов на объекте №7 с целью снижения удельного расхода топлива и повышения надёжности</a:t>
            </a:r>
            <a:endParaRPr sz="1323"/>
          </a:p>
          <a:p>
            <a:pPr marL="228600" indent="-228600" lv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Clr>
                <a:srgbClr val="F08800"/>
              </a:buClr>
              <a:buFont typeface="Arial" panose="020B0604020202020204" pitchFamily="34" charset="0"/>
              <a:buChar char="•"/>
            </a:pPr>
            <a:r>
              <a:rPr sz="1323">
                <a:latin typeface="Liberation Sans"/>
                <a:ea typeface="Liberation Sans"/>
                <a:cs typeface="Liberation Sans"/>
              </a:rPr>
              <a:t>Мероприятие 8: модернизация оборудования и цифровизация процессов на объекте №8 с целью снижения удельного расхода топлива и повышения надёжности</a:t>
            </a:r>
            <a:endParaRPr sz="1323"/>
          </a:p>
          <a:p>
            <a:pPr marL="228600" indent="-228600" lv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Clr>
                <a:srgbClr val="F08800"/>
              </a:buClr>
              <a:buFont typeface="Arial" panose="020B0604020202020204" pitchFamily="34" charset="0"/>
              <a:buChar char="•"/>
            </a:pPr>
            <a:r>
              <a:rPr sz="1323">
                <a:latin typeface="Liberation Sans"/>
                <a:ea typeface="Liberation Sans"/>
                <a:cs typeface="Liberation Sans"/>
              </a:rPr>
              <a:t>Мероприятие 9: модернизация оборудования и цифровизация процессов на объекте №9 с целью снижения удельного расхода топлива и повышения надёжности</a:t>
            </a:r>
            <a:endParaRPr sz="1323"/>
          </a:p>
          <a:p>
            <a:pPr marL="228600" indent="-228600" lv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Clr>
                <a:srgbClr val="F08800"/>
              </a:buClr>
              <a:buFont typeface="Arial" panose="020B0604020202020204" pitchFamily="34" charset="0"/>
              <a:buChar char="•"/>
            </a:pPr>
            <a:r>
              <a:rPr sz="1323">
                <a:latin typeface="Liberation Sans"/>
                <a:ea typeface="Liberation Sans"/>
                <a:cs typeface="Liberation Sans"/>
              </a:rPr>
              <a:t>Мероприятие 10: модернизация оборудования и цифровизация процессов на объекте №10 с целью снижения удельного расхода топлива и повышения надёжности</a:t>
            </a:r>
            <a:endParaRPr sz="1323"/>
          </a:p>
          <a:p>
            <a:pPr marL="228600" indent="-228600" lv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Clr>
                <a:srgbClr val="F08800"/>
              </a:buClr>
              <a:buFont typeface="Arial" panose="020B0604020202020204" pitchFamily="34" charset="0"/>
              <a:buChar char="•"/>
            </a:pPr>
            <a:r>
              <a:rPr sz="1323">
                <a:latin typeface="Liberation Sans"/>
                <a:ea typeface="Liberation Sans"/>
                <a:cs typeface="Liberation Sans"/>
              </a:rPr>
              <a:t>Мероприятие 11: модернизация оборудования и цифровизация процессов на объекте №11 с целью снижения удельного расхода топлива и повышения надёжности</a:t>
            </a:r>
            <a:endParaRPr sz="1323"/>
          </a:p>
          <a:p>
            <a:pPr marL="228600" indent="-228600" lv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Clr>
                <a:srgbClr val="F08800"/>
              </a:buClr>
              <a:buFont typeface="Arial" panose="020B0604020202020204" pitchFamily="34" charset="0"/>
              <a:buChar char="•"/>
            </a:pPr>
            <a:r>
              <a:rPr sz="1323">
                <a:latin typeface="Liberation Sans"/>
                <a:ea typeface="Liberation Sans"/>
                <a:cs typeface="Liberation Sans"/>
              </a:rPr>
              <a:t>Мероприятие 12: модернизация оборудования и цифровизация процессов на объекте №12 с целью снижения удельного расхода топлива и повышения надёжности</a:t>
            </a:r>
            <a:endParaRPr sz="1323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algn="l"/>
            <a:r>
              <a:rPr sz="2400">
                <a:latin typeface="Liberation Sans"/>
                <a:ea typeface="Liberation Sans"/>
                <a:cs typeface="Liberation Sans"/>
              </a:rPr>
              <a:t>Ремонтная программа 2025 (1/2)</a:t>
            </a:r>
            <a:endParaRPr sz="2400"/>
          </a:p>
        </p:txBody>
      </p:sp>
      <p:graphicFrame>
        <p:nvGraphicFramePr>
          <p:cNvPr id="3" name="TABLE"/>
          <p:cNvGraphicFramePr>
            <a:graphicFrameLocks noGrp="1"/>
          </p:cNvGraphicFramePr>
          <p:nvPr>
            <p:ph type="tbl" idx="2" sz="half"/>
          </p:nvPr>
        </p:nvGraphicFramePr>
        <p:xfrm>
          <a:off x="458649" y="920472"/>
          <a:ext cx="10515600" cy="4000992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395242"/>
                <a:gridCol w="1924486"/>
                <a:gridCol w="1357504"/>
                <a:gridCol w="1366628"/>
                <a:gridCol w="1612703"/>
                <a:gridCol w="863432"/>
                <a:gridCol w="1181183"/>
                <a:gridCol w="1814422"/>
              </a:tblGrid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№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254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Объект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254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Филиал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254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Вид ремонта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254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Мощность, МВт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254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Начало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254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Окончание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254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Бюджет, млн руб.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254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254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№1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254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Южный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254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средний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254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115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254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02.2025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254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02.2025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254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15,5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254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№2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Центральный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текущий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130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03.2025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03.2025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18,5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3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№3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Северный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капитальный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145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04.2025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04.2025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21,5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4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№4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Южный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средний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160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05.2025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05.2025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24,5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Центральный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текущий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175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06.2025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06.2025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27,5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6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№6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Северный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капитальный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190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07.2025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07.2025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30,5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7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№7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Южный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средний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205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08.2025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08.2025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33,5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8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№8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Центральный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текущий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220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09.2025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09.2025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36,5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9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№9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Северный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капитальный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235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10.2025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10.2025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39,5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№10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Южный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средний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250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11.2025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11.2025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42,5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11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№11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Центральный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текущий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265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12.2025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12.2025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45,5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12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№12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Северный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капитальный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280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01.2025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01.2025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48,5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13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№13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Южный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средний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295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02.2025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02.2025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51,5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14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№14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Центральный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текущий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310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03.2025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03.2025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54,5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№15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Северный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капитальный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325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04.2025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04.2025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57,5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algn="l"/>
            <a:r>
              <a:rPr sz="2400">
                <a:latin typeface="Liberation Sans"/>
                <a:ea typeface="Liberation Sans"/>
                <a:cs typeface="Liberation Sans"/>
              </a:rPr>
              <a:t>Ремонтная программа 2025 (2/2)</a:t>
            </a:r>
            <a:endParaRPr sz="2400"/>
          </a:p>
        </p:txBody>
      </p:sp>
      <p:graphicFrame>
        <p:nvGraphicFramePr>
          <p:cNvPr id="3" name="TABLE"/>
          <p:cNvGraphicFramePr>
            <a:graphicFrameLocks noGrp="1"/>
          </p:cNvGraphicFramePr>
          <p:nvPr>
            <p:ph type="tbl" idx="2" sz="half"/>
          </p:nvPr>
        </p:nvGraphicFramePr>
        <p:xfrm>
          <a:off x="458649" y="920472"/>
          <a:ext cx="10515600" cy="4000992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395242"/>
                <a:gridCol w="1924486"/>
                <a:gridCol w="1357504"/>
                <a:gridCol w="1366628"/>
                <a:gridCol w="1612703"/>
                <a:gridCol w="863432"/>
                <a:gridCol w="1181183"/>
                <a:gridCol w="1814422"/>
              </a:tblGrid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№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254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Объект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254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Филиал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254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Вид ремонта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254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Мощность, МВт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254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Начало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254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Окончание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254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Бюджет, млн руб.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254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16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254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№16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254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Южный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254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средний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254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340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254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05.2025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254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05.2025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254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60,5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254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17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№17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Центральный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текущий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355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06.2025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06.2025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63,5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18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№18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Северный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капитальный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370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07.2025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07.2025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66,5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19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№19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Южный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средний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385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08.2025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08.2025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69,5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№20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Центральный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текущий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400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09.2025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09.2025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72,5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21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№21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Северный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капитальный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415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10.2025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10.2025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75,5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22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№22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Южный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средний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430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11.2025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11.2025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78,5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23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№23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Центральный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текущий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445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12.2025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12.2025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81,5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24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№24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Северный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капитальный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460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01.2025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01.2025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84,5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Южный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средний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475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02.2025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02.2025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87,5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26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№26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Центральный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текущий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490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03.2025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03.2025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90,5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27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№27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Северный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капитальный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505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04.2025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04.2025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93,5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28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№28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Южный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средний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520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05.2025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05.2025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96,5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29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№29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Центральный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текущий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535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06.2025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06.2025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99,5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noFill/>
                  </a:tcPr>
                </a:tc>
              </a:tr>
              <a:tr h="250062"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30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Энергоблок ст. №30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Северный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капитальный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550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07.2025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07.2025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00000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102,5</a:t>
                      </a:r>
                      <a:endParaRPr sz="1100"/>
                    </a:p>
                  </a:txBody>
                  <a:tcPr marL="64008" marR="64008" marT="32004" marB="32004" anchor="ctr">
                    <a:lnL w="12700" cap="flat" cmpd="sng" algn="ctr">
                      <a:solidFill>
                        <a:srgbClr val="ED7D31"/>
                      </a:solidFill>
                    </a:lnL>
                    <a:lnR w="12700" cap="flat" cmpd="sng" algn="ctr">
                      <a:solidFill>
                        <a:srgbClr val="ED7D31"/>
                      </a:solidFill>
                    </a:lnR>
                    <a:lnT w="12700" cap="flat" cmpd="sng" algn="ctr">
                      <a:solidFill>
                        <a:srgbClr val="ED7D31"/>
                      </a:solidFill>
                    </a:lnT>
                    <a:lnB w="12700" cap="flat" cmpd="sng" algn="ctr">
                      <a:solidFill>
                        <a:srgbClr val="ED7D31"/>
                      </a:solidFill>
                    </a:lnB>
                    <a:solidFill>
                      <a:srgbClr val="FBE5D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>
            <a:noAutofit/>
          </a:bodyPr>
          <a:lstStyle/>
          <a:p>
            <a:pPr algn="ctr"/>
            <a:r>
              <a:rPr sz="4200">
                <a:latin typeface="Liberation Sans"/>
                <a:ea typeface="Liberation Sans"/>
                <a:cs typeface="Liberation Sans"/>
              </a:rPr>
              <a:t>Пустой слайд превращается в раздел</a:t>
            </a:r>
            <a:endParaRPr sz="4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>
            <a:noAutofit/>
          </a:bodyPr>
          <a:lstStyle/>
          <a:p>
            <a:pPr algn="ctr"/>
            <a:r>
              <a:rPr sz="4200">
                <a:latin typeface="Liberation Sans"/>
                <a:ea typeface="Liberation Sans"/>
                <a:cs typeface="Liberation Sans"/>
              </a:rPr>
              <a:t>Спасибо за внимание!</a:t>
            </a:r>
            <a:endParaRPr sz="4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Liberation Sans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Liberation Sans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iberation Sans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iberation Sans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Liberation Sans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Liberation Sans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deckgen</Application>
  <Slides>11</Slides>
  <Notes>1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Итоги работы генерирующей компании за 2024 год</dc:title>
  <dc:subject/>
  <dc:creator/>
  <cp:keywords/>
  <dc:description>generated using python-pptx</dc:description>
  <cp:lastModifiedBy>User</cp:lastModifiedBy>
  <cp:revision>71</cp:revision>
  <dcterms:created xsi:type="dcterms:W3CDTF">2013-01-27T09:14:16Z</dcterms:created>
  <dcterms:modified xsi:type="dcterms:W3CDTF">2025-08-14T08:38:17Z</dcterms:modified>
  <cp:category/>
</cp:coreProperties>
</file>