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0"/>
  </p:notesMasterIdLst>
  <p:sldIdLst>
    <p:sldId id="1567" r:id="rId35"/>
    <p:sldId id="1568" r:id="rId36"/>
    <p:sldId id="1569" r:id="rId37"/>
    <p:sldId id="1570" r:id="rId38"/>
    <p:sldId id="1571" r:id="rId39"/>
    <p:sldId id="1572" r:id="rId40"/>
    <p:sldId id="1573" r:id="rId41"/>
    <p:sldId id="1574" r:id="rId42"/>
    <p:sldId id="1575" r:id="rId43"/>
    <p:sldId id="1576" r:id="rId44"/>
    <p:sldId id="1577" r:id="rId45"/>
  </p:sldIdLst>
  <p:sldSz cx="13430250" cy="7561263"/>
  <p:notesSz cx="6858000" cy="9144000"/>
  <p:defaultTextStyle>
    <a:defPPr>
      <a:defRPr lang="ru-RU"/>
    </a:defPPr>
    <a:lvl1pPr marL="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715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430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145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2860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8575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4290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005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5720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42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264"/>
    <a:srgbClr val="F08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94" y="108"/>
      </p:cViewPr>
      <p:guideLst>
        <p:guide orient="horz" pos="2382"/>
        <p:guide pos="42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1.xml"/><Relationship Id="rId36" Type="http://schemas.openxmlformats.org/officeDocument/2006/relationships/slide" Target="slides/slide2.xml"/><Relationship Id="rId37" Type="http://schemas.openxmlformats.org/officeDocument/2006/relationships/slide" Target="slides/slide3.xml"/><Relationship Id="rId38" Type="http://schemas.openxmlformats.org/officeDocument/2006/relationships/slide" Target="slides/slide4.xml"/><Relationship Id="rId39" Type="http://schemas.openxmlformats.org/officeDocument/2006/relationships/slide" Target="slides/slide5.xml"/><Relationship Id="rId40" Type="http://schemas.openxmlformats.org/officeDocument/2006/relationships/slide" Target="slides/slide6.xml"/><Relationship Id="rId41" Type="http://schemas.openxmlformats.org/officeDocument/2006/relationships/slide" Target="slides/slide7.xml"/><Relationship Id="rId42" Type="http://schemas.openxmlformats.org/officeDocument/2006/relationships/slide" Target="slides/slide8.xml"/><Relationship Id="rId43" Type="http://schemas.openxmlformats.org/officeDocument/2006/relationships/slide" Target="slides/slide9.xml"/><Relationship Id="rId44" Type="http://schemas.openxmlformats.org/officeDocument/2006/relationships/slide" Target="slides/slide10.xml"/><Relationship Id="rId45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1A21E0-EF45-48AD-9BC2-7CE82BAC6BDB}" type="datetimeFigureOut">
              <a:rPr lang="ru-RU" smtClean="0"/>
              <a:t>25.04.2024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2863E-8975-454E-B881-E50B23E8DA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8961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15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430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145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860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575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290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005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720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Акцент на росте выработки и снижении аварийности.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325" y="800157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5925164"/>
            <a:ext cx="13430250" cy="77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307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0725" y="329102"/>
            <a:ext cx="1481139" cy="1397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5925164"/>
            <a:ext cx="13430250" cy="77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91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5925164"/>
            <a:ext cx="13430250" cy="771254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7" r="3661"/>
          <a:stretch/>
        </p:blipFill>
        <p:spPr>
          <a:xfrm>
            <a:off x="0" y="3699426"/>
            <a:ext cx="13430250" cy="692227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0" y="3699426"/>
            <a:ext cx="13430250" cy="692227"/>
          </a:xfrm>
          <a:prstGeom prst="rect">
            <a:avLst/>
          </a:prstGeom>
        </p:spPr>
        <p:txBody>
          <a:bodyPr vert="horz" lIns="114300" tIns="57150" rIns="114300" bIns="57150" rtlCol="0" anchor="ctr">
            <a:noAutofit/>
          </a:bodyPr>
          <a:lstStyle>
            <a:lvl1pPr algn="ctr">
              <a:defRPr lang="en-US" sz="4000" b="1" kern="1200" spc="169" dirty="0">
                <a:solidFill>
                  <a:schemeClr val="bg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</a:lstStyle>
          <a:p>
            <a:r>
              <a:rPr lang="ru-RU" dirty="0"/>
              <a:t>НАЗВАНИЕ РАЗДЕЛА</a:t>
            </a:r>
            <a:endParaRPr lang="en-US" dirty="0"/>
          </a:p>
        </p:txBody>
      </p:sp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325" y="800157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198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 userDrawn="1"/>
        </p:nvCxnSpPr>
        <p:spPr>
          <a:xfrm flipH="1">
            <a:off x="548456" y="7212734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548456" y="7226767"/>
            <a:ext cx="2101537" cy="269304"/>
          </a:xfrm>
          <a:prstGeom prst="rect">
            <a:avLst/>
          </a:prstGeom>
          <a:noFill/>
        </p:spPr>
        <p:txBody>
          <a:bodyPr wrap="none" lIns="114300" tIns="57150" rIns="114300" bIns="57150" rtlCol="0">
            <a:noAutofit/>
          </a:bodyPr>
          <a:lstStyle/>
          <a:p>
            <a:pPr algn="l"/>
            <a:r>
              <a:rPr lang="ru-RU" sz="1000" dirty="0">
                <a:solidFill>
                  <a:srgbClr val="003D8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ПРЕЗЕНТАЦИЯ О КОМПАНИИ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48457" y="254782"/>
            <a:ext cx="11509530" cy="409868"/>
          </a:xfrm>
          <a:prstGeom prst="rect">
            <a:avLst/>
          </a:prstGeom>
        </p:spPr>
        <p:txBody>
          <a:bodyPr vert="horz" lIns="114300" tIns="57150" rIns="114300" bIns="57150" rtlCol="0" anchor="ctr">
            <a:noAutofit/>
          </a:bodyPr>
          <a:lstStyle>
            <a:lvl1pPr>
              <a:defRPr sz="3000" baseline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</a:lstStyle>
          <a:p>
            <a:r>
              <a:rPr lang="ru-RU" dirty="0"/>
              <a:t>НАИМЕНОВАНИЕ СЛАЙДА</a:t>
            </a:r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10795856" y="7015173"/>
            <a:ext cx="2277165" cy="469359"/>
          </a:xfrm>
          <a:prstGeom prst="rect">
            <a:avLst/>
          </a:prstGeom>
          <a:noFill/>
        </p:spPr>
        <p:txBody>
          <a:bodyPr wrap="square" lIns="114300" tIns="57150" rIns="114300" bIns="57150" rtlCol="0">
            <a:noAutofit/>
          </a:bodyPr>
          <a:lstStyle/>
          <a:p>
            <a:pPr algn="r"/>
            <a:fld id="{44A0DB5A-4A1A-4420-9295-8BB2A863997E}" type="slidenum">
              <a:rPr lang="ru-RU" smtClean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pPr algn="r"/>
              <a:t>‹#›</a:t>
            </a:fld>
            <a:endParaRPr lang="ru-RU" dirty="0">
              <a:solidFill>
                <a:srgbClr val="003264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0267" y="91492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829078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5925164"/>
            <a:ext cx="13430250" cy="771254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7" r="3661"/>
          <a:stretch/>
        </p:blipFill>
        <p:spPr>
          <a:xfrm>
            <a:off x="0" y="3699426"/>
            <a:ext cx="13430250" cy="69222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42" y="3675674"/>
            <a:ext cx="13419769" cy="730969"/>
          </a:xfrm>
          <a:prstGeom prst="rect">
            <a:avLst/>
          </a:prstGeom>
          <a:noFill/>
        </p:spPr>
        <p:txBody>
          <a:bodyPr wrap="square" lIns="114300" tIns="57150" rIns="114300" bIns="57150" rtlCol="0">
            <a:noAutofit/>
          </a:bodyPr>
          <a:lstStyle/>
          <a:p>
            <a:pPr algn="ctr"/>
            <a:r>
              <a:rPr lang="ru-RU" sz="4000" b="1" spc="169" dirty="0">
                <a:solidFill>
                  <a:schemeClr val="bg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СПАСИБО ЗА ВНИМАНИЕ!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325" y="800157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1659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10214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3331" y="7008174"/>
            <a:ext cx="3021806" cy="402567"/>
          </a:xfrm>
          <a:prstGeom prst="rect">
            <a:avLst/>
          </a:prstGeom>
        </p:spPr>
        <p:txBody>
          <a:bodyPr vert="horz" lIns="114300" tIns="57150" rIns="114300" bIns="57150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A7C0EF-CED6-48CD-8063-EDF64048513D}" type="datetimeFigureOut">
              <a:rPr lang="ru-RU" smtClean="0"/>
              <a:t>25.04.2024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48772" y="7008174"/>
            <a:ext cx="4532710" cy="402567"/>
          </a:xfrm>
          <a:prstGeom prst="rect">
            <a:avLst/>
          </a:prstGeom>
        </p:spPr>
        <p:txBody>
          <a:bodyPr vert="horz" lIns="114300" tIns="57150" rIns="114300" bIns="57150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85115" y="7008174"/>
            <a:ext cx="3021806" cy="402567"/>
          </a:xfrm>
          <a:prstGeom prst="rect">
            <a:avLst/>
          </a:prstGeom>
        </p:spPr>
        <p:txBody>
          <a:bodyPr vert="horz" lIns="114300" tIns="57150" rIns="114300" bIns="57150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54648-EF90-4CD3-A4B4-AE31895184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4188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88" r:id="rId3"/>
    <p:sldLayoutId id="2147483686" r:id="rId4"/>
    <p:sldLayoutId id="2147483689" r:id="rId5"/>
    <p:sldLayoutId id="2147483672" r:id="rId6"/>
  </p:sldLayoutIdLst>
  <p:txStyles>
    <p:titleStyle>
      <a:lvl1pPr algn="l" defTabSz="1143000" rtl="0" eaLnBrk="1" latinLnBrk="0" hangingPunct="1">
        <a:lnSpc>
          <a:spcPct val="90000"/>
        </a:lnSpc>
        <a:spcBef>
          <a:spcPct val="0"/>
        </a:spcBef>
        <a:buNone/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1143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57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428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2000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571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3143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714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286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857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15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145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575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90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05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720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3150000"/>
            <a:ext cx="11430250" cy="1300000"/>
          </a:xfrm>
          <a:prstGeom prst="rect">
            <a:avLst/>
          </a:prstGeom>
          <a:noFill/>
        </p:spPr>
        <p:txBody>
          <a:bodyPr wrap="square" lIns="114300" tIns="57150" rIns="114300" bIns="57150" rtlCol="0">
            <a:noAutofit/>
          </a:bodyPr>
          <a:lstStyle/>
          <a:p>
            <a:pPr algn="ctr"/>
            <a:r>
              <a:rPr lang="ru-RU" b="1" sz="4000">
                <a:solidFill>
                  <a:srgbClr val="003D8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Итоги работы генерирующей компании за 2024 год</a:t>
            </a:r>
            <a:endParaRPr sz="4000"/>
          </a:p>
        </p:txBody>
      </p:sp>
      <p:sp>
        <p:nvSpPr>
          <p:cNvPr id="3" name="TextBox 2"/>
          <p:cNvSpPr txBox="1"/>
          <p:nvPr/>
        </p:nvSpPr>
        <p:spPr>
          <a:xfrm>
            <a:off x="1000000" y="4520000"/>
            <a:ext cx="11430250" cy="1250000"/>
          </a:xfrm>
          <a:prstGeom prst="rect">
            <a:avLst/>
          </a:prstGeom>
          <a:noFill/>
        </p:spPr>
        <p:txBody>
          <a:bodyPr wrap="square" lIns="114300" tIns="57150" rIns="114300" bIns="57150" rtlCol="0">
            <a:noAutofit/>
          </a:bodyPr>
          <a:lstStyle/>
          <a:p>
            <a:pPr algn="ctr"/>
            <a:r>
              <a:rPr lang="ru-RU" b="1" sz="160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Докладчик: И. И. Иванов, директор по производству</a:t>
            </a:r>
            <a:br/>
            <a:r>
              <a:rPr lang="ru-RU" b="1" sz="160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Москва, 2025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ctr"/>
            <a:r>
              <a:rPr sz="3200">
                <a:latin typeface="Liberation Sans"/>
                <a:ea typeface="Liberation Sans"/>
                <a:cs typeface="Liberation Sans"/>
              </a:rPr>
              <a:t>Производственные результаты</a:t>
            </a:r>
            <a:endParaRPr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Главное за год</a:t>
            </a:r>
            <a:endParaRPr sz="2400"/>
          </a:p>
        </p:txBody>
      </p:sp>
      <p:sp>
        <p:nvSpPr>
          <p:cNvPr id="6" name="TEXT"/>
          <p:cNvSpPr txBox="1"/>
          <p:nvPr/>
        </p:nvSpPr>
        <p:spPr>
          <a:xfrm>
            <a:off x="548457" y="884890"/>
            <a:ext cx="12219181" cy="61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28600" indent="-22860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2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Выработка электроэнергии — 19,1 млрд кВт·ч (+2,7% к 2023 году)</a:t>
            </a:r>
            <a:endParaRPr sz="1200"/>
          </a:p>
          <a:p>
            <a:pPr marL="228600" indent="-228600" lv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2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Установленная мощность увеличена до 5 310 МВт после ввода ПГУ</a:t>
            </a:r>
            <a:endParaRPr sz="1200"/>
          </a:p>
          <a:p>
            <a:pPr marL="228600" indent="-228600" lv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2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Аварийность снижена на 18,2%: 9 событий против 11 годом ранее</a:t>
            </a:r>
            <a:endParaRPr sz="1200"/>
          </a:p>
          <a:p>
            <a:pPr marL="228600" indent="-228600" lv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2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Удельный расход условного топлива — 306,2 г/кВт·ч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Ключевые показатели 2022–2024</a:t>
            </a:r>
            <a:endParaRPr sz="2400"/>
          </a:p>
        </p:txBody>
      </p:sp>
      <p:sp>
        <p:nvSpPr>
          <p:cNvPr id="6" name="TEXT"/>
          <p:cNvSpPr txBox="1"/>
          <p:nvPr/>
        </p:nvSpPr>
        <p:spPr>
          <a:xfrm>
            <a:off x="548457" y="884890"/>
            <a:ext cx="4200000" cy="61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28600" indent="-22860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2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Рост выработки при снижении удельного расхода топлива</a:t>
            </a:r>
            <a:endParaRPr sz="1200"/>
          </a:p>
          <a:p>
            <a:pPr marL="228600" indent="-228600" lv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2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EBITDA выросла на 13,1%</a:t>
            </a:r>
            <a:endParaRPr sz="1200"/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4950000" y="884890"/>
          <a:ext cx="7817638" cy="31760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75019"/>
                <a:gridCol w="1186643"/>
                <a:gridCol w="679255"/>
                <a:gridCol w="788994"/>
                <a:gridCol w="679255"/>
                <a:gridCol w="908472"/>
              </a:tblGrid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Показатель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Ед. изм.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2022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2023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2024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Изм., %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Установленная мощность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МВт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5 120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5 120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5 310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3,7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Выработка электроэнергии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млрд кВт·ч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18,4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18,6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19,1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2,7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Отпуск тепла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тыс. Гкал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9 870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10 020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9 940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−0,8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КИУМ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%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41,0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41,5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41,1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Удельный расход условного топлива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г/кВт·ч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312,4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309,8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306,2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−1,2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Аварийность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ед.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14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11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9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−18,2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Выручка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млрд руб.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142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158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171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8,2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EBITDA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млрд руб.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~23*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27,4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31,0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13,1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Инвестиции (CAPEX)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млрд руб.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18,9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22,3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25,0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12,1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Численность персонала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чел.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4 812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4 760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4 701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−1,2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Доля ВИЭ в выработке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%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≥ 11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≥ 12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Ключевые показатели (таблица целиком)</a:t>
            </a:r>
            <a:endParaRPr sz="2400"/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548457" y="884890"/>
          <a:ext cx="12219181" cy="31760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87852"/>
                <a:gridCol w="1854756"/>
                <a:gridCol w="1061695"/>
                <a:gridCol w="1233219"/>
                <a:gridCol w="1061695"/>
                <a:gridCol w="1419964"/>
              </a:tblGrid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Показатель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Ед. изм.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2022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2023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2024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Изм., %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Установленная мощность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МВт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5 120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5 120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5 310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3,7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Выработка электроэнергии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млрд кВт·ч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18,4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18,6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19,1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2,7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Отпуск тепла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тыс. Гкал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9 870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10 020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9 940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−0,8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КИУМ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%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41,0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41,5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41,1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Удельный расход условного топлива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г/кВт·ч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312,4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309,8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306,2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−1,2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Аварийность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ед.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14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11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9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−18,2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Выручка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млрд руб.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142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158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171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8,2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EBITDA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млрд руб.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~23*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27,4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31,0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13,1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Инвестиции (CAPEX)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млрд руб.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18,9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22,3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25,0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12,1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Численность персонала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чел.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4 812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4 760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4 701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−1,2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Доля ВИЭ в выработке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%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≥ 11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≥ 12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2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Программа повышения эффективности (1/2)</a:t>
            </a:r>
            <a:endParaRPr sz="2400"/>
          </a:p>
        </p:txBody>
      </p:sp>
      <p:sp>
        <p:nvSpPr>
          <p:cNvPr id="6" name="TEXT"/>
          <p:cNvSpPr txBox="1"/>
          <p:nvPr/>
        </p:nvSpPr>
        <p:spPr>
          <a:xfrm>
            <a:off x="548457" y="884890"/>
            <a:ext cx="12219181" cy="61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28600" indent="-22860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2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Мероприятие 1: модернизация оборудования и цифровизация процессов на объекте №1 с целью снижения удельного расхода топлива и повышения надёжности</a:t>
            </a:r>
            <a:endParaRPr sz="1200"/>
          </a:p>
          <a:p>
            <a:pPr marL="228600" indent="-228600" lv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2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Мероприятие 2: модернизация оборудования и цифровизация процессов на объекте №2 с целью снижения удельного расхода топлива и повышения надёжности</a:t>
            </a:r>
            <a:endParaRPr sz="1200"/>
          </a:p>
          <a:p>
            <a:pPr marL="228600" indent="-228600" lv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2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Мероприятие 3: модернизация оборудования и цифровизация процессов на объекте №3 с целью снижения удельного расхода топлива и повышения надёжности</a:t>
            </a:r>
            <a:endParaRPr sz="1200"/>
          </a:p>
          <a:p>
            <a:pPr marL="228600" indent="-228600" lv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2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Мероприятие 4: модернизация оборудования и цифровизация процессов на объекте №4 с целью снижения удельного расхода топлива и повышения надёжности</a:t>
            </a:r>
            <a:endParaRPr sz="1200"/>
          </a:p>
          <a:p>
            <a:pPr marL="228600" indent="-228600" lv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2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Мероприятие 5: модернизация оборудования и цифровизация процессов на объекте №5 с целью снижения удельного расхода топлива и повышения надёжности</a:t>
            </a:r>
            <a:endParaRPr sz="1200"/>
          </a:p>
          <a:p>
            <a:pPr marL="228600" indent="-228600" lv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2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Мероприятие 6: модернизация оборудования и цифровизация процессов на объекте №6 с целью снижения удельного расхода топлива и повышения надёжности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Программа повышения эффективности (2/2)</a:t>
            </a:r>
            <a:endParaRPr sz="2400"/>
          </a:p>
        </p:txBody>
      </p:sp>
      <p:sp>
        <p:nvSpPr>
          <p:cNvPr id="6" name="TEXT"/>
          <p:cNvSpPr txBox="1"/>
          <p:nvPr/>
        </p:nvSpPr>
        <p:spPr>
          <a:xfrm>
            <a:off x="548457" y="884890"/>
            <a:ext cx="12219181" cy="61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28600" indent="-22860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2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Мероприятие 7: модернизация оборудования и цифровизация процессов на объекте №7 с целью снижения удельного расхода топлива и повышения надёжности</a:t>
            </a:r>
            <a:endParaRPr sz="1200"/>
          </a:p>
          <a:p>
            <a:pPr marL="228600" indent="-228600" lv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2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Мероприятие 8: модернизация оборудования и цифровизация процессов на объекте №8 с целью снижения удельного расхода топлива и повышения надёжности</a:t>
            </a:r>
            <a:endParaRPr sz="1200"/>
          </a:p>
          <a:p>
            <a:pPr marL="228600" indent="-228600" lv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2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Мероприятие 9: модернизация оборудования и цифровизация процессов на объекте №9 с целью снижения удельного расхода топлива и повышения надёжности</a:t>
            </a:r>
            <a:endParaRPr sz="1200"/>
          </a:p>
          <a:p>
            <a:pPr marL="228600" indent="-228600" lv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2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Мероприятие 10: модернизация оборудования и цифровизация процессов на объекте №10 с целью снижения удельного расхода топлива и повышения надёжности</a:t>
            </a:r>
            <a:endParaRPr sz="1200"/>
          </a:p>
          <a:p>
            <a:pPr marL="228600" indent="-228600" lv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2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Мероприятие 11: модернизация оборудования и цифровизация процессов на объекте №11 с целью снижения удельного расхода топлива и повышения надёжности</a:t>
            </a:r>
            <a:endParaRPr sz="1200"/>
          </a:p>
          <a:p>
            <a:pPr marL="228600" indent="-228600" lv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2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Мероприятие 12: модернизация оборудования и цифровизация процессов на объекте №12 с целью снижения удельного расхода топлива и повышения надёжности</a:t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Ремонтная программа 2025 (1/2)</a:t>
            </a:r>
            <a:endParaRPr sz="2400"/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548457" y="884890"/>
          <a:ext cx="12219181" cy="40009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9273"/>
                <a:gridCol w="2236262"/>
                <a:gridCol w="1577427"/>
                <a:gridCol w="1588029"/>
                <a:gridCol w="1873969"/>
                <a:gridCol w="1003313"/>
                <a:gridCol w="1372541"/>
                <a:gridCol w="2108367"/>
              </a:tblGrid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№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Объект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Филиал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Вид ремонта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Мощность, МВт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Начало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Окончание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Бюджет, млн руб.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115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02.2025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02.2025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15,5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130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03.2025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03.2025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18,5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3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№3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145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04.2025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04.2025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21,5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160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05.2025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05.2025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24,5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175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06.2025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06.2025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27,5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6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№6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190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07.2025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07.2025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30,5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7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№7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205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08.2025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08.2025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33,5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8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№8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220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09.2025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09.2025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36,5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9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№9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235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10.2025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10.2025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39,5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250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11.2025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11.2025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42,5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265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12.2025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12.2025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45,5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280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01.2025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01.2025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48,5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13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№13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295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02.2025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02.2025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51,5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310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03.2025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03.2025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54,5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325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04.2025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04.2025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57,5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Ремонтная программа 2025 (2/2)</a:t>
            </a:r>
            <a:endParaRPr sz="2400"/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548457" y="884890"/>
          <a:ext cx="12219181" cy="40009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9273"/>
                <a:gridCol w="2236262"/>
                <a:gridCol w="1577427"/>
                <a:gridCol w="1588029"/>
                <a:gridCol w="1873969"/>
                <a:gridCol w="1003313"/>
                <a:gridCol w="1372541"/>
                <a:gridCol w="2108367"/>
              </a:tblGrid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№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Объект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Филиал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Вид ремонта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Мощность, МВт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Начало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Окончание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Бюджет, млн руб.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16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№16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340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05.2025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05.2025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60,5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17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№17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355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06.2025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06.2025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63,5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18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№18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370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07.2025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07.2025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66,5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19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№19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385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08.2025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08.2025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69,5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400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09.2025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09.2025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72,5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415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10.2025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10.2025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75,5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430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11.2025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11.2025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78,5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23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№23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445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12.2025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12.2025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81,5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460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01.2025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01.2025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84,5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475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02.2025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02.2025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87,5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26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№26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490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03.2025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03.2025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90,5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27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№27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505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04.2025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04.2025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93,5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28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№28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520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05.2025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05.2025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96,5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29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№29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535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06.2025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06.2025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99,5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30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№30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550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07.2025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07.2025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102,5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ctr"/>
            <a:r>
              <a:rPr sz="3200">
                <a:latin typeface="Liberation Sans"/>
                <a:ea typeface="Liberation Sans"/>
                <a:cs typeface="Liberation Sans"/>
              </a:rPr>
              <a:t>Пустой слайд превращается в раздел</a:t>
            </a:r>
            <a:endParaRPr sz="3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1247</TotalTime>
  <Words>2934</Words>
  <Application>Microsoft Office PowerPoint</Application>
  <PresentationFormat>Произвольный</PresentationFormat>
  <Paragraphs>830</Paragraphs>
  <Slides>28</Slides>
  <Notes>7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8" baseType="lpstr">
      <vt:lpstr>Arial</vt:lpstr>
      <vt:lpstr>Arial Narrow</vt:lpstr>
      <vt:lpstr>Calibri</vt:lpstr>
      <vt:lpstr>Cordia New</vt:lpstr>
      <vt:lpstr>Lato</vt:lpstr>
      <vt:lpstr>Liberation Sans</vt:lpstr>
      <vt:lpstr>Tahoma</vt:lpstr>
      <vt:lpstr>Wingdings</vt:lpstr>
      <vt:lpstr>Тема Office</vt:lpstr>
      <vt:lpstr>Слайд think-cell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Шрифты</vt:lpstr>
      <vt:lpstr>Презентация PowerPoint</vt:lpstr>
      <vt:lpstr>Образец слайда с диаграммами и таблицей</vt:lpstr>
      <vt:lpstr>Презентация PowerPoint</vt:lpstr>
      <vt:lpstr>Образец слайда с иконками</vt:lpstr>
      <vt:lpstr>Образец слайда</vt:lpstr>
      <vt:lpstr>Образец слайда</vt:lpstr>
      <vt:lpstr>Образец слайда</vt:lpstr>
      <vt:lpstr>Образец слайда</vt:lpstr>
      <vt:lpstr>Образец слайда</vt:lpstr>
      <vt:lpstr>Образец слайда</vt:lpstr>
      <vt:lpstr>Образец слайда</vt:lpstr>
      <vt:lpstr>Образец слайда</vt:lpstr>
      <vt:lpstr>Образец слайда</vt:lpstr>
      <vt:lpstr>Образец слайда</vt:lpstr>
      <vt:lpstr>Образец слайда</vt:lpstr>
      <vt:lpstr>Образец слайда</vt:lpstr>
      <vt:lpstr>Образец слайда</vt:lpstr>
      <vt:lpstr>Образец слайда</vt:lpstr>
      <vt:lpstr>Образец слайда</vt:lpstr>
      <vt:lpstr>Образец слайда</vt:lpstr>
      <vt:lpstr>Образец слайда</vt:lpstr>
      <vt:lpstr>Презентация PowerPoint</vt:lpstr>
    </vt:vector>
  </TitlesOfParts>
  <Company>Interrao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Итоги работы генерирующей компании за 2024 год</dc:title>
  <dc:creator>Кадушин Александр Владимирович</dc:creator>
  <cp:lastModifiedBy>Кадушин Александр Владимирович</cp:lastModifiedBy>
  <cp:revision>29</cp:revision>
  <dcterms:created xsi:type="dcterms:W3CDTF">2019-10-09T15:53:58Z</dcterms:created>
  <dcterms:modified xsi:type="dcterms:W3CDTF">2024-04-25T14:46:40Z</dcterms:modified>
</cp:coreProperties>
</file>